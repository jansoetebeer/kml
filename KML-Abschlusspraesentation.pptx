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8.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9.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Dokumente</c:v>
                </c:pt>
              </c:strCache>
            </c:strRef>
          </c:tx>
          <c:spPr>
            <a:solidFill>
              <a:srgbClr val="5B6573"/>
            </a:solidFill>
            <a:effectLst/>
          </c:spPr>
          <c:invertIfNegative val="0"/>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5B6573"/>
              </a:solidFill>
              <a:effectLst/>
            </c:spPr>
          </c:dPt>
          <c:dPt>
            <c:idx val="1"/>
            <c:invertIfNegative val="0"/>
            <c:bubble3D val="0"/>
            <c:spPr>
              <a:solidFill>
                <a:srgbClr val="9DBFE3"/>
              </a:solidFill>
              <a:effectLst/>
            </c:spPr>
          </c:dPt>
          <c:dPt>
            <c:idx val="2"/>
            <c:invertIfNegative val="0"/>
            <c:bubble3D val="0"/>
            <c:spPr>
              <a:solidFill>
                <a:srgbClr val="2563A8"/>
              </a:solidFill>
              <a:effectLst/>
            </c:spPr>
          </c:dPt>
          <c:dPt>
            <c:idx val="3"/>
            <c:invertIfNegative val="0"/>
            <c:bubble3D val="0"/>
            <c:spPr>
              <a:solidFill>
                <a:srgbClr val="2E8B57"/>
              </a:solidFill>
              <a:effectLst/>
            </c:spPr>
          </c:dPt>
          <c:cat>
            <c:multiLvlStrRef>
              <c:f>Sheet1!$A$2:$A$5</c:f>
              <c:multiLvlStrCache>
                <c:ptCount val="4"/>
                <c:lvl>
                  <c:pt idx="0">
                    <c:v>Gesammelte PDFs</c:v>
                  </c:pt>
                  <c:pt idx="1">
                    <c:v>Kandidaten des ML-Modells</c:v>
                  </c:pt>
                  <c:pt idx="2">
                    <c:v>Endliste (erweitert)</c:v>
                  </c:pt>
                  <c:pt idx="3">
                    <c:v>davon echt (geschätzt)</c:v>
                  </c:pt>
                </c:lvl>
              </c:multiLvlStrCache>
            </c:multiLvlStrRef>
          </c:cat>
          <c:val>
            <c:numRef>
              <c:f>Sheet1!$B$2:$B$5</c:f>
              <c:numCache>
                <c:formatCode>General</c:formatCode>
                <c:ptCount val="4"/>
                <c:pt idx="0">
                  <c:v>164396</c:v>
                </c:pt>
                <c:pt idx="1">
                  <c:v>44437</c:v>
                </c:pt>
                <c:pt idx="2">
                  <c:v>19049</c:v>
                </c:pt>
                <c:pt idx="3">
                  <c:v>18628</c:v>
                </c:pt>
              </c:numCache>
            </c:numRef>
          </c:val>
        </c:ser>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9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5B6573"/>
            </a:solidFill>
            <a:effectLst/>
          </c:spPr>
          <c:invertIfNegative val="0"/>
          <c:dLbls>
            <c:numFmt formatCode="0.0&quot; %&quot;" sourceLinked="0"/>
            <c:txPr>
              <a:bodyPr/>
              <a:lstStyle/>
              <a:p>
                <a:pPr>
                  <a:defRPr b="0" i="0" strike="noStrike" sz="15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5B6573"/>
              </a:solidFill>
              <a:effectLst/>
            </c:spPr>
          </c:dPt>
          <c:dPt>
            <c:idx val="1"/>
            <c:invertIfNegative val="0"/>
            <c:bubble3D val="0"/>
            <c:spPr>
              <a:solidFill>
                <a:srgbClr val="D9731F"/>
              </a:solidFill>
              <a:effectLst/>
            </c:spPr>
          </c:dPt>
          <c:dPt>
            <c:idx val="2"/>
            <c:invertIfNegative val="0"/>
            <c:bubble3D val="0"/>
            <c:spPr>
              <a:solidFill>
                <a:srgbClr val="D9731F"/>
              </a:solidFill>
              <a:effectLst/>
            </c:spPr>
          </c:dPt>
          <c:dPt>
            <c:idx val="3"/>
            <c:invertIfNegative val="0"/>
            <c:bubble3D val="0"/>
            <c:spPr>
              <a:solidFill>
                <a:srgbClr val="2E8B57"/>
              </a:solidFill>
              <a:effectLst/>
            </c:spPr>
          </c:dPt>
          <c:cat>
            <c:multiLvlStrRef>
              <c:f>Sheet1!$A$2:$A$5</c:f>
              <c:multiLvlStrCache>
                <c:ptCount val="4"/>
                <c:lvl>
                  <c:pt idx="0">
                    <c:v>Training (Kreuzvalidierung)</c:v>
                  </c:pt>
                  <c:pt idx="1">
                    <c:v>Praxis: Score 0,5–0,9</c:v>
                  </c:pt>
                  <c:pt idx="2">
                    <c:v>Praxis: Score ≥ 0,9</c:v>
                  </c:pt>
                  <c:pt idx="3">
                    <c:v>Endliste nach Sprachmodell</c:v>
                  </c:pt>
                </c:lvl>
              </c:multiLvlStrCache>
            </c:multiLvlStrRef>
          </c:cat>
          <c:val>
            <c:numRef>
              <c:f>Sheet1!$B$2:$B$5</c:f>
              <c:numCache>
                <c:formatCode>General</c:formatCode>
                <c:ptCount val="4"/>
                <c:pt idx="0">
                  <c:v>96.5</c:v>
                </c:pt>
                <c:pt idx="1">
                  <c:v>25</c:v>
                </c:pt>
                <c:pt idx="2">
                  <c:v>82.5</c:v>
                </c:pt>
                <c:pt idx="3">
                  <c:v>98</c:v>
                </c:pt>
              </c:numCache>
            </c:numRef>
          </c:val>
        </c:ser>
        <c:dLbls>
          <c:numFmt formatCode="0.0&quot; %&quot;" sourceLinked="0"/>
          <c:txPr>
            <a:bodyPr/>
            <a:lstStyle/>
            <a:p>
              <a:pPr>
                <a:defRPr b="0" i="0" strike="noStrike" sz="15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Abdeckung</c:v>
                </c:pt>
              </c:strCache>
            </c:strRef>
          </c:tx>
          <c:spPr>
            <a:solidFill>
              <a:srgbClr val="2563A8"/>
            </a:solidFill>
            <a:effectLst/>
          </c:spPr>
          <c:invertIfNegative val="0"/>
          <c:dLbls>
            <c:numFmt formatCode="0&quot; %&quot;" sourceLinked="0"/>
            <c:txPr>
              <a:bodyPr/>
              <a:lstStyle/>
              <a:p>
                <a:pPr>
                  <a:defRPr b="0" i="0" strike="noStrike" sz="15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öffentlich-rechtlich (258)</c:v>
                  </c:pt>
                  <c:pt idx="1">
                    <c:v>kirchlich (37)</c:v>
                  </c:pt>
                  <c:pt idx="2">
                    <c:v>privat (108)</c:v>
                  </c:pt>
                </c:lvl>
              </c:multiLvlStrCache>
            </c:multiLvlStrRef>
          </c:cat>
          <c:val>
            <c:numRef>
              <c:f>Sheet1!$B$2:$B$4</c:f>
              <c:numCache>
                <c:formatCode>General</c:formatCode>
                <c:ptCount val="3"/>
                <c:pt idx="0">
                  <c:v>78</c:v>
                </c:pt>
                <c:pt idx="1">
                  <c:v>51</c:v>
                </c:pt>
                <c:pt idx="2">
                  <c:v>39</c:v>
                </c:pt>
              </c:numCache>
            </c:numRef>
          </c:val>
        </c:ser>
        <c:dLbls>
          <c:numFmt formatCode="0&quot; %&quot;" sourceLinked="0"/>
          <c:txPr>
            <a:bodyPr/>
            <a:lstStyle/>
            <a:p>
              <a:pPr>
                <a:defRPr b="0" i="0" strike="noStrike" sz="15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Abdeckung</c:v>
                </c:pt>
              </c:strCache>
            </c:strRef>
          </c:tx>
          <c:spPr>
            <a:solidFill>
              <a:srgbClr val="2563A8"/>
            </a:solidFill>
            <a:effectLst/>
          </c:spPr>
          <c:invertIfNegative val="0"/>
          <c:dLbls>
            <c:numFmt formatCode="0&quot; %&quot;" sourceLinked="0"/>
            <c:txPr>
              <a:bodyPr/>
              <a:lstStyle/>
              <a:p>
                <a:pPr>
                  <a:defRPr b="0" i="0" strike="noStrike" sz="15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&lt; 1.000 (146)</c:v>
                  </c:pt>
                  <c:pt idx="1">
                    <c:v>1–5 Tsd. (113)</c:v>
                  </c:pt>
                  <c:pt idx="2">
                    <c:v>5–15 Tsd. (87)</c:v>
                  </c:pt>
                  <c:pt idx="3">
                    <c:v>15–30 Tsd. (36)</c:v>
                  </c:pt>
                  <c:pt idx="4">
                    <c:v>&gt; 30 Tsd. (18)</c:v>
                  </c:pt>
                </c:lvl>
              </c:multiLvlStrCache>
            </c:multiLvlStrRef>
          </c:cat>
          <c:val>
            <c:numRef>
              <c:f>Sheet1!$B$2:$B$6</c:f>
              <c:numCache>
                <c:formatCode>General</c:formatCode>
                <c:ptCount val="5"/>
                <c:pt idx="0">
                  <c:v>44</c:v>
                </c:pt>
                <c:pt idx="1">
                  <c:v>70</c:v>
                </c:pt>
                <c:pt idx="2">
                  <c:v>79</c:v>
                </c:pt>
                <c:pt idx="3">
                  <c:v>97</c:v>
                </c:pt>
                <c:pt idx="4">
                  <c:v>78</c:v>
                </c:pt>
              </c:numCache>
            </c:numRef>
          </c:val>
        </c:ser>
        <c:dLbls>
          <c:numFmt formatCode="0&quot; %&quot;" sourceLinked="0"/>
          <c:txPr>
            <a:bodyPr/>
            <a:lstStyle/>
            <a:p>
              <a:pPr>
                <a:defRPr b="0" i="0" strike="noStrike" sz="15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Dokumente</c:v>
                </c:pt>
              </c:strCache>
            </c:strRef>
          </c:tx>
          <c:spPr>
            <a:solidFill>
              <a:srgbClr val="2563A8"/>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Sheet1!$A$2:$A$14</c:f>
              <c:multiLvlStrCache>
                <c:ptCount val="13"/>
                <c:lvl>
                  <c:pt idx="0">
                    <c:v>bis 2014</c:v>
                  </c:pt>
                  <c:pt idx="1">
                    <c:v>2015</c:v>
                  </c:pt>
                  <c:pt idx="2">
                    <c:v>2016</c:v>
                  </c:pt>
                  <c:pt idx="3">
                    <c:v>2017</c:v>
                  </c:pt>
                  <c:pt idx="4">
                    <c:v>2018</c:v>
                  </c:pt>
                  <c:pt idx="5">
                    <c:v>2019</c:v>
                  </c:pt>
                  <c:pt idx="6">
                    <c:v>2020</c:v>
                  </c:pt>
                  <c:pt idx="7">
                    <c:v>2021</c:v>
                  </c:pt>
                  <c:pt idx="8">
                    <c:v>2022</c:v>
                  </c:pt>
                  <c:pt idx="9">
                    <c:v>2023</c:v>
                  </c:pt>
                  <c:pt idx="10">
                    <c:v>2024</c:v>
                  </c:pt>
                  <c:pt idx="11">
                    <c:v>2025</c:v>
                  </c:pt>
                  <c:pt idx="12">
                    <c:v>2026</c:v>
                  </c:pt>
                </c:lvl>
              </c:multiLvlStrCache>
            </c:multiLvlStrRef>
          </c:cat>
          <c:val>
            <c:numRef>
              <c:f>Sheet1!$B$2:$B$14</c:f>
              <c:numCache>
                <c:formatCode>General</c:formatCode>
                <c:ptCount val="13"/>
                <c:pt idx="0">
                  <c:v>1807</c:v>
                </c:pt>
                <c:pt idx="1">
                  <c:v>491</c:v>
                </c:pt>
                <c:pt idx="2">
                  <c:v>280</c:v>
                </c:pt>
                <c:pt idx="3">
                  <c:v>398</c:v>
                </c:pt>
                <c:pt idx="4">
                  <c:v>430</c:v>
                </c:pt>
                <c:pt idx="5">
                  <c:v>529</c:v>
                </c:pt>
                <c:pt idx="6">
                  <c:v>1365</c:v>
                </c:pt>
                <c:pt idx="7">
                  <c:v>765</c:v>
                </c:pt>
                <c:pt idx="8">
                  <c:v>732</c:v>
                </c:pt>
                <c:pt idx="9">
                  <c:v>1233</c:v>
                </c:pt>
                <c:pt idx="10">
                  <c:v>1079</c:v>
                </c:pt>
                <c:pt idx="11">
                  <c:v>1183</c:v>
                </c:pt>
                <c:pt idx="12">
                  <c:v>1451</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Kosten</c:v>
                </c:pt>
              </c:strCache>
            </c:strRef>
          </c:tx>
          <c:spPr>
            <a:solidFill>
              <a:srgbClr val="2563A8"/>
            </a:solidFill>
            <a:effectLst/>
          </c:spPr>
          <c:invertIfNegative val="0"/>
          <c:dLbls>
            <c:numFmt formatCode="0.0&quot; $&quot;" sourceLinked="0"/>
            <c:txPr>
              <a:bodyPr/>
              <a:lstStyle/>
              <a:p>
                <a:pPr>
                  <a:defRPr b="0" i="0" strike="noStrike" sz="13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KI-Prüfung (Bedrock)</c:v>
                  </c:pt>
                  <c:pt idx="1">
                    <c:v>Webapp-Server &amp; Netzwerk</c:v>
                  </c:pt>
                  <c:pt idx="2">
                    <c:v>Steuern</c:v>
                  </c:pt>
                  <c:pt idx="3">
                    <c:v>Crawl-Rechenzeit (Fargate)</c:v>
                  </c:pt>
                  <c:pt idx="4">
                    <c:v>Speicher (S3)</c:v>
                  </c:pt>
                  <c:pt idx="5">
                    <c:v>Sonstiges</c:v>
                  </c:pt>
                </c:lvl>
              </c:multiLvlStrCache>
            </c:multiLvlStrRef>
          </c:cat>
          <c:val>
            <c:numRef>
              <c:f>Sheet1!$B$2:$B$7</c:f>
              <c:numCache>
                <c:formatCode>General</c:formatCode>
                <c:ptCount val="6"/>
                <c:pt idx="0">
                  <c:v>107.2</c:v>
                </c:pt>
                <c:pt idx="1">
                  <c:v>28.1</c:v>
                </c:pt>
                <c:pt idx="2">
                  <c:v>7.1</c:v>
                </c:pt>
                <c:pt idx="3">
                  <c:v>7.1</c:v>
                </c:pt>
                <c:pt idx="4">
                  <c:v>5.7</c:v>
                </c:pt>
                <c:pt idx="5">
                  <c:v>0.3</c:v>
                </c:pt>
              </c:numCache>
            </c:numRef>
          </c:val>
        </c:ser>
        <c:dLbls>
          <c:numFmt formatCode="0.0&quot; $&quot;" sourceLinked="0"/>
          <c:txPr>
            <a:bodyPr/>
            <a:lstStyle/>
            <a:p>
              <a:pPr>
                <a:defRPr b="0" i="0" strike="noStrike" sz="13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3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Bestätigt</c:v>
                </c:pt>
              </c:strCache>
            </c:strRef>
          </c:tx>
          <c:spPr>
            <a:solidFill>
              <a:srgbClr val="2563A8"/>
            </a:solidFill>
            <a:effectLst/>
          </c:spPr>
          <c:invertIfNegative val="0"/>
          <c:dLbls>
            <c:numFmt formatCode="0.0&quot; %&quot;"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0,5–0,6</c:v>
                  </c:pt>
                  <c:pt idx="1">
                    <c:v>0,6–0,7</c:v>
                  </c:pt>
                  <c:pt idx="2">
                    <c:v>0,7–0,8</c:v>
                  </c:pt>
                  <c:pt idx="3">
                    <c:v>0,8–0,9</c:v>
                  </c:pt>
                  <c:pt idx="4">
                    <c:v>≥ 0,9</c:v>
                  </c:pt>
                </c:lvl>
              </c:multiLvlStrCache>
            </c:multiLvlStrRef>
          </c:cat>
          <c:val>
            <c:numRef>
              <c:f>Sheet1!$B$2:$B$6</c:f>
              <c:numCache>
                <c:formatCode>General</c:formatCode>
                <c:ptCount val="5"/>
                <c:pt idx="0">
                  <c:v>7.8</c:v>
                </c:pt>
                <c:pt idx="1">
                  <c:v>12.7</c:v>
                </c:pt>
                <c:pt idx="2">
                  <c:v>30.3</c:v>
                </c:pt>
                <c:pt idx="3">
                  <c:v>44.3</c:v>
                </c:pt>
                <c:pt idx="4">
                  <c:v>82.5</c:v>
                </c:pt>
              </c:numCache>
            </c:numRef>
          </c:val>
        </c:ser>
        <c:dLbls>
          <c:numFmt formatCode="0.0&quot; %&quot;"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Dokumente</c:v>
                </c:pt>
              </c:strCache>
            </c:strRef>
          </c:tx>
          <c:spPr>
            <a:solidFill>
              <a:srgbClr val="D9731F"/>
            </a:solidFill>
            <a:effectLst/>
          </c:spPr>
          <c:invertIfNegative val="0"/>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cat>
            <c:multiLvlStrRef>
              <c:f>Sheet1!$A$2:$A$8</c:f>
              <c:multiLvlStrCache>
                <c:ptCount val="7"/>
                <c:lvl>
                  <c:pt idx="0">
                    <c:v>Prüfungs-/Studienordnung, Satzung</c:v>
                  </c:pt>
                  <c:pt idx="1">
                    <c:v>Einzelnes Modul / Datenblatt</c:v>
                  </c:pt>
                  <c:pt idx="2">
                    <c:v>Studienverlaufs-/Studienplan</c:v>
                  </c:pt>
                  <c:pt idx="3">
                    <c:v>Sonstiges</c:v>
                  </c:pt>
                  <c:pt idx="4">
                    <c:v>Modul-/Wahlpflichtkatalog (unvollständig)</c:v>
                  </c:pt>
                  <c:pt idx="5">
                    <c:v>Vorlesungsverzeichnis</c:v>
                  </c:pt>
                  <c:pt idx="6">
                    <c:v>Antrag, Formular, Flyer</c:v>
                  </c:pt>
                </c:lvl>
              </c:multiLvlStrCache>
            </c:multiLvlStrRef>
          </c:cat>
          <c:val>
            <c:numRef>
              <c:f>Sheet1!$B$2:$B$8</c:f>
              <c:numCache>
                <c:formatCode>General</c:formatCode>
                <c:ptCount val="7"/>
                <c:pt idx="0">
                  <c:v>9919</c:v>
                </c:pt>
                <c:pt idx="1">
                  <c:v>4107</c:v>
                </c:pt>
                <c:pt idx="2">
                  <c:v>2080</c:v>
                </c:pt>
                <c:pt idx="3">
                  <c:v>1827</c:v>
                </c:pt>
                <c:pt idx="4">
                  <c:v>933</c:v>
                </c:pt>
                <c:pt idx="5">
                  <c:v>737</c:v>
                </c:pt>
                <c:pt idx="6">
                  <c:v>428</c:v>
                </c:pt>
              </c:numCache>
            </c:numRef>
          </c:val>
        </c:ser>
        <c:dLbls>
          <c:numFmt formatCode="#,##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1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Kosten</c:v>
                </c:pt>
              </c:strCache>
            </c:strRef>
          </c:tx>
          <c:spPr>
            <a:solidFill>
              <a:srgbClr val="2563A8"/>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cat>
            <c:multiLvlStrRef>
              <c:f>Sheet1!$A$2:$A$56</c:f>
              <c:multiLvlStrCache>
                <c:ptCount val="55"/>
                <c:lvl>
                  <c:pt idx="0">
                    <c:v>12.08.</c:v>
                  </c:pt>
                  <c:pt idx="1">
                    <c:v>  </c:v>
                  </c:pt>
                  <c:pt idx="2">
                    <c:v>   </c:v>
                  </c:pt>
                  <c:pt idx="3">
                    <c:v>    </c:v>
                  </c:pt>
                  <c:pt idx="4">
                    <c:v>     </c:v>
                  </c:pt>
                  <c:pt idx="5">
                    <c:v>      </c:v>
                  </c:pt>
                  <c:pt idx="6">
                    <c:v>       </c:v>
                  </c:pt>
                  <c:pt idx="7">
                    <c:v>19.08.</c:v>
                  </c:pt>
                  <c:pt idx="8">
                    <c:v>  </c:v>
                  </c:pt>
                  <c:pt idx="9">
                    <c:v>   </c:v>
                  </c:pt>
                  <c:pt idx="10">
                    <c:v>    </c:v>
                  </c:pt>
                  <c:pt idx="11">
                    <c:v>     </c:v>
                  </c:pt>
                  <c:pt idx="12">
                    <c:v>      </c:v>
                  </c:pt>
                  <c:pt idx="13">
                    <c:v>       </c:v>
                  </c:pt>
                  <c:pt idx="14">
                    <c:v>26.08.</c:v>
                  </c:pt>
                  <c:pt idx="15">
                    <c:v>  </c:v>
                  </c:pt>
                  <c:pt idx="16">
                    <c:v>   </c:v>
                  </c:pt>
                  <c:pt idx="17">
                    <c:v>    </c:v>
                  </c:pt>
                  <c:pt idx="18">
                    <c:v>     </c:v>
                  </c:pt>
                  <c:pt idx="19">
                    <c:v>      </c:v>
                  </c:pt>
                  <c:pt idx="20">
                    <c:v>       </c:v>
                  </c:pt>
                  <c:pt idx="21">
                    <c:v>02.09.</c:v>
                  </c:pt>
                  <c:pt idx="22">
                    <c:v>  </c:v>
                  </c:pt>
                  <c:pt idx="23">
                    <c:v>   </c:v>
                  </c:pt>
                  <c:pt idx="24">
                    <c:v>    </c:v>
                  </c:pt>
                  <c:pt idx="25">
                    <c:v>     </c:v>
                  </c:pt>
                  <c:pt idx="26">
                    <c:v>      </c:v>
                  </c:pt>
                  <c:pt idx="27">
                    <c:v>       </c:v>
                  </c:pt>
                  <c:pt idx="28">
                    <c:v>09.09.</c:v>
                  </c:pt>
                  <c:pt idx="29">
                    <c:v>  </c:v>
                  </c:pt>
                  <c:pt idx="30">
                    <c:v>   </c:v>
                  </c:pt>
                  <c:pt idx="31">
                    <c:v>    </c:v>
                  </c:pt>
                  <c:pt idx="32">
                    <c:v>     </c:v>
                  </c:pt>
                  <c:pt idx="33">
                    <c:v>      </c:v>
                  </c:pt>
                  <c:pt idx="34">
                    <c:v>       </c:v>
                  </c:pt>
                  <c:pt idx="35">
                    <c:v>16.09.</c:v>
                  </c:pt>
                  <c:pt idx="36">
                    <c:v>  </c:v>
                  </c:pt>
                  <c:pt idx="37">
                    <c:v>   </c:v>
                  </c:pt>
                  <c:pt idx="38">
                    <c:v>    </c:v>
                  </c:pt>
                  <c:pt idx="39">
                    <c:v>     </c:v>
                  </c:pt>
                  <c:pt idx="40">
                    <c:v>      </c:v>
                  </c:pt>
                  <c:pt idx="41">
                    <c:v>       </c:v>
                  </c:pt>
                  <c:pt idx="42">
                    <c:v>23.09.</c:v>
                  </c:pt>
                  <c:pt idx="43">
                    <c:v>  </c:v>
                  </c:pt>
                  <c:pt idx="44">
                    <c:v>   </c:v>
                  </c:pt>
                  <c:pt idx="45">
                    <c:v>    </c:v>
                  </c:pt>
                  <c:pt idx="46">
                    <c:v>     </c:v>
                  </c:pt>
                  <c:pt idx="47">
                    <c:v>      </c:v>
                  </c:pt>
                  <c:pt idx="48">
                    <c:v>       </c:v>
                  </c:pt>
                  <c:pt idx="49">
                    <c:v>30.09.</c:v>
                  </c:pt>
                  <c:pt idx="50">
                    <c:v>  </c:v>
                  </c:pt>
                  <c:pt idx="51">
                    <c:v>   </c:v>
                  </c:pt>
                  <c:pt idx="52">
                    <c:v>    </c:v>
                  </c:pt>
                  <c:pt idx="53">
                    <c:v>     </c:v>
                  </c:pt>
                  <c:pt idx="54">
                    <c:v>      </c:v>
                  </c:pt>
                </c:lvl>
              </c:multiLvlStrCache>
            </c:multiLvlStrRef>
          </c:cat>
          <c:val>
            <c:numRef>
              <c:f>Sheet1!$B$2:$B$56</c:f>
              <c:numCache>
                <c:formatCode>General</c:formatCode>
                <c:ptCount val="55"/>
                <c:pt idx="0">
                  <c:v>3.73</c:v>
                </c:pt>
                <c:pt idx="1">
                  <c:v>1.56</c:v>
                </c:pt>
                <c:pt idx="2">
                  <c:v>0.76</c:v>
                </c:pt>
                <c:pt idx="3">
                  <c:v>0.75</c:v>
                </c:pt>
                <c:pt idx="4">
                  <c:v>0.76</c:v>
                </c:pt>
                <c:pt idx="5">
                  <c:v>0.76</c:v>
                </c:pt>
                <c:pt idx="6">
                  <c:v>0.76</c:v>
                </c:pt>
                <c:pt idx="7">
                  <c:v>0.77</c:v>
                </c:pt>
                <c:pt idx="8">
                  <c:v>0.76</c:v>
                </c:pt>
                <c:pt idx="9">
                  <c:v>0.76</c:v>
                </c:pt>
                <c:pt idx="10">
                  <c:v>0.76</c:v>
                </c:pt>
                <c:pt idx="11">
                  <c:v>0.76</c:v>
                </c:pt>
                <c:pt idx="12">
                  <c:v>0.76</c:v>
                </c:pt>
                <c:pt idx="13">
                  <c:v>0.76</c:v>
                </c:pt>
                <c:pt idx="14">
                  <c:v>0.76</c:v>
                </c:pt>
                <c:pt idx="15">
                  <c:v>0.78</c:v>
                </c:pt>
                <c:pt idx="16">
                  <c:v>0.76</c:v>
                </c:pt>
                <c:pt idx="17">
                  <c:v>0.76</c:v>
                </c:pt>
                <c:pt idx="18">
                  <c:v>0.76</c:v>
                </c:pt>
                <c:pt idx="19">
                  <c:v>0.76</c:v>
                </c:pt>
                <c:pt idx="20">
                  <c:v>4.32</c:v>
                </c:pt>
                <c:pt idx="21">
                  <c:v>21.61</c:v>
                </c:pt>
                <c:pt idx="22">
                  <c:v>0.79</c:v>
                </c:pt>
                <c:pt idx="23">
                  <c:v>0.77</c:v>
                </c:pt>
                <c:pt idx="24">
                  <c:v>0.77</c:v>
                </c:pt>
                <c:pt idx="25">
                  <c:v>0.77</c:v>
                </c:pt>
                <c:pt idx="26">
                  <c:v>0.77</c:v>
                </c:pt>
                <c:pt idx="27">
                  <c:v>0.77</c:v>
                </c:pt>
                <c:pt idx="28">
                  <c:v>0.77</c:v>
                </c:pt>
                <c:pt idx="29">
                  <c:v>0.77</c:v>
                </c:pt>
                <c:pt idx="30">
                  <c:v>0.77</c:v>
                </c:pt>
                <c:pt idx="31">
                  <c:v>0.77</c:v>
                </c:pt>
                <c:pt idx="32">
                  <c:v>0.77</c:v>
                </c:pt>
                <c:pt idx="33">
                  <c:v>0.77</c:v>
                </c:pt>
                <c:pt idx="34">
                  <c:v>0.77</c:v>
                </c:pt>
                <c:pt idx="35">
                  <c:v>5</c:v>
                </c:pt>
                <c:pt idx="36">
                  <c:v>1.26</c:v>
                </c:pt>
                <c:pt idx="37">
                  <c:v>0.27</c:v>
                </c:pt>
                <c:pt idx="38">
                  <c:v>0.27</c:v>
                </c:pt>
                <c:pt idx="39">
                  <c:v>0.27</c:v>
                </c:pt>
                <c:pt idx="40">
                  <c:v>0.27</c:v>
                </c:pt>
                <c:pt idx="41">
                  <c:v>0.27</c:v>
                </c:pt>
                <c:pt idx="42">
                  <c:v>0.27</c:v>
                </c:pt>
                <c:pt idx="43">
                  <c:v>0.27</c:v>
                </c:pt>
                <c:pt idx="44">
                  <c:v>0.27</c:v>
                </c:pt>
                <c:pt idx="45">
                  <c:v>0.27</c:v>
                </c:pt>
                <c:pt idx="46">
                  <c:v>0.27</c:v>
                </c:pt>
                <c:pt idx="47">
                  <c:v>0.27</c:v>
                </c:pt>
                <c:pt idx="48">
                  <c:v>0.27</c:v>
                </c:pt>
                <c:pt idx="49">
                  <c:v>31.64</c:v>
                </c:pt>
                <c:pt idx="50">
                  <c:v>29.74</c:v>
                </c:pt>
                <c:pt idx="51">
                  <c:v>25.75</c:v>
                </c:pt>
                <c:pt idx="52">
                  <c:v>0.27</c:v>
                </c:pt>
                <c:pt idx="53">
                  <c:v>0.27</c:v>
                </c:pt>
                <c:pt idx="54">
                  <c:v>0.02</c:v>
                </c:pt>
              </c:numCache>
            </c:numRef>
          </c:val>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E"/>
              </a:solidFill>
              <a:prstDash val="solid"/>
              <a:round/>
            </a:ln>
          </c:spPr>
        </c:majorGridlines>
        <c:numFmt formatCode="0&quot; $&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Abdeckung</c:v>
                </c:pt>
              </c:strCache>
            </c:strRef>
          </c:tx>
          <c:spPr>
            <a:solidFill>
              <a:srgbClr val="2563A8"/>
            </a:solidFill>
            <a:effectLst/>
          </c:spPr>
          <c:invertIfNegative val="0"/>
          <c:dLbls>
            <c:numFmt formatCode="0&quot; %&quot;" sourceLinked="0"/>
            <c:txPr>
              <a:bodyPr/>
              <a:lstStyle/>
              <a:p>
                <a:pPr>
                  <a:defRPr b="0" i="0" strike="noStrike" sz="13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Universität (120)</c:v>
                  </c:pt>
                  <c:pt idx="1">
                    <c:v>Künstlerisch (56)</c:v>
                  </c:pt>
                  <c:pt idx="2">
                    <c:v>FH / HAW (194)</c:v>
                  </c:pt>
                  <c:pt idx="3">
                    <c:v>Verwaltung (27)</c:v>
                  </c:pt>
                </c:lvl>
              </c:multiLvlStrCache>
            </c:multiLvlStrRef>
          </c:cat>
          <c:val>
            <c:numRef>
              <c:f>Sheet1!$B$2:$B$5</c:f>
              <c:numCache>
                <c:formatCode>General</c:formatCode>
                <c:ptCount val="4"/>
                <c:pt idx="0">
                  <c:v>76</c:v>
                </c:pt>
                <c:pt idx="1">
                  <c:v>70</c:v>
                </c:pt>
                <c:pt idx="2">
                  <c:v>60</c:v>
                </c:pt>
                <c:pt idx="3">
                  <c:v>44</c:v>
                </c:pt>
              </c:numCache>
            </c:numRef>
          </c:val>
        </c:ser>
        <c:dLbls>
          <c:numFmt formatCode="0&quot; %&quot;" sourceLinked="0"/>
          <c:txPr>
            <a:bodyPr/>
            <a:lstStyle/>
            <a:p>
              <a:pPr>
                <a:defRPr b="0" i="0" strike="noStrike" sz="13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Abdeckung</c:v>
                </c:pt>
              </c:strCache>
            </c:strRef>
          </c:tx>
          <c:spPr>
            <a:solidFill>
              <a:srgbClr val="2563A8"/>
            </a:solidFill>
            <a:effectLst/>
          </c:spPr>
          <c:invertIfNegative val="0"/>
          <c:dLbls>
            <c:numFmt formatCode="0&quot; %&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Sheet1!$A$2:$A$17</c:f>
              <c:multiLvlStrCache>
                <c:ptCount val="16"/>
                <c:lvl>
                  <c:pt idx="0">
                    <c:v>Bremen (7)</c:v>
                  </c:pt>
                  <c:pt idx="1">
                    <c:v>Hamburg (17)</c:v>
                  </c:pt>
                  <c:pt idx="2">
                    <c:v>Sachsen (20)</c:v>
                  </c:pt>
                  <c:pt idx="3">
                    <c:v>Bayern (43)</c:v>
                  </c:pt>
                  <c:pt idx="4">
                    <c:v>Nordrhein-Westf. (62)</c:v>
                  </c:pt>
                  <c:pt idx="5">
                    <c:v>Niedersachsen (30)</c:v>
                  </c:pt>
                  <c:pt idx="6">
                    <c:v>Mecklenburg-Vorp. (7)</c:v>
                  </c:pt>
                  <c:pt idx="7">
                    <c:v>Sachsen-Anhalt (10)</c:v>
                  </c:pt>
                  <c:pt idx="8">
                    <c:v>Baden-Württemberg (68)</c:v>
                  </c:pt>
                  <c:pt idx="9">
                    <c:v>Rheinland-Pfalz (20)</c:v>
                  </c:pt>
                  <c:pt idx="10">
                    <c:v>Schleswig-Holstein (13)</c:v>
                  </c:pt>
                  <c:pt idx="11">
                    <c:v>Thüringen (13)</c:v>
                  </c:pt>
                  <c:pt idx="12">
                    <c:v>Brandenburg (20)</c:v>
                  </c:pt>
                  <c:pt idx="13">
                    <c:v>Berlin (34)</c:v>
                  </c:pt>
                  <c:pt idx="14">
                    <c:v>Hessen (33)</c:v>
                  </c:pt>
                  <c:pt idx="15">
                    <c:v>Saarland (6)</c:v>
                  </c:pt>
                </c:lvl>
              </c:multiLvlStrCache>
            </c:multiLvlStrRef>
          </c:cat>
          <c:val>
            <c:numRef>
              <c:f>Sheet1!$B$2:$B$17</c:f>
              <c:numCache>
                <c:formatCode>General</c:formatCode>
                <c:ptCount val="16"/>
                <c:pt idx="0">
                  <c:v>86</c:v>
                </c:pt>
                <c:pt idx="1">
                  <c:v>82</c:v>
                </c:pt>
                <c:pt idx="2">
                  <c:v>75</c:v>
                </c:pt>
                <c:pt idx="3">
                  <c:v>74</c:v>
                </c:pt>
                <c:pt idx="4">
                  <c:v>73</c:v>
                </c:pt>
                <c:pt idx="5">
                  <c:v>73</c:v>
                </c:pt>
                <c:pt idx="6">
                  <c:v>71</c:v>
                </c:pt>
                <c:pt idx="7">
                  <c:v>70</c:v>
                </c:pt>
                <c:pt idx="8">
                  <c:v>65</c:v>
                </c:pt>
                <c:pt idx="9">
                  <c:v>65</c:v>
                </c:pt>
                <c:pt idx="10">
                  <c:v>62</c:v>
                </c:pt>
                <c:pt idx="11">
                  <c:v>62</c:v>
                </c:pt>
                <c:pt idx="12">
                  <c:v>50</c:v>
                </c:pt>
                <c:pt idx="13">
                  <c:v>47</c:v>
                </c:pt>
                <c:pt idx="14">
                  <c:v>45</c:v>
                </c:pt>
                <c:pt idx="15">
                  <c:v>33</c:v>
                </c:pt>
              </c:numCache>
            </c:numRef>
          </c:val>
        </c:ser>
        <c:dLbls>
          <c:numFmt formatCode="0&quot; %&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Souverän starten, keine Entschuldigung, keine Scherze über die Zeit der Zuhörenden.
Einstieg: 'Wir stellen Ihnen heute eine Plattform vor, die einen Datenschatz erschließt, den es in Deutschland so bisher nicht gibt – und zeigen, was damit schon erreicht ist.'
Wichtig: Es geht nicht um Scraping als Selbstzweck, sondern um die Infrastruktur dahinter. Modulhandbücher sind der erste Anwendungsfall, nicht der einzige.
Gesamtdauer: ca. 20 Minuten, danach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Das 'Warum' ist die wichtigste Folie – nimm dir die Zeit.
Kernaussage: Nicht das Sammeln ist der Wert, sondern das, was danach möglich wird. Heute liegen die Modulhandbücher von über 400 Hochschulen verstreut auf tausenden Webseiten. Es gibt kein Verzeichnis, keine Schnittstelle, keine zentrale Sammlung – nach unserer Recherche auch nirgends in vergleichbarer Form.
Unsere Plattform macht daraus eine geprüfte, wiederholbare Datengrundlage. Darauf können Forschung, Lehre und Folgeprojekte direkt aufbauen, statt jedes Mal bei null zu starten.
Kurz erklären: Ein Modulhandbuch beschreibt alle Module eines Studiengangs – Inhalte, Umfang in ECTS, Prüfungsformen. Es ist die Quelle, um Lehre zwischen Hochschulen zu vergleichen.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Hier rechtfertigst du das Projekt über konkrete Nutzer.
1. Doktorprojekt: Der Datenbestand ist Grundlage für empirische Vergleiche zwischen Hochschulen – ohne dass jemand selbst crawlen muss.
2. Professor:innen mit Lehrmaterialien und Projekten: Sie können ihre Lehre an realen Curricula anderer Hochschulen ausrichten und vergleichen.
3. Studiengangsentwicklung an der FH Wedel: Das war die ursprüngliche User Story des Projekts.
4. Neu: Heute wurde ein Bachelorarbeits-Vorschlag eingereicht. Ein Student soll die Plattform erweitern und statt Modulhandbüchern die KI-Richtlinien der Hochschulen erheben. Das ist der Beweis, dass die Plattform wiederverwendbar ist: neues Extraktionsprofil, kein neuer Crawler.
Überleitung: 'Vier unterschiedliche Nutzer, aber ein gemeinsamer Bedarf: eine zentrale, geprüfte Datenbasis.'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Die Zahlen nicht vorlesen, sondern einordnen. Selbstbewusst: 'Das ist das, was in diesem Semester entstanden ist.'
404 Hochschulen wurden bearbeitet, 164.396 PDFs gesammelt (154 GB). In der Endliste stehen 19.049 Dokumente, davon sind geschätzt rund 18.600 echte Modulhandbücher. Bei 255 von 404 Hochschulen (63 %) gibt es mindestens ein bestätigtes Modulhandbuch.
Die Trefferquote von ca. 98 % ist gemessen am Urteil des Sprachmodells – das sagen wir offen dazu (Details auf Folie 'Modellqualität').
Die gesamten Cloud-Kosten betrugen 155 $ – das sind weniger als 1 Cent pro gefundenem Modulhandbuch (Details später).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Fünf Schritte, keine Technik-Details.
1. Eine CSV mit den Webseiten der Hochschulen genügt.
2. Der Crawler – ein Programm, das Webseiten wie ein Besucher durchläuft, Links folgt und PDFs lädt. Er hält sich an die Regeln der Webseiten (robots.txt) und lädt nicht mehrfach.
3. Ein schnelles Machine-Learning-Modell (TF-IDF mit logistischer Regression) vergibt einen Score zwischen 0 und 1: Wie sehr ähnelt dieser Text einem Modulhandbuch?
4. Nur für die unsichere Grauzone fragen wir ein KI-Sprachmodell (Claude Haiku 4.5), das ein Urteil mit Begründung liefert.
5. Ergebnis sind Dateien mit Score, Quelle und Begründung – ein Mensch kann jede Entscheidung nachvollziehen und korrigieren.
Kernbotschaft: Sammeln ist einfach, Aussortieren ist schwer. Deshalb arbeiten zwei Stufen zusammen – billig und schnell für die Masse, gründlich für die Grauzone.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Bewusst stark vereinfacht – die vollständige Architektur liegt im Projektbericht und im Backup.
Zuerst AWS erklären: Amazon Web Services ist eine Cloud-Plattform, bei der man Rechenleistung und Speicher bei Bedarf mietet, statt eigene Server zu betreiben.
Von links nach rechts: Nutzer arbeiten im Browser. Die Webapp – Frontend (Oberfläche) und Backend (Steuerung) – nimmt Aufträge an und startet Crawl-Jobs. Die laufen auf Fargate bzw. Lambda, also nur dann, wenn sie gebraucht werden, und viele Hochschulen parallel. Die Jobs legen Dateien im Speicher ab (S3); eine Tabelle (DynamoDB) merkt sich, welche Seiten schon besucht wurden. Das Sprachmodell läuft als Cloud-Dienst (Bedrock) und prüft die Grauzone.
Die zentrale Entscheidung: Steuerung und Last sind getrennt. Die kleine Webapp läuft immer, die schwere Arbeit nur bei Bedarf. Deshalb skaliert das System auf 404 Hochschulen, ohne dass wir Server verwalten.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Hier darfst du stolz sein – der Arbeitsumfang soll nicht erst im Projektbericht sichtbar werden.
Erheben: Massenimport per CSV, ein fokussierter Crawler (hält robots.txt ein, nutzt Sitemaps und Fakultäts-Subdomains, sucht Best-First), zusätzliche Suche über Common Crawl, Serper und Firecrawl für Hochschulen ohne Treffer, OCR für gescannte PDFs, Duplikaterkennung.
Prüfen: ML-Klassifikator, Sprachmodell-Zweitstufe, Review-Oberfläche mit Nachtraining (Human-in-the-Loop), Evaluationsmodul mit HTML-Bericht und Diagnose je Hochschule.
Betreiben: Weboberfläche mit Login, Rollen und Modellverwaltung; austauschbare Extraktionsprofile; automatisches Deployment; kompletter Neuaufbau der Cloud-Umgebung per Skript.
Satz zum Mitnehmen: 'Ein neuer Dokumenttyp bedeutet ein neues Profil – nicht einen neuen Crawler.'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Zeigen, welche technischen Probleme gelöst wurden und warum.
Wichtigste Erkenntnis: Das ML-Modell war im Training sehr gut (96,5 % Precision), im echten Crawl aber nur bei 25 % (Score 0,5–0,9) bzw. 82,5 % (Score ≥ 0,9). Der Grund: Prüfungsordnungen, Einzelmodulblätter und Studienverlaufspläne sehen Modulhandbüchern täuschend ähnlich. Deshalb haben wir die zweite Stufe mit Sprachmodell eingebaut – das war die Entscheidung mit der größten Wirkung.
Weitere Punkte kurz: Parallele Cloud-Jobs statt eigener Server; Zusatzsuche für Hochschulen ohne Treffer (bei drei Test-Hochschulen mit vorher null Treffern wurden gezielt 13 Handbücher gefunden); OCR für Scans (hoher Aufwand, kleiner Ertrag – das sagen wir offen); die befristete Cloud-Umgebung, die komplett gelöscht wird – wir haben sie per Skript in einem Lauf wiederherstellbar gemacht.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Ankündigung selbstbewusst: 'Wir zeigen Ihnen jetzt den typischen Ablauf. Das Setup wurde vorab getestet; zur Sicherheit zeigen wir die Ansichten als Screenshots.'
Falls eine Live-Demo gewünscht ist: Die drei Schritte hier sind die Reihenfolge der Demo. Bei Problemen einfach souverän mit den Screenshots weitermachen: 'So sieht das normalerweise aus.'
1. Auftrag starten: CSV hochladen, Modell wählen, Lauf starten.
2. Ergebnisse: gefundene Dokumente je Hochschule mit Score und Quelle.
3. Prüfband: Der Mensch entscheidet nur die unsichere Grauzone – sein Urteil fließt ins Nachtraining.
VOR DEM VORTRAG: Screenshots (oder ein kurzes Video) einfügen und lokal gespeicherte Beispielergebnisse bereithalten.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Der Trichter zeigt, wo die eigentliche Arbeit liegt.
Gesammelt wurden 164.396 PDFs. Das ML-Modell hat 44.437 als Kandidaten markiert. Nach der Prüfung durch das Sprachmodell und dem gezielten Nachprüfen verdächtiger Quellen stehen 19.049 Dokumente in der Endliste, davon sind geschätzt rund 18.600 echte Modulhandbücher.
Zwei Listen nennen: 'streng' (nur vom Sprachmodell bestätigt) mit 11.771 Dokumenten und 'erweitert' mit 19.049 Dokumenten inklusive der Dokumente mit sehr hohem Score.
Botschaft: Das Herunterladen ist nicht der Engpass. Der Engpass ist die Entscheidung, ob ein 90-seitiges PDF wirklich ein Modulhandbuch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Das ist das wichtigste inhaltliche Ergebnis – und es ist ein Erfolg der Methodik, nicht ein Eingeständnis.
Im Training erreicht das ML-Modell eine Precision von 96,5 % (Kreuzvalidierung, gruppiert nach Hochschule). Im echten Crawl liegt sie nur bei 25 % für Scores zwischen 0,5 und 0,9 und bei 82,5 % für Scores ab 0,9. Grund: Das Trainingsset (2.695 Dokumente von 269 Hochschulen) enthält nicht die ganze Breite an Beinahe-Treffern im Web.
Die Fehlerarten: Die Hälfte der falschen Treffer sind Prüfungs- oder Studienordnungen, ein Fünftel Einzelmodulblätter, 10 % Studienverlaufspläne.
Dank der Sprachmodell-Stufe und der gezielten Nachprüfung verdächtiger Quellen steigt die geschätzte Precision der Endliste auf ca. 98 %.
Ehrlichkeit als Stärke: Die Referenz ist das Urteil des Sprachmodells. Eine manuelle Stichprobe von 20 Dokumenten ergab 85 % Übereinstimmung. Wir haben außerdem einen Fehler in der eigenen Auswertung gefunden und korrigiert – das stärkt die Aussagekraft.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Unterschiede zwischen Hochschulen sind selbst schon ein Ergebnis.
Links nach Trägerschaft: öffentlich-rechtliche Hochschulen sind zu 78 % abgedeckt, kirchliche zu 51 %, private nur zu 39 %. Rechts nach Größe (Studierendenzahl): Bei Hochschulen mit 15.000 bis 30.000 Studierenden sind es 97 %, bei Hochschulen unter 1.000 Studierenden nur 44 %.
Ursachen: Kleine und private Seiten haben kaum PDFs, Handbücher hinter Login oder in JavaScript-Portalen. Das sind genau die Lücken, an denen die Zusatzsuche und die Seitenebenen-Klassifikation ansetzen (Ausblick).
Nach Typ (Backup): Universitäten 76 %, Künstlerische Hochschulen 70 %, FH/HAW 60 %, Verwaltungshochschulen 44 %. 39 Hochschulen ohne jeden 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Hier die Zahlen, die der Zuhörer als Forschungsdaten einordnen kann.
Laufzeit: Der erste Großlauf über 411 Hochschulen dauerte 6,3 Stunden, der Deep Run knapp 13 Stunden und holte 132.187 PDFs. Spitzendurchsatz: 10.000–14.000 neue PDFs pro Stunde.
Datenmenge: 154 GB in rund 193.000 Dateien. Duplikate: 14 % der Endliste (2.733 von 19.049) haben denselben Host und Dateinamen.
Manueller Aufwand: Ohne das Sprachmodell hätten 34.141 Dokumente der Grauzone von Hand geprüft werden müssen – bei 30 Sekunden je Dokument rund 285 Stunden (Modellrechnung, keine Messung). Nicht entscheidbar blieben 1.658 Dokumente.
Aktualität (Diagramm): Bei 11.758 Dokumenten steht eine Jahreszahl im Dateinamen; zwei Drittel stammen aus 2020 oder später, die ältesten ab 2001.
Konzentration: Die zehn ergiebigsten Hochschulen liefern 40 % aller Funde; die mediane Hochschule hat 4 Modulhandbücher.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Kosten transparent zeigen – das ist ein Argument für Skalierbarkeit.
Gesamtkosten Juli bis 5. Oktober 2026: 155,60 $ (Abrechnung der Cloud-Umgebung). 69 % davon, 107 $, entfielen auf die KI-Prüfung mit dem Sprachmodell (rund 34.000 Dokumente). Das Crawlen selbst – die Rechenzeit der beiden Großläufe – kostete nur etwa 7 $, der Speicher 6 $.
Überraschung: Die dauerhaft laufende Webapp (Server, feste IP-Adresse, Datenträger) kostete rund 28 $ und damit mehr als alle Crawls zusammen. Ein Betrieb nur bei Bedarf wäre günstiger.
Rechnerisch ergibt das weniger als 1 Cent pro gefundenem Modulhandbuch (155 $ / ca. 18.600) – wohlgemerkt inklusive Entwicklung und Tests.
Hochrechnung (rechte Tabelle): Für eine Vollerhebung mit 40.000 Modulhandbüchern (Fachschätzung) wären ca. 350.000 PDFs, 280 GB, rund 40 Stunden Rechenzeit und etwa 230 $ für die Prüfung nötig. Es ist eine lineare Hochrechnung; die tatsächliche Ausbeute pro PDF dürfte schlechter sein, weil die restlichen Handbücher auf schwer erreichbaren Seiten liegen.
Zur Skalierung: Das Limit von ca. 200 Dokumenten gilt nur für Testläufe; für die Vollerhebung ist eine umfassende rekursive Erfassung der Hochschulwebseiten vorgesehen. Im Deep Run wurden 132.187 PDFs in einem Lauf geholt.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Der Forschungsaspekt wird stärker betont, wie im Feedback gefordert.
Links die Fragen, die mit diesem Datensatz erstmals systematisch untersuchbar sind: Unterschiede zwischen Hochschulen, Aktualisierungshäufigkeit, zentrale vs. dezentrale Bereitstellung, kleine vs. große Hochschulen, gemeinsame Strukturen von Studiengängen, und wie vollständig sich Hochschulwebseiten automatisiert erfassen lassen.
Rechts erste Befunde, die schon jetzt sichtbar sind: Die Uni Augsburg stellt über ein einziges Portal 1.801 Dokumente bereit, die mediane Hochschule hat 4 – zentral vs. dezentral. Kleine Hochschulen (&lt;1.000 Studierende) haben im Schnitt 6 Handbücher, Hochschulen mit 15.000–30.000 Studierenden im Schnitt 222. Zwei Drittel der datierbaren Dokumente sind ab 2020. Öffentlich-rechtliche Hochschulen sind zu 78 % abgedeckt, private zu 39 %.
Einbettung: Forschungsgruppe KIWIT (BMFTR-gefördert), Forschungsprofil A – Erhebung öffentlich zugänglicher Hochschulinformationen. Nächster Anwendungsfall ist die Erhebung von KI-Richtlinien der Hochschulen.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Selbstbewusst und ehrlich: Wir wissen genau, wo die Lücken sind, und haben die Werkzeuge, sie zu schließen.
Grenzen: Der Recall ist unvollständig. Gegenüber der Fachschätzung von rund 40.000 Modulhandbüchern haben wir etwa 40 % erreicht (rund 16.300 eindeutige Dokumente in der Endliste); die 40.000 sind eine Größenordnung, keine Messung. 39 Hochschulen blieben ohne Fund, private und Verwaltungshochschulen sind schwach abgedeckt. Und: Alle Qualitätsangaben messen die Übereinstimmung mit dem Sprachmodell; die manuelle Referenz (20 Dokumente) ist klein.
Nächste Schritte: (1) Bachelorarbeit – KI-Richtlinien der Hochschulen mit neuem Extraktionsprofil erheben. (2) Inhaltliche Erschließung: aus 'ist ein Modulhandbuch' wird 'was steht darin' – Module, ECTS, Lernziele, Prüfungsformen. (3) Recall verbessern: JavaScript-Portale, Seitenebene statt Dateiebene, Nachtraining mit den über 34.000 Sprachmodell-Urteilen, höhere Schwelle im Live-Crawl. (4) Betrieb: Webapp nur bei Bedarf, Datensatz für Folgeprojekte bereitstellen.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Drei Sätze zum Mitnehmen, dann souverän schließen.
1. Wir haben nicht nur ein Skript gebaut, sondern eine Plattform: 404 Hochschulen, 164.396 PDFs, rund 18.600 geprüfte Modulhandbücher.
2. Das zweistufige Vorgehen mit ML-Modell und Sprachmodell war der entscheidende Erkenntnisgewinn – Trainingsgüte ist nicht Praxisgüte.
3. Die Datengrundlage und die Plattform sind wiederverwendbar – für Forschung, Lehre und Folgeprojekte; die KI-Richtlinien der Hochschulen sind der nächste Anwendungsfall.
Abschluss: 'Vielen Dank. Wir freuen uns auf Ihre Fragen.' Kein 'hoffentlich war es nicht zu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bei Rückfragen zeigen. Alle Folien dahinter dienen als Nachschlagewerk.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Vereinfachte Gesamtsicht – nur die Teile, die für das Verständnis nötig sind. Links die Steuerung (EC2, läuft dauerhaft): Webapp mit Login, Nutzer-/Rollen-Datenbank (SQLite) und Review-Oberfläche. In der Mitte die Last (nur bei Bedarf): Je nach Anzahl der URLs startet die Webapp Lambda (bis 10 URLs) oder Fargate (Bulk). Beide nutzen dasselbe Container-Image: Crawler mit Extraktionsprofil und ML-Klassifikation. Rechts der gemeinsame Zustand: S3 (PDFs, Manifeste, Feedback) und DynamoDB (bereits besuchte URLs). Unten rechts die Nachbearbeitung, die auf dem Laptop bzw. im Batch läuft: Sprachmodell-Prüfung (Bedrock), OCR, Auswertung und Nachtraining. Unten links CI/CD: Ein Push auf GitHub baut das Image und aktualisiert Lambda, Fargate und die Webapp. Unten Mitte die externen Quellen: Hochschulwebseiten und Discovery-Dienste.
Zahlen: 1 = Auftrag, 2 = Crawl und Speichern, 2 umfasst auch das Lesen der Ergebnisse durch die Webapp aus S3, 3 = Nachbearbeitung liest/schreibt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Entscheidung des Systems ist nachvollziehbar. Für jedes heruntergeladene Dokument schreibt die Pipeline eine JSON-Zeile in das Manifest (JSONL-Datei, S3-Pfad manifests/&lt;batch_id&gt;.jsonl). Die Webapp findet die Ergebnisse eines Laufs über die batch_id. Gruppen: Herkunft (wo gefunden, wann), Ablage (S3-Schlüssel), ML-Stufe (Score und automatische Entscheidung), Sprachmodell-Stufe (Urteil, Konfidenz, Begründung, Modell, verwendete Spec) und Auswertung (Endstatus und Lauf). Die Verdikte aus der Review-Oberfläche liegen getrennt unter feedback/&lt;job_id&gt;.jsonl und sind absichtlich modell-unabhängig (positive/negative). Die Hochschul-Metadaten stammen aus der Hochschulliste (404 Einträge, u. a. Typ, Trägerschaft, Bundesland, Studierendenzahl, Gründungsjahr) und werden über die Domain den Dokumenten zugeordnet – so entstehen die Auswertungen nach Typ, Träger, Größe und Bundesland. Die Dokumente selbst liegen unter scraped/&lt;Host&gt;/&lt;job_id&gt;/&lt;Dateiname&gt;.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Modell beantwortet eine Frage: Wie sehr ähnelt dieses Dokument einem Modulhandbuch? Schritte: (1) Text aus dem PDF extrahieren (bis zu 400.000 Zeichen; Scans ohne Textebene werden markiert und nie stillschweigend als negativ gewertet). (2) TF-IDF: Wörter und Wortpaare (1–2 Wörter) sowie Zeichenfolgen (3–5 Zeichen, robust gegen OCR-Fehler und Silbentrennung) werden in Zahlen umgewandelt; Wörter, die in diesem Dokument häufig, insgesamt aber selten sind, zählen viel – zum Beispiel 'Lernergebnisse', 'ECTS', 'Prüfungsform'. Je bis zu 60.000 Merkmale. (3) Logistische Regression mit ausgeglichenen Klassengewichten: ein lineares, schnelles und interpretierbares Modell. (4) Der Score zwischen 0 und 1 wird in drei Klassen übersetzt: unten automatisch negativ, oben automatisch positiv, dazwischen unsicher (Review bzw. Sprachmodell). Die Schwellen werden aus den Trainingsdaten abgeleitet, nicht fest auf 0,5 gesetzt. Bewusst kein Transformer: Das Modell verarbeitet 165.000 PDFs in Stunden auf normaler CPU, ist erklärbar und ehrlich evaluierbar. Der Engpass war die Breite der Trainingsdaten, nicht die Modellgröße.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Datenbasis: Zu Beginn 202 gelabelte Dokumente von 21 Hochschulen (134 positiv, 68 negativ), später 2.695 Dokumente von 269 Hochschulen. Die Daten liegen in Ordnern positiv/negativ je Hochschule; exakte Duplikate werden per Text-Hash entfernt. Aufteilung: StratifiedGroupKFold mit 5 Folds, gruppiert nach Hochschule – keine Hochschule ist gleichzeitig in Training und Test. Das misst die schwere, realistische Frage: Erkennt das Modell Modulhandbücher von Hochschulen, die es nie gesehen hat? Schwellen: Die untere wird so gewählt, dass der Recall mindestens 95 % beträgt; die obere so, dass die Precision mindestens 95 % beträgt. Leakage-Check: Es werden zwei Varianten trainiert – nur Inhalt, und Inhalt plus Dateiname/Titel. Waren sie sehr unterschiedlich, würde das Modell vermutlich Dateinamen lesen; sie waren fast gleich (PR-AUC 0,957 vs. 0,960), daher gewinnt die schlankere Inhalts-Variante. Erste Baseline: Recall 95,5 %, Precision 87,1 % bei Ziel-Recall. Human-in-the-Loop: Verdikte aus der Review-Oberfläche werden ins Trainingsset übernommen und das Modell neu trainiert. Das Diagramm zeigt die wichtigste Lehre: In der Praxis ist die Bestätigungsrate bei niedrigen Scores sehr gering, erst ab Score 0,9 hoch.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zweite Stufe fragt ein Sprachmodell (Claude Haiku 4.5 über Amazon Bedrock): Passt dieses Dokument zur Definition? Der Prompt entsteht aus einer 'Spec': Definition plus Gegenbeispiele (Prüfungsordnung, einzelnes Modulblatt, Vorlesungsverzeichnis, Flyer, Antrag). Das Modell sieht die ersten 8.000 Zeichen und antwortet als kompaktes JSON: is_match, confidence und eine Begründung in höchstens 12 Wörtern. Ein Urteil zählt als bestätigt bei Konfidenz ab 0,8. Geprüft wurden 34.141 Dokumente mit je rund 2.300 Eingabe-Token, Kosten rund 107 $ (ca. 3,10 $ je 1.000 Dokumente). Würde man alle 164.396 Dokumente so prüfen, wären es hochgerechnet etwa 500 $ und deutlich mehr Laufzeit – deshalb die zweistufige Lösung. Grenzen: Das Modell sieht nur den Textanfang; zwei echte Handbücher wurden in der Stichprobe verworfen, weil sie mit einer Studienordnung beginnen. Übereinstimmung mit manueller Stichprobe: 85 % (17 von 20, kleine Stichprobe).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Plattform trennt konsequent das Generische vom Anwendungsfall. Generisch bleibt die Crawl-Engine (Scrapy: Tiefen- und Seitenbudget, robots.txt, Deduplizierung, Parallelität). Austauschbar sind: das Extraction Profile (was folgen, was herunterladen, was extrahieren – heute 'generic', 'modulhandbuch' und 'html-content'), die Suchbegriffe für die Discovery, das ML-Modell (eigene Trainingsdaten), die Spec für die Sprachmodell-Stufe (Prompt als Daten), die Pipelines für Ablage und Klassifikation sowie in der Webapp die Zuordnung von Modellen zu Rollen. Drei Extraktionsformen sind vorgesehen: Dokumente ernten (PDF/DOC), HTML-Inhalt je Seite (ContentItem) und strukturierte Felder (z. B. Datum, Ort per CSS/XPath). Ein neuer Dokumenttyp ist damit Konfiguration plus Daten, kein neuer Crawler.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Entwurf am Beispiel der eingereichten Bachelorarbeit – die konkreten Begriffe und Definitionen hängen vom Ausgang des Vorschlags ab. Schritt 1: Ein Profil als Unterklasse anlegen und in der Registry eintragen; es legt Schlüsselwörter mit Gewichten (zur Steuerung des Crawls), Suchbegriffe für die Discovery und die Zieldateien fest. Schritt 2: Eine Spec registrieren, also Definition und Gegenbeispiele – der Prompt entsteht daraus automatisch. Schritt 3: Kaltstart ohne Trainingsdaten – zuerst labelt das Sprachmodell, die Review-Oberfläche (Human-in-the-Loop) korrigiert, danach lässt sich ein schnelles ML-Modell wie bei den Modulhandbüchern trainieren. Schritt 4: Modell und Rolle in der Webapp zuordnen, Hochschulliste hochladen, Lauf starten. Wiederverwendet werden Crawler-Engine, Cloud-Betrieb, Hochschulliste, Review-Oberfläche, Evaluationsmodul und Kostenkontrolle.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erste Großlauf fand bei 145 Hochschulen keine Handbücher. Gegenmaßnahmen: Best-First-Crawl (Links mit Schlüsselwörtern wie 'Modulhandbuch' zuerst, damit das kleine Seitenbudget gut genutzt wird); Sitemaps; Fakultäts-Subdomains bekommen ein frisches Tiefenbudget (z. B. cs.tu-dortmund.de). Für Hochschulen ohne Treffer die Discovery: Common Crawl (kostenlos, öffentlicher Webindex; in Tests wurden etwa 60 % der gescheiterten Domains geborgen), Serper (Google-Suche; erreicht tief liegende Dateien; bei drei Test-Hochschulen mit null Treffern wurden gezielt 13 Handbücher gefunden) und Firecrawl (JavaScript-Rendering; gebaut, bisher ohne Großeinsatz). OCR für gescannte PDFs brachte bei hohem Aufwand nur 42 zusätzliche Treffer. Der Seeds-only-Modus erlaubt eine gezielte Nachsuche mit den gefundenen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Keine Rechtsberatung – hier sind die offenen Punkte, die vor einer Veröffentlichung des Datensatzes zu klären sind. Technisch höflich: robots.txt wird standardmäßig befolgt; 1 Sekunde Verzögerung (zufällig variiert) mit AutoThrottle bis 10 Sekunden; maximal 2 parallele Anfragen je Domain; der Crawler bleibt auf der Domain der Hochschule; Dateien über 50 MB werden übersprungen; bereits besuchte URLs werden nicht erneut geholt. Offene Punkte: Es werden nur öffentlich zugängliche Dokumente erhoben, keine Logins. Im Seeds-only-Modus (opt-in, standardmäßig aus) umgehen gezielt per Suchmaschine gefundene Dokument-URLs die robots.txt – das ist vor einer Veröffentlichung zu bewerten. Urheber- und Nutzungsrechte: Für Forschung ist Text-und-Data-Mining nach § 60d UrhG relevant; die Weitergabe des Datensatzes ist zu klären. Modulhandbücher können Namen von Lehrenden enthalten – Datenschutz bei Weitergabe prüfen. Der User-Agent enthält noch eine Platzhalter-URL (github.com/yourorg) und sollte vor einem Echtbetrieb eine echte Kontaktadresse enthalten.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Zugriff: Anmeldung mit bcrypt-gehashten Passwörtern, signierte Session-Tokens mit 12 Stunden Gültigkeit, eine Rollen-Matrix (Nutzer zu Rolle, KI-Modell zu Rolle), der Modell-Tab ist nur für Admins. Cloud: Jeder Dienst hat eine eigene IAM-Rolle mit begrenzten Rechten; das Deployment per GitHub Actions läuft über OIDC, also ohne langlebige Schlüssel. Ehrlich: Geheimnisse liegen derzeit in einer .env-Datei (geplant: Secrets Manager), das HTTPS-Zertifikat ist selbstsigniert (geplant: echtes Zertifikat). Betrieb: Push auf main startet CI/CD (Image bauen, Lambda aktualisieren, Webapp per SSM aktualisieren). Die Cloud-Umgebung ist befristet und wird nach Ablauf komplett gelöscht – deshalb lässt sie sich per Skript in einem Lauf neu aufbauen. Die Webapp (EC2 t3.small, ca. 0,58 $/Tag) läuft dauerhaft und kostete mehr als alle Crawls; ein Betrieb nur bei Bedarf wäre günstiger. Weitere Ausbaustufen: SQLite zu RDS bei mehreren Schreibern, Auto-Scaling hinter einem Load Balancer, automatisierte Tests und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für Rückfragen zur Belastbarkeit. Alle Precision-Angaben messen die Übereinstimmung mit dem Urteil des Sprachmodells, nicht mit einem Menschen. Training: 5-fache Kreuzvalidierung gruppiert nach Hochschule (96,5 %). Praxis: Für Scores von 0,5 bis 0,9 hat das Sprachmodell rund 21.000 Dokumente geprüft, 25 % bestätigt. Pilot: Eine Stichprobe von 400 Dokumenten mit Score ab 0,9 ergab 82,5 % (95-%-Intervall 78,5–85,9 %). Auf 'nicht verdächtigen' Hosts bestätigte das Sprachmodell 212 von 225 (94,2 %), auf 197 'verdächtigen' Hosts (dort bestätigt das Sprachmodell sonst unter 30 %) nur 68 % von 6.463 vollständig geprüften Dokumenten. Das gezielte Nachprüfen dieser Hosts hob die geschätzte Precision der Endliste von ca. 89 % auf ca. 98 %. Manuelle Gegenprobe: 17 von 20 Urteilen stimmen überein (85 %, breites Intervall). Recall: grob geschätzt etwa 383 verpasste Handbücher bei 18.252 ungeprüften Dokumenten mit Score 0,3–0,5 – sehr unsicher. Der Zielwert von 40.000 ist eine Fachschätzung, keine Messung. Es gibt zwei Endlisten: streng (nur vom Sprachmodell bestätigt, 11.771) und erweitert (zusätzlich Score ≥ 0,9, 19.049).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Antworten auf erwartbare Rückfragen. Warum nicht alles mit dem Sprachmodell? Kosten und Zeit: hochgerechnet etwa 500 $ statt 107 $. Warum kein Transformer? Der Engpass war die Breite der Trainingsdaten, nicht die Modellgröße; TF-IDF ist schnell, erklärbar und ehrlich evaluierbar. Warum nicht nach Dateinamen filtern? Der Dateiname ist ein starkes Signal (bei Score ≥ 0,9: 95 % Bestätigung mit Stichwort 'modul/handbuch/mhb' gegenüber 35 % ohne), aber nicht allein ausreichend, weil Prüfungsordnungen ähnlich heißen. Aktualität: Stand August bis September 2026; ein kompletter Lauf dauert ca. 13 Stunden und ist wiederholbar. Nutzung der Daten: Weitergabe rechtlich zu klären. Aufwand für einen neuen Anwendungsfall: Profil und Spec sind Konfiguration; Hauptkosten ist die Prüfung mit ca. 3 $ je 1.000 Dokumente.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Von 20.031 TF-IDF-Positiven, die das Sprachmodell verworfen hat. Die Zuordnung erfolgt per Stichwort aus der Begründung des Sprachmodells und ist daher grob. Die Hälfte sind Prüfungs- oder Studienordnungen, 21 % Einzelmodulblätter. Daraus folgt: Der Klassifikator erkennt 'Dokument über Studium', nicht 'Dokument im Format Modulhandbuch'.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Tägliche Kosten ab dem 12.08.2026 (Gesamt 152,22 $ in diesem Zeitraum). Spitzen entsprechen den Großläufen (12.08., 16.09.) und den Tagen der Sprachmodell-Prüfung (02.09., 30.09., 01.10., 02.10.). Die Grundlast von ca. 0,27–0,77 $ pro Tag ist die dauerhaft laufende Webapp (Server, feste IP-Adresse, Datenträger).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Anteil der Hochschulen mit mindestens einem Modulhandbuch in der erweiterten Endliste. In Klammern die Anzahl der Hochschulen. Kleine Bundesländer mit wenigen Hochschulen (Saarland, Bremen) sind statistisch wenig belastbar.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Kurzüberblick über den Weg von Juni bis Oktober 2026. Phase 1: Prototyp und Cloud-Grundgerüst. Phase 2: MVP, erster Klassifikator, Review-Oberfläche, Automatisierung. Phase 3: Erster Großlauf über 411 Hochschulen, Analyse der Lücken, Zusatzsuche, Sprachmodell-Stufe. Phase 4: Deep Run, großflächige Prüfung, Abschlussauswertung.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Rückfragen. Begriffe bei Bedarf schon im Vortrag beim ersten Auftreten in einem Satz erklären.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Rückfragen.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36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977640"/>
            <a:ext cx="1069848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lIns="0" tIns="0" rIns="0" bIns="0" rtlCol="0" anchor="b"/>
          <a:lstStyle/>
          <a:p>
            <a:pPr algn="l" indent="0" marL="0">
              <a:buNone/>
            </a:pPr>
            <a:r>
              <a:rPr lang="en-US" sz="4000" b="1" dirty="0">
                <a:solidFill>
                  <a:schemeClr val="bg1"/>
                </a:solidFill>
              </a:rPr>
              <a:t>Eine Plattform, die Hochschuldokumente sammelt, prüft und nutzbar macht</a:t>
            </a:r>
            <a:endParaRPr lang="en-US" sz="4000" dirty="0"/>
          </a:p>
        </p:txBody>
      </p:sp>
      <p:sp>
        <p:nvSpPr>
          <p:cNvPr id="3" name="Text 0"/>
          <p:cNvSpPr/>
          <p:nvPr>
            <p:ph idx="101" type="body" hasCustomPrompt="1"/>
          </p:nvPr>
        </p:nvSpPr>
        <p:spPr>
          <a:xfrm>
            <a:off x="731520" y="3977640"/>
            <a:ext cx="10698480" cy="1371600"/>
          </a:xfrm>
          <a:prstGeom prst="rect">
            <a:avLst/>
          </a:prstGeom>
          <a:noFill/>
          <a:ln/>
        </p:spPr>
        <p:txBody>
          <a:bodyPr wrap="square" lIns="0" tIns="0" rIns="0" bIns="0" rtlCol="0" anchor="t"/>
          <a:lstStyle/>
          <a:p>
            <a:pPr algn="l" indent="0" marL="0">
              <a:spcAft>
                <a:spcPts val="800"/>
              </a:spcAft>
              <a:buNone/>
            </a:pPr>
            <a:r>
              <a:rPr lang="en-US" sz="2000" dirty="0">
                <a:solidFill>
                  <a:schemeClr val="bg2"/>
                </a:solidFill>
              </a:rPr>
              <a:t>Erster Anwendungsfall: Modulhandbücher deutscher Hochschulen</a:t>
            </a:r>
            <a:endParaRPr lang="en-US" sz="2000" dirty="0"/>
          </a:p>
          <a:p>
            <a:pPr algn="l" indent="0" marL="0">
              <a:spcAft>
                <a:spcPts val="800"/>
              </a:spcAft>
              <a:buNone/>
            </a:pPr>
            <a:r>
              <a:rPr lang="en-US" sz="2000" dirty="0">
                <a:solidFill>
                  <a:schemeClr val="bg2"/>
                </a:solidFill>
              </a:rPr>
              <a:t>Abschlusspräsentation · Methoden des Machine Learnings · FH Wedel · SS 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Warum? Ein Datenschatz, den es bisher nicht gibt</a:t>
            </a:r>
            <a:endParaRPr lang="en-US" sz="2800" dirty="0"/>
          </a:p>
        </p:txBody>
      </p:sp>
      <p:sp>
        <p:nvSpPr>
          <p:cNvPr id="4" name="Karte 1"/>
          <p:cNvSpPr/>
          <p:nvPr/>
        </p:nvSpPr>
        <p:spPr>
          <a:xfrm>
            <a:off x="548640" y="1508760"/>
            <a:ext cx="3200400" cy="2514600"/>
          </a:xfrm>
          <a:prstGeom prst="rect">
            <a:avLst/>
          </a:prstGeom>
          <a:solidFill>
            <a:schemeClr val="bg2"/>
          </a:solidFill>
          <a:ln w="12700">
            <a:solidFill>
              <a:schemeClr val="bg2"/>
            </a:solidFill>
            <a:prstDash val="solid"/>
          </a:ln>
        </p:spPr>
      </p:sp>
      <p:sp>
        <p:nvSpPr>
          <p:cNvPr id="5" name="Text 2"/>
          <p:cNvSpPr txBox="1"/>
          <p:nvPr/>
        </p:nvSpPr>
        <p:spPr>
          <a:xfrm>
            <a:off x="822960" y="1737360"/>
            <a:ext cx="2651760" cy="457200"/>
          </a:xfrm>
          <a:prstGeom prst="rect">
            <a:avLst/>
          </a:prstGeom>
          <a:noFill/>
          <a:ln/>
        </p:spPr>
        <p:txBody>
          <a:bodyPr wrap="square" lIns="0" tIns="0" rIns="0" bIns="0" rtlCol="0" anchor="t"/>
          <a:lstStyle/>
          <a:p>
            <a:pPr algn="l" indent="0" marL="0">
              <a:buNone/>
            </a:pPr>
            <a:r>
              <a:rPr lang="en-US" sz="2200" b="1" dirty="0">
                <a:solidFill>
                  <a:schemeClr val="tx2"/>
                </a:solidFill>
              </a:rPr>
              <a:t>Heute: verstreut</a:t>
            </a:r>
            <a:endParaRPr lang="en-US" sz="2200" dirty="0"/>
          </a:p>
        </p:txBody>
      </p:sp>
      <p:sp>
        <p:nvSpPr>
          <p:cNvPr id="6" name="Text 3"/>
          <p:cNvSpPr txBox="1"/>
          <p:nvPr/>
        </p:nvSpPr>
        <p:spPr>
          <a:xfrm>
            <a:off x="822960" y="2377440"/>
            <a:ext cx="2651760" cy="1508760"/>
          </a:xfrm>
          <a:prstGeom prst="rect">
            <a:avLst/>
          </a:prstGeom>
          <a:noFill/>
          <a:ln/>
        </p:spPr>
        <p:txBody>
          <a:bodyPr wrap="square" lIns="0" tIns="0" rIns="0" bIns="0" rtlCol="0" anchor="t"/>
          <a:lstStyle/>
          <a:p>
            <a:pPr algn="l" indent="0" marL="0">
              <a:buNone/>
            </a:pPr>
            <a:r>
              <a:rPr lang="en-US" sz="1600" dirty="0">
                <a:solidFill>
                  <a:schemeClr val="tx1"/>
                </a:solidFill>
              </a:rPr>
              <a:t>Modulhandbücher von 404 Hochschulen liegen auf tausenden Webseiten – jede anders aufgebaut, ohne zentrales Verzeichnis und ohne Schnittstelle.</a:t>
            </a:r>
            <a:endParaRPr lang="en-US" sz="1600" dirty="0"/>
          </a:p>
        </p:txBody>
      </p:sp>
      <p:sp>
        <p:nvSpPr>
          <p:cNvPr id="7" name="Karte 2"/>
          <p:cNvSpPr/>
          <p:nvPr/>
        </p:nvSpPr>
        <p:spPr>
          <a:xfrm>
            <a:off x="4498848" y="1508760"/>
            <a:ext cx="3200400" cy="2514600"/>
          </a:xfrm>
          <a:prstGeom prst="rect">
            <a:avLst/>
          </a:prstGeom>
          <a:solidFill>
            <a:schemeClr val="accent1"/>
          </a:solidFill>
          <a:ln w="12700">
            <a:solidFill>
              <a:schemeClr val="accent1"/>
            </a:solidFill>
            <a:prstDash val="solid"/>
          </a:ln>
        </p:spPr>
      </p:sp>
      <p:sp>
        <p:nvSpPr>
          <p:cNvPr id="8" name="Text 5"/>
          <p:cNvSpPr txBox="1"/>
          <p:nvPr/>
        </p:nvSpPr>
        <p:spPr>
          <a:xfrm>
            <a:off x="4773168" y="1737360"/>
            <a:ext cx="2651760" cy="457200"/>
          </a:xfrm>
          <a:prstGeom prst="rect">
            <a:avLst/>
          </a:prstGeom>
          <a:noFill/>
          <a:ln/>
        </p:spPr>
        <p:txBody>
          <a:bodyPr wrap="square" lIns="0" tIns="0" rIns="0" bIns="0" rtlCol="0" anchor="t"/>
          <a:lstStyle/>
          <a:p>
            <a:pPr algn="l" indent="0" marL="0">
              <a:buNone/>
            </a:pPr>
            <a:r>
              <a:rPr lang="en-US" sz="2200" b="1" dirty="0">
                <a:solidFill>
                  <a:schemeClr val="bg1"/>
                </a:solidFill>
              </a:rPr>
              <a:t>Unsere Plattform</a:t>
            </a:r>
            <a:endParaRPr lang="en-US" sz="2200" dirty="0"/>
          </a:p>
        </p:txBody>
      </p:sp>
      <p:sp>
        <p:nvSpPr>
          <p:cNvPr id="9" name="Text 6"/>
          <p:cNvSpPr txBox="1"/>
          <p:nvPr/>
        </p:nvSpPr>
        <p:spPr>
          <a:xfrm>
            <a:off x="4773168" y="2377440"/>
            <a:ext cx="2651760" cy="1508760"/>
          </a:xfrm>
          <a:prstGeom prst="rect">
            <a:avLst/>
          </a:prstGeom>
          <a:noFill/>
          <a:ln/>
        </p:spPr>
        <p:txBody>
          <a:bodyPr wrap="square" lIns="0" tIns="0" rIns="0" bIns="0" rtlCol="0" anchor="t"/>
          <a:lstStyle/>
          <a:p>
            <a:pPr algn="l" indent="0" marL="0">
              <a:buNone/>
            </a:pPr>
            <a:r>
              <a:rPr lang="en-US" sz="1600" dirty="0">
                <a:solidFill>
                  <a:schemeClr val="bg1"/>
                </a:solidFill>
              </a:rPr>
              <a:t>Findet, lädt, prüft und speichert die Dokumente automatisch – wiederholbar, nachvollziehbar und für neue Dokumenttypen erweiterbar.</a:t>
            </a:r>
            <a:endParaRPr lang="en-US" sz="1600" dirty="0"/>
          </a:p>
        </p:txBody>
      </p:sp>
      <p:sp>
        <p:nvSpPr>
          <p:cNvPr id="10" name="Karte 3"/>
          <p:cNvSpPr/>
          <p:nvPr/>
        </p:nvSpPr>
        <p:spPr>
          <a:xfrm>
            <a:off x="8439912" y="1508760"/>
            <a:ext cx="3200400" cy="2514600"/>
          </a:xfrm>
          <a:prstGeom prst="rect">
            <a:avLst/>
          </a:prstGeom>
          <a:solidFill>
            <a:schemeClr val="bg2"/>
          </a:solidFill>
          <a:ln w="12700">
            <a:solidFill>
              <a:schemeClr val="bg2"/>
            </a:solidFill>
            <a:prstDash val="solid"/>
          </a:ln>
        </p:spPr>
      </p:sp>
      <p:sp>
        <p:nvSpPr>
          <p:cNvPr id="11" name="Text 8"/>
          <p:cNvSpPr txBox="1"/>
          <p:nvPr/>
        </p:nvSpPr>
        <p:spPr>
          <a:xfrm>
            <a:off x="8714232" y="1737360"/>
            <a:ext cx="2651760" cy="457200"/>
          </a:xfrm>
          <a:prstGeom prst="rect">
            <a:avLst/>
          </a:prstGeom>
          <a:noFill/>
          <a:ln/>
        </p:spPr>
        <p:txBody>
          <a:bodyPr wrap="square" lIns="0" tIns="0" rIns="0" bIns="0" rtlCol="0" anchor="t"/>
          <a:lstStyle/>
          <a:p>
            <a:pPr algn="l" indent="0" marL="0">
              <a:buNone/>
            </a:pPr>
            <a:r>
              <a:rPr lang="en-US" sz="2200" b="1" dirty="0">
                <a:solidFill>
                  <a:schemeClr val="tx2"/>
                </a:solidFill>
              </a:rPr>
              <a:t>Morgen: Datenschatz</a:t>
            </a:r>
            <a:endParaRPr lang="en-US" sz="2200" dirty="0"/>
          </a:p>
        </p:txBody>
      </p:sp>
      <p:sp>
        <p:nvSpPr>
          <p:cNvPr id="12" name="Text 9"/>
          <p:cNvSpPr txBox="1"/>
          <p:nvPr/>
        </p:nvSpPr>
        <p:spPr>
          <a:xfrm>
            <a:off x="8714232" y="2377440"/>
            <a:ext cx="2651760" cy="1508760"/>
          </a:xfrm>
          <a:prstGeom prst="rect">
            <a:avLst/>
          </a:prstGeom>
          <a:noFill/>
          <a:ln/>
        </p:spPr>
        <p:txBody>
          <a:bodyPr wrap="square" lIns="0" tIns="0" rIns="0" bIns="0" rtlCol="0" anchor="t"/>
          <a:lstStyle/>
          <a:p>
            <a:pPr algn="l" indent="0" marL="0">
              <a:buNone/>
            </a:pPr>
            <a:r>
              <a:rPr lang="en-US" sz="1600" dirty="0">
                <a:solidFill>
                  <a:schemeClr val="tx1"/>
                </a:solidFill>
              </a:rPr>
              <a:t>Eine geprüfte Datengrundlage, auf der Forschung, Lehre und Folgeprojekte direkt aufbauen können – statt jedes Mal bei null zu starten.</a:t>
            </a:r>
            <a:endParaRPr lang="en-US" sz="1600" dirty="0"/>
          </a:p>
        </p:txBody>
      </p:sp>
      <p:sp>
        <p:nvSpPr>
          <p:cNvPr id="13" name="Pfeil"/>
          <p:cNvSpPr/>
          <p:nvPr/>
        </p:nvSpPr>
        <p:spPr>
          <a:xfrm>
            <a:off x="3767328" y="2514600"/>
            <a:ext cx="548640" cy="502920"/>
          </a:xfrm>
          <a:prstGeom prst="rightArrow">
            <a:avLst/>
          </a:prstGeom>
          <a:solidFill>
            <a:schemeClr val="accent4"/>
          </a:solidFill>
          <a:ln w="12700">
            <a:solidFill>
              <a:schemeClr val="accent4"/>
            </a:solidFill>
            <a:prstDash val="solid"/>
          </a:ln>
        </p:spPr>
      </p:sp>
      <p:sp>
        <p:nvSpPr>
          <p:cNvPr id="14" name="Pfeil"/>
          <p:cNvSpPr/>
          <p:nvPr/>
        </p:nvSpPr>
        <p:spPr>
          <a:xfrm>
            <a:off x="7708392" y="2514600"/>
            <a:ext cx="548640" cy="502920"/>
          </a:xfrm>
          <a:prstGeom prst="rightArrow">
            <a:avLst/>
          </a:prstGeom>
          <a:solidFill>
            <a:schemeClr val="accent4"/>
          </a:solidFill>
          <a:ln w="12700">
            <a:solidFill>
              <a:schemeClr val="accent4"/>
            </a:solidFill>
            <a:prstDash val="solid"/>
          </a:ln>
        </p:spPr>
      </p:sp>
      <p:sp>
        <p:nvSpPr>
          <p:cNvPr id="15" name="Text 12"/>
          <p:cNvSpPr txBox="1"/>
          <p:nvPr/>
        </p:nvSpPr>
        <p:spPr>
          <a:xfrm>
            <a:off x="548640" y="4434840"/>
            <a:ext cx="11091672" cy="548640"/>
          </a:xfrm>
          <a:prstGeom prst="rect">
            <a:avLst/>
          </a:prstGeom>
          <a:noFill/>
          <a:ln/>
        </p:spPr>
        <p:txBody>
          <a:bodyPr wrap="square" lIns="0" tIns="0" rIns="0" bIns="0" rtlCol="0" anchor="t"/>
          <a:lstStyle/>
          <a:p>
            <a:pPr algn="l" indent="0" marL="0">
              <a:buNone/>
            </a:pPr>
            <a:r>
              <a:rPr lang="en-US" sz="2600" b="1" dirty="0">
                <a:solidFill>
                  <a:schemeClr val="tx2"/>
                </a:solidFill>
              </a:rPr>
              <a:t>Der Wert liegt nicht im Sammeln, sondern in dem, was danach möglich wird.</a:t>
            </a:r>
            <a:endParaRPr lang="en-US" sz="2600" dirty="0"/>
          </a:p>
        </p:txBody>
      </p:sp>
      <p:sp>
        <p:nvSpPr>
          <p:cNvPr id="16" name="Text 13"/>
          <p:cNvSpPr txBox="1"/>
          <p:nvPr/>
        </p:nvSpPr>
        <p:spPr>
          <a:xfrm>
            <a:off x="548640" y="5257800"/>
            <a:ext cx="11091672" cy="365760"/>
          </a:xfrm>
          <a:prstGeom prst="rect">
            <a:avLst/>
          </a:prstGeom>
          <a:noFill/>
          <a:ln/>
        </p:spPr>
        <p:txBody>
          <a:bodyPr wrap="square" lIns="0" tIns="0" rIns="0" bIns="0" rtlCol="0" anchor="t"/>
          <a:lstStyle/>
          <a:p>
            <a:pPr algn="l" indent="0" marL="0">
              <a:buNone/>
            </a:pPr>
            <a:r>
              <a:rPr lang="en-US" sz="1500" dirty="0">
                <a:solidFill>
                  <a:schemeClr val="accent4"/>
                </a:solidFill>
              </a:rPr>
              <a:t>Modulhandbuch = Beschreibung aller Module eines Studiengangs: Inhalte, Umfang (ECTS) und Prüfungsformen.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Wer profitiert? Vier Nutzergruppen, ein gemeinsamer Datenbestand</a:t>
            </a:r>
            <a:endParaRPr lang="en-US" sz="2800" dirty="0"/>
          </a:p>
        </p:txBody>
      </p:sp>
      <p:sp>
        <p:nvSpPr>
          <p:cNvPr id="4" name="Story 1"/>
          <p:cNvSpPr/>
          <p:nvPr/>
        </p:nvSpPr>
        <p:spPr>
          <a:xfrm>
            <a:off x="548640" y="1417320"/>
            <a:ext cx="5440680" cy="2011680"/>
          </a:xfrm>
          <a:prstGeom prst="rect">
            <a:avLst/>
          </a:prstGeom>
          <a:solidFill>
            <a:schemeClr val="bg2"/>
          </a:solidFill>
          <a:ln w="12700">
            <a:solidFill>
              <a:schemeClr val="bg2"/>
            </a:solidFill>
            <a:prstDash val="solid"/>
          </a:ln>
        </p:spPr>
      </p:sp>
      <p:sp>
        <p:nvSpPr>
          <p:cNvPr id="5" name="Text 2"/>
          <p:cNvSpPr txBox="1"/>
          <p:nvPr/>
        </p:nvSpPr>
        <p:spPr>
          <a:xfrm>
            <a:off x="822960" y="1618488"/>
            <a:ext cx="4892040" cy="320040"/>
          </a:xfrm>
          <a:prstGeom prst="rect">
            <a:avLst/>
          </a:prstGeom>
          <a:noFill/>
          <a:ln/>
        </p:spPr>
        <p:txBody>
          <a:bodyPr wrap="square" lIns="0" tIns="0" rIns="0" bIns="0" rtlCol="0" anchor="t"/>
          <a:lstStyle/>
          <a:p>
            <a:pPr algn="l" indent="0" marL="0">
              <a:buNone/>
            </a:pPr>
            <a:r>
              <a:rPr lang="en-US" sz="1400" b="1" dirty="0">
                <a:solidFill>
                  <a:schemeClr val="accent1"/>
                </a:solidFill>
              </a:rPr>
              <a:t>DOKTORPROJEKT</a:t>
            </a:r>
            <a:endParaRPr lang="en-US" sz="1400" dirty="0"/>
          </a:p>
        </p:txBody>
      </p:sp>
      <p:sp>
        <p:nvSpPr>
          <p:cNvPr id="6" name="Text 3"/>
          <p:cNvSpPr txBox="1"/>
          <p:nvPr/>
        </p:nvSpPr>
        <p:spPr>
          <a:xfrm>
            <a:off x="822960" y="2057400"/>
            <a:ext cx="4892040" cy="1234440"/>
          </a:xfrm>
          <a:prstGeom prst="rect">
            <a:avLst/>
          </a:prstGeom>
          <a:noFill/>
          <a:ln/>
        </p:spPr>
        <p:txBody>
          <a:bodyPr wrap="square" lIns="0" tIns="0" rIns="0" bIns="0" rtlCol="0" anchor="t"/>
          <a:lstStyle/>
          <a:p>
            <a:pPr algn="l" indent="0" marL="0">
              <a:buNone/>
            </a:pPr>
            <a:r>
              <a:rPr lang="en-US" sz="1700" dirty="0">
                <a:solidFill>
                  <a:schemeClr val="tx1"/>
                </a:solidFill>
              </a:rPr>
              <a:t>Als Doktorand möchte ich Hochschuldokumente flächendeckend und strukturiert vorliegen haben, um Hochschulen empirisch zu vergleichen – ohne selbst zu crawlen.</a:t>
            </a:r>
            <a:endParaRPr lang="en-US" sz="1700" dirty="0"/>
          </a:p>
        </p:txBody>
      </p:sp>
      <p:sp>
        <p:nvSpPr>
          <p:cNvPr id="7" name="Story 2"/>
          <p:cNvSpPr/>
          <p:nvPr/>
        </p:nvSpPr>
        <p:spPr>
          <a:xfrm>
            <a:off x="6199632" y="1417320"/>
            <a:ext cx="5440680" cy="2011680"/>
          </a:xfrm>
          <a:prstGeom prst="rect">
            <a:avLst/>
          </a:prstGeom>
          <a:solidFill>
            <a:schemeClr val="bg2"/>
          </a:solidFill>
          <a:ln w="12700">
            <a:solidFill>
              <a:schemeClr val="bg2"/>
            </a:solidFill>
            <a:prstDash val="solid"/>
          </a:ln>
        </p:spPr>
      </p:sp>
      <p:sp>
        <p:nvSpPr>
          <p:cNvPr id="8" name="Text 5"/>
          <p:cNvSpPr txBox="1"/>
          <p:nvPr/>
        </p:nvSpPr>
        <p:spPr>
          <a:xfrm>
            <a:off x="6473952" y="1618488"/>
            <a:ext cx="4892040" cy="320040"/>
          </a:xfrm>
          <a:prstGeom prst="rect">
            <a:avLst/>
          </a:prstGeom>
          <a:noFill/>
          <a:ln/>
        </p:spPr>
        <p:txBody>
          <a:bodyPr wrap="square" lIns="0" tIns="0" rIns="0" bIns="0" rtlCol="0" anchor="t"/>
          <a:lstStyle/>
          <a:p>
            <a:pPr algn="l" indent="0" marL="0">
              <a:buNone/>
            </a:pPr>
            <a:r>
              <a:rPr lang="en-US" sz="1400" b="1" dirty="0">
                <a:solidFill>
                  <a:schemeClr val="accent1"/>
                </a:solidFill>
              </a:rPr>
              <a:t>LEHRE &amp; PROJEKTE (PROFESSOR:INNEN)</a:t>
            </a:r>
            <a:endParaRPr lang="en-US" sz="1400" dirty="0"/>
          </a:p>
        </p:txBody>
      </p:sp>
      <p:sp>
        <p:nvSpPr>
          <p:cNvPr id="9" name="Text 6"/>
          <p:cNvSpPr txBox="1"/>
          <p:nvPr/>
        </p:nvSpPr>
        <p:spPr>
          <a:xfrm>
            <a:off x="6473952" y="2057400"/>
            <a:ext cx="4892040" cy="1234440"/>
          </a:xfrm>
          <a:prstGeom prst="rect">
            <a:avLst/>
          </a:prstGeom>
          <a:noFill/>
          <a:ln/>
        </p:spPr>
        <p:txBody>
          <a:bodyPr wrap="square" lIns="0" tIns="0" rIns="0" bIns="0" rtlCol="0" anchor="t"/>
          <a:lstStyle/>
          <a:p>
            <a:pPr algn="l" indent="0" marL="0">
              <a:buNone/>
            </a:pPr>
            <a:r>
              <a:rPr lang="en-US" sz="1700" dirty="0">
                <a:solidFill>
                  <a:schemeClr val="tx1"/>
                </a:solidFill>
              </a:rPr>
              <a:t>Als Professor:in möchte ich Modulhandbücher anderer Hochschulen vergleichen, um Lehrmaterial und Projekte an realen Curricula auszurichten.</a:t>
            </a:r>
            <a:endParaRPr lang="en-US" sz="1700" dirty="0"/>
          </a:p>
        </p:txBody>
      </p:sp>
      <p:sp>
        <p:nvSpPr>
          <p:cNvPr id="10" name="Story 3"/>
          <p:cNvSpPr/>
          <p:nvPr/>
        </p:nvSpPr>
        <p:spPr>
          <a:xfrm>
            <a:off x="548640" y="3611880"/>
            <a:ext cx="5440680" cy="2011680"/>
          </a:xfrm>
          <a:prstGeom prst="rect">
            <a:avLst/>
          </a:prstGeom>
          <a:solidFill>
            <a:schemeClr val="bg2"/>
          </a:solidFill>
          <a:ln w="12700">
            <a:solidFill>
              <a:schemeClr val="bg2"/>
            </a:solidFill>
            <a:prstDash val="solid"/>
          </a:ln>
        </p:spPr>
      </p:sp>
      <p:sp>
        <p:nvSpPr>
          <p:cNvPr id="11" name="Text 8"/>
          <p:cNvSpPr txBox="1"/>
          <p:nvPr/>
        </p:nvSpPr>
        <p:spPr>
          <a:xfrm>
            <a:off x="822960" y="3813048"/>
            <a:ext cx="4892040" cy="320040"/>
          </a:xfrm>
          <a:prstGeom prst="rect">
            <a:avLst/>
          </a:prstGeom>
          <a:noFill/>
          <a:ln/>
        </p:spPr>
        <p:txBody>
          <a:bodyPr wrap="square" lIns="0" tIns="0" rIns="0" bIns="0" rtlCol="0" anchor="t"/>
          <a:lstStyle/>
          <a:p>
            <a:pPr algn="l" indent="0" marL="0">
              <a:buNone/>
            </a:pPr>
            <a:r>
              <a:rPr lang="en-US" sz="1400" b="1" dirty="0">
                <a:solidFill>
                  <a:schemeClr val="accent1"/>
                </a:solidFill>
              </a:rPr>
              <a:t>STUDIENGANGSENTWICKLUNG (FH WEDEL)</a:t>
            </a:r>
            <a:endParaRPr lang="en-US" sz="1400" dirty="0"/>
          </a:p>
        </p:txBody>
      </p:sp>
      <p:sp>
        <p:nvSpPr>
          <p:cNvPr id="12" name="Text 9"/>
          <p:cNvSpPr txBox="1"/>
          <p:nvPr/>
        </p:nvSpPr>
        <p:spPr>
          <a:xfrm>
            <a:off x="822960" y="4251960"/>
            <a:ext cx="4892040" cy="1234440"/>
          </a:xfrm>
          <a:prstGeom prst="rect">
            <a:avLst/>
          </a:prstGeom>
          <a:noFill/>
          <a:ln/>
        </p:spPr>
        <p:txBody>
          <a:bodyPr wrap="square" lIns="0" tIns="0" rIns="0" bIns="0" rtlCol="0" anchor="t"/>
          <a:lstStyle/>
          <a:p>
            <a:pPr algn="l" indent="0" marL="0">
              <a:buNone/>
            </a:pPr>
            <a:r>
              <a:rPr lang="en-US" sz="1700" dirty="0">
                <a:solidFill>
                  <a:schemeClr val="tx1"/>
                </a:solidFill>
              </a:rPr>
              <a:t>Als Mitarbeiter der FH Wedel möchte ich neue Studiengänge mit denen anderer Hochschulen vergleichen, um fundiert zu entscheiden.</a:t>
            </a:r>
            <a:endParaRPr lang="en-US" sz="1700" dirty="0"/>
          </a:p>
        </p:txBody>
      </p:sp>
      <p:sp>
        <p:nvSpPr>
          <p:cNvPr id="13" name="Story 4"/>
          <p:cNvSpPr/>
          <p:nvPr/>
        </p:nvSpPr>
        <p:spPr>
          <a:xfrm>
            <a:off x="6199632" y="3611880"/>
            <a:ext cx="5440680" cy="2011680"/>
          </a:xfrm>
          <a:prstGeom prst="rect">
            <a:avLst/>
          </a:prstGeom>
          <a:solidFill>
            <a:schemeClr val="bg2"/>
          </a:solidFill>
          <a:ln w="12700">
            <a:solidFill>
              <a:schemeClr val="bg2"/>
            </a:solidFill>
            <a:prstDash val="solid"/>
          </a:ln>
        </p:spPr>
      </p:sp>
      <p:sp>
        <p:nvSpPr>
          <p:cNvPr id="14" name="Text 11"/>
          <p:cNvSpPr txBox="1"/>
          <p:nvPr/>
        </p:nvSpPr>
        <p:spPr>
          <a:xfrm>
            <a:off x="6473952" y="3813048"/>
            <a:ext cx="4892040" cy="320040"/>
          </a:xfrm>
          <a:prstGeom prst="rect">
            <a:avLst/>
          </a:prstGeom>
          <a:noFill/>
          <a:ln/>
        </p:spPr>
        <p:txBody>
          <a:bodyPr wrap="square" lIns="0" tIns="0" rIns="0" bIns="0" rtlCol="0" anchor="t"/>
          <a:lstStyle/>
          <a:p>
            <a:pPr algn="l" indent="0" marL="0">
              <a:buNone/>
            </a:pPr>
            <a:r>
              <a:rPr lang="en-US" sz="1400" b="1" dirty="0">
                <a:solidFill>
                  <a:schemeClr val="accent2"/>
                </a:solidFill>
              </a:rPr>
              <a:t>NEU: BACHELORARBEIT EINGEREICHT</a:t>
            </a:r>
            <a:endParaRPr lang="en-US" sz="1400" dirty="0"/>
          </a:p>
        </p:txBody>
      </p:sp>
      <p:sp>
        <p:nvSpPr>
          <p:cNvPr id="15" name="Text 12"/>
          <p:cNvSpPr txBox="1"/>
          <p:nvPr/>
        </p:nvSpPr>
        <p:spPr>
          <a:xfrm>
            <a:off x="6473952" y="4251960"/>
            <a:ext cx="4892040" cy="1234440"/>
          </a:xfrm>
          <a:prstGeom prst="rect">
            <a:avLst/>
          </a:prstGeom>
          <a:noFill/>
          <a:ln/>
        </p:spPr>
        <p:txBody>
          <a:bodyPr wrap="square" lIns="0" tIns="0" rIns="0" bIns="0" rtlCol="0" anchor="t"/>
          <a:lstStyle/>
          <a:p>
            <a:pPr algn="l" indent="0" marL="0">
              <a:buNone/>
            </a:pPr>
            <a:r>
              <a:rPr lang="en-US" sz="1700" dirty="0">
                <a:solidFill>
                  <a:schemeClr val="tx1"/>
                </a:solidFill>
              </a:rPr>
              <a:t>Als Bachelorstudent möchte ich die Plattform erweitern und die KI-Richtlinien der Hochschulen erheben – ohne einen neuen Crawler zu bauen.</a:t>
            </a:r>
            <a:endParaRPr lang="en-US" sz="1700" dirty="0"/>
          </a:p>
        </p:txBody>
      </p:sp>
      <p:sp>
        <p:nvSpPr>
          <p:cNvPr id="16" name="Text 13"/>
          <p:cNvSpPr txBox="1"/>
          <p:nvPr/>
        </p:nvSpPr>
        <p:spPr>
          <a:xfrm>
            <a:off x="548640" y="5852160"/>
            <a:ext cx="11091672" cy="411480"/>
          </a:xfrm>
          <a:prstGeom prst="rect">
            <a:avLst/>
          </a:prstGeom>
          <a:noFill/>
          <a:ln/>
        </p:spPr>
        <p:txBody>
          <a:bodyPr wrap="square" lIns="0" tIns="0" rIns="0" bIns="0" rtlCol="0" anchor="t"/>
          <a:lstStyle/>
          <a:p>
            <a:pPr algn="l" indent="0" marL="0">
              <a:buNone/>
            </a:pPr>
            <a:r>
              <a:rPr lang="en-US" sz="1600" b="1" dirty="0">
                <a:solidFill>
                  <a:schemeClr val="tx2"/>
                </a:solidFill>
              </a:rPr>
              <a:t>Gemeinsamer Nenner: eine zentrale, geprüfte Datenbasis – und eine Plattform, die sich auf neue Dokumenttypen erweitern lässt.</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Das Ergebnis auf einen Blick</a:t>
            </a:r>
            <a:endParaRPr lang="en-US" sz="2800" dirty="0"/>
          </a:p>
        </p:txBody>
      </p:sp>
      <p:sp>
        <p:nvSpPr>
          <p:cNvPr id="4" name="Kennzahl 1"/>
          <p:cNvSpPr/>
          <p:nvPr/>
        </p:nvSpPr>
        <p:spPr>
          <a:xfrm>
            <a:off x="548640" y="1417320"/>
            <a:ext cx="3520440" cy="1965960"/>
          </a:xfrm>
          <a:prstGeom prst="rect">
            <a:avLst/>
          </a:prstGeom>
          <a:solidFill>
            <a:schemeClr val="bg2"/>
          </a:solidFill>
          <a:ln w="12700">
            <a:solidFill>
              <a:schemeClr val="bg2"/>
            </a:solidFill>
            <a:prstDash val="solid"/>
          </a:ln>
        </p:spPr>
      </p:sp>
      <p:sp>
        <p:nvSpPr>
          <p:cNvPr id="5" name="Text 2"/>
          <p:cNvSpPr txBox="1"/>
          <p:nvPr/>
        </p:nvSpPr>
        <p:spPr>
          <a:xfrm>
            <a:off x="822960" y="1600200"/>
            <a:ext cx="2971800" cy="822960"/>
          </a:xfrm>
          <a:prstGeom prst="rect">
            <a:avLst/>
          </a:prstGeom>
          <a:noFill/>
          <a:ln/>
        </p:spPr>
        <p:txBody>
          <a:bodyPr wrap="square" lIns="0" tIns="0" rIns="0" bIns="0" rtlCol="0" anchor="ctr"/>
          <a:lstStyle/>
          <a:p>
            <a:pPr algn="l" indent="0" marL="0">
              <a:buNone/>
            </a:pPr>
            <a:r>
              <a:rPr lang="en-US" sz="4400" b="1" dirty="0">
                <a:solidFill>
                  <a:schemeClr val="accent1"/>
                </a:solidFill>
              </a:rPr>
              <a:t>404</a:t>
            </a:r>
            <a:endParaRPr lang="en-US" sz="4400" dirty="0"/>
          </a:p>
        </p:txBody>
      </p:sp>
      <p:sp>
        <p:nvSpPr>
          <p:cNvPr id="6" name="Text 3"/>
          <p:cNvSpPr txBox="1"/>
          <p:nvPr/>
        </p:nvSpPr>
        <p:spPr>
          <a:xfrm>
            <a:off x="822960" y="2468880"/>
            <a:ext cx="2971800" cy="822960"/>
          </a:xfrm>
          <a:prstGeom prst="rect">
            <a:avLst/>
          </a:prstGeom>
          <a:noFill/>
          <a:ln/>
        </p:spPr>
        <p:txBody>
          <a:bodyPr wrap="square" lIns="0" tIns="0" rIns="0" bIns="0" rtlCol="0" anchor="t"/>
          <a:lstStyle/>
          <a:p>
            <a:pPr algn="l" indent="0" marL="0">
              <a:buNone/>
            </a:pPr>
            <a:r>
              <a:rPr lang="en-US" sz="1500" dirty="0">
                <a:solidFill>
                  <a:schemeClr val="tx1"/>
                </a:solidFill>
              </a:rPr>
              <a:t>Hochschulen bearbeitet – Universitäten, FH/HAW, Kunst- und Verwaltungshochschulen</a:t>
            </a:r>
            <a:endParaRPr lang="en-US" sz="1500" dirty="0"/>
          </a:p>
        </p:txBody>
      </p:sp>
      <p:sp>
        <p:nvSpPr>
          <p:cNvPr id="7" name="Kennzahl 2"/>
          <p:cNvSpPr/>
          <p:nvPr/>
        </p:nvSpPr>
        <p:spPr>
          <a:xfrm>
            <a:off x="4334256" y="1417320"/>
            <a:ext cx="3520440" cy="1965960"/>
          </a:xfrm>
          <a:prstGeom prst="rect">
            <a:avLst/>
          </a:prstGeom>
          <a:solidFill>
            <a:schemeClr val="bg2"/>
          </a:solidFill>
          <a:ln w="12700">
            <a:solidFill>
              <a:schemeClr val="bg2"/>
            </a:solidFill>
            <a:prstDash val="solid"/>
          </a:ln>
        </p:spPr>
      </p:sp>
      <p:sp>
        <p:nvSpPr>
          <p:cNvPr id="8" name="Text 5"/>
          <p:cNvSpPr txBox="1"/>
          <p:nvPr/>
        </p:nvSpPr>
        <p:spPr>
          <a:xfrm>
            <a:off x="4608576" y="1600200"/>
            <a:ext cx="2971800" cy="822960"/>
          </a:xfrm>
          <a:prstGeom prst="rect">
            <a:avLst/>
          </a:prstGeom>
          <a:noFill/>
          <a:ln/>
        </p:spPr>
        <p:txBody>
          <a:bodyPr wrap="square" lIns="0" tIns="0" rIns="0" bIns="0" rtlCol="0" anchor="ctr"/>
          <a:lstStyle/>
          <a:p>
            <a:pPr algn="l" indent="0" marL="0">
              <a:buNone/>
            </a:pPr>
            <a:r>
              <a:rPr lang="en-US" sz="4400" b="1" dirty="0">
                <a:solidFill>
                  <a:schemeClr val="accent1"/>
                </a:solidFill>
              </a:rPr>
              <a:t>164.396</a:t>
            </a:r>
            <a:endParaRPr lang="en-US" sz="4400" dirty="0"/>
          </a:p>
        </p:txBody>
      </p:sp>
      <p:sp>
        <p:nvSpPr>
          <p:cNvPr id="9" name="Text 6"/>
          <p:cNvSpPr txBox="1"/>
          <p:nvPr/>
        </p:nvSpPr>
        <p:spPr>
          <a:xfrm>
            <a:off x="4608576" y="2468880"/>
            <a:ext cx="2971800" cy="822960"/>
          </a:xfrm>
          <a:prstGeom prst="rect">
            <a:avLst/>
          </a:prstGeom>
          <a:noFill/>
          <a:ln/>
        </p:spPr>
        <p:txBody>
          <a:bodyPr wrap="square" lIns="0" tIns="0" rIns="0" bIns="0" rtlCol="0" anchor="t"/>
          <a:lstStyle/>
          <a:p>
            <a:pPr algn="l" indent="0" marL="0">
              <a:buNone/>
            </a:pPr>
            <a:r>
              <a:rPr lang="en-US" sz="1500" dirty="0">
                <a:solidFill>
                  <a:schemeClr val="tx1"/>
                </a:solidFill>
              </a:rPr>
              <a:t>PDFs gesammelt (154 GB Daten)</a:t>
            </a:r>
            <a:endParaRPr lang="en-US" sz="1500" dirty="0"/>
          </a:p>
        </p:txBody>
      </p:sp>
      <p:sp>
        <p:nvSpPr>
          <p:cNvPr id="10" name="Kennzahl 3"/>
          <p:cNvSpPr/>
          <p:nvPr/>
        </p:nvSpPr>
        <p:spPr>
          <a:xfrm>
            <a:off x="8119872" y="1417320"/>
            <a:ext cx="3520440" cy="1965960"/>
          </a:xfrm>
          <a:prstGeom prst="rect">
            <a:avLst/>
          </a:prstGeom>
          <a:solidFill>
            <a:schemeClr val="bg2"/>
          </a:solidFill>
          <a:ln w="12700">
            <a:solidFill>
              <a:schemeClr val="bg2"/>
            </a:solidFill>
            <a:prstDash val="solid"/>
          </a:ln>
        </p:spPr>
      </p:sp>
      <p:sp>
        <p:nvSpPr>
          <p:cNvPr id="11" name="Text 8"/>
          <p:cNvSpPr txBox="1"/>
          <p:nvPr/>
        </p:nvSpPr>
        <p:spPr>
          <a:xfrm>
            <a:off x="8394192" y="1600200"/>
            <a:ext cx="2971800" cy="822960"/>
          </a:xfrm>
          <a:prstGeom prst="rect">
            <a:avLst/>
          </a:prstGeom>
          <a:noFill/>
          <a:ln/>
        </p:spPr>
        <p:txBody>
          <a:bodyPr wrap="square" lIns="0" tIns="0" rIns="0" bIns="0" rtlCol="0" anchor="ctr"/>
          <a:lstStyle/>
          <a:p>
            <a:pPr algn="l" indent="0" marL="0">
              <a:buNone/>
            </a:pPr>
            <a:r>
              <a:rPr lang="en-US" sz="4400" b="1" dirty="0">
                <a:solidFill>
                  <a:schemeClr val="accent1"/>
                </a:solidFill>
              </a:rPr>
              <a:t>≈ 18.600</a:t>
            </a:r>
            <a:endParaRPr lang="en-US" sz="4400" dirty="0"/>
          </a:p>
        </p:txBody>
      </p:sp>
      <p:sp>
        <p:nvSpPr>
          <p:cNvPr id="12" name="Text 9"/>
          <p:cNvSpPr txBox="1"/>
          <p:nvPr/>
        </p:nvSpPr>
        <p:spPr>
          <a:xfrm>
            <a:off x="8394192" y="2468880"/>
            <a:ext cx="2971800" cy="822960"/>
          </a:xfrm>
          <a:prstGeom prst="rect">
            <a:avLst/>
          </a:prstGeom>
          <a:noFill/>
          <a:ln/>
        </p:spPr>
        <p:txBody>
          <a:bodyPr wrap="square" lIns="0" tIns="0" rIns="0" bIns="0" rtlCol="0" anchor="t"/>
          <a:lstStyle/>
          <a:p>
            <a:pPr algn="l" indent="0" marL="0">
              <a:buNone/>
            </a:pPr>
            <a:r>
              <a:rPr lang="en-US" sz="1500" dirty="0">
                <a:solidFill>
                  <a:schemeClr val="tx1"/>
                </a:solidFill>
              </a:rPr>
              <a:t>Modulhandbücher in der Endliste (19.049 Dokumente gelistet)*</a:t>
            </a:r>
            <a:endParaRPr lang="en-US" sz="1500" dirty="0"/>
          </a:p>
        </p:txBody>
      </p:sp>
      <p:sp>
        <p:nvSpPr>
          <p:cNvPr id="13" name="Kennzahl 4"/>
          <p:cNvSpPr/>
          <p:nvPr/>
        </p:nvSpPr>
        <p:spPr>
          <a:xfrm>
            <a:off x="548640" y="3611880"/>
            <a:ext cx="3520440" cy="1965960"/>
          </a:xfrm>
          <a:prstGeom prst="rect">
            <a:avLst/>
          </a:prstGeom>
          <a:solidFill>
            <a:schemeClr val="bg2"/>
          </a:solidFill>
          <a:ln w="12700">
            <a:solidFill>
              <a:schemeClr val="bg2"/>
            </a:solidFill>
            <a:prstDash val="solid"/>
          </a:ln>
        </p:spPr>
      </p:sp>
      <p:sp>
        <p:nvSpPr>
          <p:cNvPr id="14" name="Text 11"/>
          <p:cNvSpPr txBox="1"/>
          <p:nvPr/>
        </p:nvSpPr>
        <p:spPr>
          <a:xfrm>
            <a:off x="822960" y="3794760"/>
            <a:ext cx="2971800" cy="822960"/>
          </a:xfrm>
          <a:prstGeom prst="rect">
            <a:avLst/>
          </a:prstGeom>
          <a:noFill/>
          <a:ln/>
        </p:spPr>
        <p:txBody>
          <a:bodyPr wrap="square" lIns="0" tIns="0" rIns="0" bIns="0" rtlCol="0" anchor="ctr"/>
          <a:lstStyle/>
          <a:p>
            <a:pPr algn="l" indent="0" marL="0">
              <a:buNone/>
            </a:pPr>
            <a:r>
              <a:rPr lang="en-US" sz="4400" b="1" dirty="0">
                <a:solidFill>
                  <a:schemeClr val="accent1"/>
                </a:solidFill>
              </a:rPr>
              <a:t>63 %</a:t>
            </a:r>
            <a:endParaRPr lang="en-US" sz="4400" dirty="0"/>
          </a:p>
        </p:txBody>
      </p:sp>
      <p:sp>
        <p:nvSpPr>
          <p:cNvPr id="15" name="Text 12"/>
          <p:cNvSpPr txBox="1"/>
          <p:nvPr/>
        </p:nvSpPr>
        <p:spPr>
          <a:xfrm>
            <a:off x="822960" y="4663440"/>
            <a:ext cx="2971800" cy="822960"/>
          </a:xfrm>
          <a:prstGeom prst="rect">
            <a:avLst/>
          </a:prstGeom>
          <a:noFill/>
          <a:ln/>
        </p:spPr>
        <p:txBody>
          <a:bodyPr wrap="square" lIns="0" tIns="0" rIns="0" bIns="0" rtlCol="0" anchor="t"/>
          <a:lstStyle/>
          <a:p>
            <a:pPr algn="l" indent="0" marL="0">
              <a:buNone/>
            </a:pPr>
            <a:r>
              <a:rPr lang="en-US" sz="1500" dirty="0">
                <a:solidFill>
                  <a:schemeClr val="tx1"/>
                </a:solidFill>
              </a:rPr>
              <a:t>der Hochschulen mit mindestens einem bestätigten Modulhandbuch (255 von 404)</a:t>
            </a:r>
            <a:endParaRPr lang="en-US" sz="1500" dirty="0"/>
          </a:p>
        </p:txBody>
      </p:sp>
      <p:sp>
        <p:nvSpPr>
          <p:cNvPr id="16" name="Kennzahl 5"/>
          <p:cNvSpPr/>
          <p:nvPr/>
        </p:nvSpPr>
        <p:spPr>
          <a:xfrm>
            <a:off x="4334256" y="3611880"/>
            <a:ext cx="3520440" cy="1965960"/>
          </a:xfrm>
          <a:prstGeom prst="rect">
            <a:avLst/>
          </a:prstGeom>
          <a:solidFill>
            <a:schemeClr val="bg2"/>
          </a:solidFill>
          <a:ln w="12700">
            <a:solidFill>
              <a:schemeClr val="bg2"/>
            </a:solidFill>
            <a:prstDash val="solid"/>
          </a:ln>
        </p:spPr>
      </p:sp>
      <p:sp>
        <p:nvSpPr>
          <p:cNvPr id="17" name="Text 14"/>
          <p:cNvSpPr txBox="1"/>
          <p:nvPr/>
        </p:nvSpPr>
        <p:spPr>
          <a:xfrm>
            <a:off x="4608576" y="3794760"/>
            <a:ext cx="2971800" cy="822960"/>
          </a:xfrm>
          <a:prstGeom prst="rect">
            <a:avLst/>
          </a:prstGeom>
          <a:noFill/>
          <a:ln/>
        </p:spPr>
        <p:txBody>
          <a:bodyPr wrap="square" lIns="0" tIns="0" rIns="0" bIns="0" rtlCol="0" anchor="ctr"/>
          <a:lstStyle/>
          <a:p>
            <a:pPr algn="l" indent="0" marL="0">
              <a:buNone/>
            </a:pPr>
            <a:r>
              <a:rPr lang="en-US" sz="4400" b="1" dirty="0">
                <a:solidFill>
                  <a:schemeClr val="accent1"/>
                </a:solidFill>
              </a:rPr>
              <a:t>≈ 98 %</a:t>
            </a:r>
            <a:endParaRPr lang="en-US" sz="4400" dirty="0"/>
          </a:p>
        </p:txBody>
      </p:sp>
      <p:sp>
        <p:nvSpPr>
          <p:cNvPr id="18" name="Text 15"/>
          <p:cNvSpPr txBox="1"/>
          <p:nvPr/>
        </p:nvSpPr>
        <p:spPr>
          <a:xfrm>
            <a:off x="4608576" y="4663440"/>
            <a:ext cx="2971800" cy="822960"/>
          </a:xfrm>
          <a:prstGeom prst="rect">
            <a:avLst/>
          </a:prstGeom>
          <a:noFill/>
          <a:ln/>
        </p:spPr>
        <p:txBody>
          <a:bodyPr wrap="square" lIns="0" tIns="0" rIns="0" bIns="0" rtlCol="0" anchor="t"/>
          <a:lstStyle/>
          <a:p>
            <a:pPr algn="l" indent="0" marL="0">
              <a:buNone/>
            </a:pPr>
            <a:r>
              <a:rPr lang="en-US" sz="1500" dirty="0">
                <a:solidFill>
                  <a:schemeClr val="tx1"/>
                </a:solidFill>
              </a:rPr>
              <a:t>geschätzte Precision (Trefferquote) der Endliste*</a:t>
            </a:r>
            <a:endParaRPr lang="en-US" sz="1500" dirty="0"/>
          </a:p>
        </p:txBody>
      </p:sp>
      <p:sp>
        <p:nvSpPr>
          <p:cNvPr id="19" name="Kennzahl 6"/>
          <p:cNvSpPr/>
          <p:nvPr/>
        </p:nvSpPr>
        <p:spPr>
          <a:xfrm>
            <a:off x="8119872" y="3611880"/>
            <a:ext cx="3520440" cy="1965960"/>
          </a:xfrm>
          <a:prstGeom prst="rect">
            <a:avLst/>
          </a:prstGeom>
          <a:solidFill>
            <a:schemeClr val="bg2"/>
          </a:solidFill>
          <a:ln w="12700">
            <a:solidFill>
              <a:schemeClr val="bg2"/>
            </a:solidFill>
            <a:prstDash val="solid"/>
          </a:ln>
        </p:spPr>
      </p:sp>
      <p:sp>
        <p:nvSpPr>
          <p:cNvPr id="20" name="Text 17"/>
          <p:cNvSpPr txBox="1"/>
          <p:nvPr/>
        </p:nvSpPr>
        <p:spPr>
          <a:xfrm>
            <a:off x="8394192" y="3794760"/>
            <a:ext cx="2971800" cy="822960"/>
          </a:xfrm>
          <a:prstGeom prst="rect">
            <a:avLst/>
          </a:prstGeom>
          <a:noFill/>
          <a:ln/>
        </p:spPr>
        <p:txBody>
          <a:bodyPr wrap="square" lIns="0" tIns="0" rIns="0" bIns="0" rtlCol="0" anchor="ctr"/>
          <a:lstStyle/>
          <a:p>
            <a:pPr algn="l" indent="0" marL="0">
              <a:buNone/>
            </a:pPr>
            <a:r>
              <a:rPr lang="en-US" sz="4400" b="1" dirty="0">
                <a:solidFill>
                  <a:schemeClr val="accent1"/>
                </a:solidFill>
              </a:rPr>
              <a:t>155 $</a:t>
            </a:r>
            <a:endParaRPr lang="en-US" sz="4400" dirty="0"/>
          </a:p>
        </p:txBody>
      </p:sp>
      <p:sp>
        <p:nvSpPr>
          <p:cNvPr id="21" name="Text 18"/>
          <p:cNvSpPr txBox="1"/>
          <p:nvPr/>
        </p:nvSpPr>
        <p:spPr>
          <a:xfrm>
            <a:off x="8394192" y="4663440"/>
            <a:ext cx="2971800" cy="822960"/>
          </a:xfrm>
          <a:prstGeom prst="rect">
            <a:avLst/>
          </a:prstGeom>
          <a:noFill/>
          <a:ln/>
        </p:spPr>
        <p:txBody>
          <a:bodyPr wrap="square" lIns="0" tIns="0" rIns="0" bIns="0" rtlCol="0" anchor="t"/>
          <a:lstStyle/>
          <a:p>
            <a:pPr algn="l" indent="0" marL="0">
              <a:buNone/>
            </a:pPr>
            <a:r>
              <a:rPr lang="en-US" sz="1500" dirty="0">
                <a:solidFill>
                  <a:schemeClr val="tx1"/>
                </a:solidFill>
              </a:rPr>
              <a:t>Cloud-Kosten insgesamt – weniger als 1 Cent pro Modulhandbuch</a:t>
            </a:r>
            <a:endParaRPr lang="en-US" sz="1500" dirty="0"/>
          </a:p>
        </p:txBody>
      </p:sp>
      <p:sp>
        <p:nvSpPr>
          <p:cNvPr id="22" name="Text 19"/>
          <p:cNvSpPr txBox="1"/>
          <p:nvPr/>
        </p:nvSpPr>
        <p:spPr>
          <a:xfrm>
            <a:off x="548640" y="5852160"/>
            <a:ext cx="11091672" cy="365760"/>
          </a:xfrm>
          <a:prstGeom prst="rect">
            <a:avLst/>
          </a:prstGeom>
          <a:noFill/>
          <a:ln/>
        </p:spPr>
        <p:txBody>
          <a:bodyPr wrap="square" lIns="0" tIns="0" rIns="0" bIns="0" rtlCol="0" anchor="t"/>
          <a:lstStyle/>
          <a:p>
            <a:pPr algn="l" indent="0" marL="0">
              <a:buNone/>
            </a:pPr>
            <a:r>
              <a:rPr lang="en-US" sz="1200" dirty="0">
                <a:solidFill>
                  <a:schemeClr val="accent4"/>
                </a:solidFill>
              </a:rPr>
              <a:t>* Geschätzt, gemessen am Urteil des Sprachmodells (Stichprobe). Cloud-Kosten Juli bis Oktober 2026 inklusive Entwicklung, Tests und Webapp-Betrieb.</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So funktioniert es: von der Hochschulliste zur geprüften Datei</a:t>
            </a:r>
            <a:endParaRPr lang="en-US" sz="2800" dirty="0"/>
          </a:p>
        </p:txBody>
      </p:sp>
      <p:sp>
        <p:nvSpPr>
          <p:cNvPr id="4" name="Schritt 1"/>
          <p:cNvSpPr/>
          <p:nvPr/>
        </p:nvSpPr>
        <p:spPr>
          <a:xfrm>
            <a:off x="548640" y="1417320"/>
            <a:ext cx="2011680" cy="2743200"/>
          </a:xfrm>
          <a:prstGeom prst="rect">
            <a:avLst/>
          </a:prstGeom>
          <a:solidFill>
            <a:schemeClr val="bg2"/>
          </a:solidFill>
          <a:ln w="12700">
            <a:solidFill>
              <a:schemeClr val="bg2"/>
            </a:solidFill>
            <a:prstDash val="solid"/>
          </a:ln>
        </p:spPr>
      </p:sp>
      <p:sp>
        <p:nvSpPr>
          <p:cNvPr id="5" name="Text 2"/>
          <p:cNvSpPr txBox="1"/>
          <p:nvPr/>
        </p:nvSpPr>
        <p:spPr>
          <a:xfrm>
            <a:off x="731520" y="1600200"/>
            <a:ext cx="1645920" cy="274320"/>
          </a:xfrm>
          <a:prstGeom prst="rect">
            <a:avLst/>
          </a:prstGeom>
          <a:noFill/>
          <a:ln/>
        </p:spPr>
        <p:txBody>
          <a:bodyPr wrap="square" lIns="0" tIns="0" rIns="0" bIns="0" rtlCol="0" anchor="t"/>
          <a:lstStyle/>
          <a:p>
            <a:pPr algn="l" indent="0" marL="0">
              <a:buNone/>
            </a:pPr>
            <a:r>
              <a:rPr lang="en-US" sz="1200" b="1" dirty="0">
                <a:solidFill>
                  <a:schemeClr val="accent1"/>
                </a:solidFill>
              </a:rPr>
              <a:t>SCHRITT 1</a:t>
            </a:r>
            <a:endParaRPr lang="en-US" sz="1200" dirty="0"/>
          </a:p>
        </p:txBody>
      </p:sp>
      <p:sp>
        <p:nvSpPr>
          <p:cNvPr id="6" name="Text 3"/>
          <p:cNvSpPr txBox="1"/>
          <p:nvPr/>
        </p:nvSpPr>
        <p:spPr>
          <a:xfrm>
            <a:off x="731520" y="1920240"/>
            <a:ext cx="1645920" cy="411480"/>
          </a:xfrm>
          <a:prstGeom prst="rect">
            <a:avLst/>
          </a:prstGeom>
          <a:noFill/>
          <a:ln/>
        </p:spPr>
        <p:txBody>
          <a:bodyPr wrap="square" lIns="0" tIns="0" rIns="0" bIns="0" rtlCol="0" anchor="t"/>
          <a:lstStyle/>
          <a:p>
            <a:pPr algn="l" indent="0" marL="0">
              <a:buNone/>
            </a:pPr>
            <a:r>
              <a:rPr lang="en-US" sz="1800" b="1" dirty="0">
                <a:solidFill>
                  <a:schemeClr val="tx2"/>
                </a:solidFill>
              </a:rPr>
              <a:t>Hochschulliste</a:t>
            </a:r>
            <a:endParaRPr lang="en-US" sz="1800" dirty="0"/>
          </a:p>
        </p:txBody>
      </p:sp>
      <p:sp>
        <p:nvSpPr>
          <p:cNvPr id="7" name="Text 4"/>
          <p:cNvSpPr txBox="1"/>
          <p:nvPr/>
        </p:nvSpPr>
        <p:spPr>
          <a:xfrm>
            <a:off x="731520" y="2423160"/>
            <a:ext cx="1645920" cy="1645920"/>
          </a:xfrm>
          <a:prstGeom prst="rect">
            <a:avLst/>
          </a:prstGeom>
          <a:noFill/>
          <a:ln/>
        </p:spPr>
        <p:txBody>
          <a:bodyPr wrap="square" lIns="0" tIns="0" rIns="0" bIns="0" rtlCol="0" anchor="t"/>
          <a:lstStyle/>
          <a:p>
            <a:pPr algn="l" indent="0" marL="0">
              <a:buNone/>
            </a:pPr>
            <a:r>
              <a:rPr lang="en-US" sz="1400" dirty="0">
                <a:solidFill>
                  <a:schemeClr val="tx1"/>
                </a:solidFill>
              </a:rPr>
              <a:t>Eine CSV mit den Webseiten der Hochschulen genügt.</a:t>
            </a:r>
            <a:endParaRPr lang="en-US" sz="1400" dirty="0"/>
          </a:p>
        </p:txBody>
      </p:sp>
      <p:sp>
        <p:nvSpPr>
          <p:cNvPr id="8" name="Text 5"/>
          <p:cNvSpPr txBox="1"/>
          <p:nvPr/>
        </p:nvSpPr>
        <p:spPr>
          <a:xfrm>
            <a:off x="548640" y="4343400"/>
            <a:ext cx="2011680" cy="502920"/>
          </a:xfrm>
          <a:prstGeom prst="rect">
            <a:avLst/>
          </a:prstGeom>
          <a:noFill/>
          <a:ln/>
        </p:spPr>
        <p:txBody>
          <a:bodyPr wrap="square" lIns="0" tIns="0" rIns="0" bIns="0" rtlCol="0" anchor="t"/>
          <a:lstStyle/>
          <a:p>
            <a:pPr algn="ctr" indent="0" marL="0">
              <a:buNone/>
            </a:pPr>
            <a:r>
              <a:rPr lang="en-US" sz="2800" b="1" dirty="0">
                <a:solidFill>
                  <a:schemeClr val="accent1"/>
                </a:solidFill>
              </a:rPr>
              <a:t>404</a:t>
            </a:r>
            <a:endParaRPr lang="en-US" sz="2800" dirty="0"/>
          </a:p>
        </p:txBody>
      </p:sp>
      <p:sp>
        <p:nvSpPr>
          <p:cNvPr id="9" name="Text 6"/>
          <p:cNvSpPr txBox="1"/>
          <p:nvPr/>
        </p:nvSpPr>
        <p:spPr>
          <a:xfrm>
            <a:off x="548640" y="4846320"/>
            <a:ext cx="2011680" cy="274320"/>
          </a:xfrm>
          <a:prstGeom prst="rect">
            <a:avLst/>
          </a:prstGeom>
          <a:noFill/>
          <a:ln/>
        </p:spPr>
        <p:txBody>
          <a:bodyPr wrap="square" lIns="0" tIns="0" rIns="0" bIns="0" rtlCol="0" anchor="t"/>
          <a:lstStyle/>
          <a:p>
            <a:pPr algn="ctr" indent="0" marL="0">
              <a:buNone/>
            </a:pPr>
            <a:r>
              <a:rPr lang="en-US" sz="1300" dirty="0">
                <a:solidFill>
                  <a:schemeClr val="accent4"/>
                </a:solidFill>
              </a:rPr>
              <a:t>Hochschulen</a:t>
            </a:r>
            <a:endParaRPr lang="en-US" sz="1300" dirty="0"/>
          </a:p>
        </p:txBody>
      </p:sp>
      <p:sp>
        <p:nvSpPr>
          <p:cNvPr id="10" name="Pfeil"/>
          <p:cNvSpPr/>
          <p:nvPr/>
        </p:nvSpPr>
        <p:spPr>
          <a:xfrm>
            <a:off x="2578608" y="2514600"/>
            <a:ext cx="219456" cy="365760"/>
          </a:xfrm>
          <a:prstGeom prst="rightArrow">
            <a:avLst/>
          </a:prstGeom>
          <a:solidFill>
            <a:schemeClr val="accent4"/>
          </a:solidFill>
          <a:ln w="12700">
            <a:solidFill>
              <a:schemeClr val="accent4"/>
            </a:solidFill>
            <a:prstDash val="solid"/>
          </a:ln>
        </p:spPr>
      </p:sp>
      <p:sp>
        <p:nvSpPr>
          <p:cNvPr id="11" name="Schritt 2"/>
          <p:cNvSpPr/>
          <p:nvPr/>
        </p:nvSpPr>
        <p:spPr>
          <a:xfrm>
            <a:off x="2816352" y="1417320"/>
            <a:ext cx="2011680" cy="2743200"/>
          </a:xfrm>
          <a:prstGeom prst="rect">
            <a:avLst/>
          </a:prstGeom>
          <a:solidFill>
            <a:schemeClr val="bg2"/>
          </a:solidFill>
          <a:ln w="12700">
            <a:solidFill>
              <a:schemeClr val="bg2"/>
            </a:solidFill>
            <a:prstDash val="solid"/>
          </a:ln>
        </p:spPr>
      </p:sp>
      <p:sp>
        <p:nvSpPr>
          <p:cNvPr id="12" name="Text 9"/>
          <p:cNvSpPr txBox="1"/>
          <p:nvPr/>
        </p:nvSpPr>
        <p:spPr>
          <a:xfrm>
            <a:off x="2999232" y="1600200"/>
            <a:ext cx="1645920" cy="274320"/>
          </a:xfrm>
          <a:prstGeom prst="rect">
            <a:avLst/>
          </a:prstGeom>
          <a:noFill/>
          <a:ln/>
        </p:spPr>
        <p:txBody>
          <a:bodyPr wrap="square" lIns="0" tIns="0" rIns="0" bIns="0" rtlCol="0" anchor="t"/>
          <a:lstStyle/>
          <a:p>
            <a:pPr algn="l" indent="0" marL="0">
              <a:buNone/>
            </a:pPr>
            <a:r>
              <a:rPr lang="en-US" sz="1200" b="1" dirty="0">
                <a:solidFill>
                  <a:schemeClr val="accent1"/>
                </a:solidFill>
              </a:rPr>
              <a:t>SCHRITT 2</a:t>
            </a:r>
            <a:endParaRPr lang="en-US" sz="1200" dirty="0"/>
          </a:p>
        </p:txBody>
      </p:sp>
      <p:sp>
        <p:nvSpPr>
          <p:cNvPr id="13" name="Text 10"/>
          <p:cNvSpPr txBox="1"/>
          <p:nvPr/>
        </p:nvSpPr>
        <p:spPr>
          <a:xfrm>
            <a:off x="2999232" y="1920240"/>
            <a:ext cx="1645920" cy="411480"/>
          </a:xfrm>
          <a:prstGeom prst="rect">
            <a:avLst/>
          </a:prstGeom>
          <a:noFill/>
          <a:ln/>
        </p:spPr>
        <p:txBody>
          <a:bodyPr wrap="square" lIns="0" tIns="0" rIns="0" bIns="0" rtlCol="0" anchor="t"/>
          <a:lstStyle/>
          <a:p>
            <a:pPr algn="l" indent="0" marL="0">
              <a:buNone/>
            </a:pPr>
            <a:r>
              <a:rPr lang="en-US" sz="1800" b="1" dirty="0">
                <a:solidFill>
                  <a:schemeClr val="tx2"/>
                </a:solidFill>
              </a:rPr>
              <a:t>Crawler</a:t>
            </a:r>
            <a:endParaRPr lang="en-US" sz="1800" dirty="0"/>
          </a:p>
        </p:txBody>
      </p:sp>
      <p:sp>
        <p:nvSpPr>
          <p:cNvPr id="14" name="Text 11"/>
          <p:cNvSpPr txBox="1"/>
          <p:nvPr/>
        </p:nvSpPr>
        <p:spPr>
          <a:xfrm>
            <a:off x="2999232" y="2423160"/>
            <a:ext cx="1645920" cy="1645920"/>
          </a:xfrm>
          <a:prstGeom prst="rect">
            <a:avLst/>
          </a:prstGeom>
          <a:noFill/>
          <a:ln/>
        </p:spPr>
        <p:txBody>
          <a:bodyPr wrap="square" lIns="0" tIns="0" rIns="0" bIns="0" rtlCol="0" anchor="t"/>
          <a:lstStyle/>
          <a:p>
            <a:pPr algn="l" indent="0" marL="0">
              <a:buNone/>
            </a:pPr>
            <a:r>
              <a:rPr lang="en-US" sz="1400" dirty="0">
                <a:solidFill>
                  <a:schemeClr val="tx1"/>
                </a:solidFill>
              </a:rPr>
              <a:t>Programm, das Webseiten wie ein Besucher durchläuft, Links folgt und PDFs lädt.</a:t>
            </a:r>
            <a:endParaRPr lang="en-US" sz="1400" dirty="0"/>
          </a:p>
        </p:txBody>
      </p:sp>
      <p:sp>
        <p:nvSpPr>
          <p:cNvPr id="15" name="Text 12"/>
          <p:cNvSpPr txBox="1"/>
          <p:nvPr/>
        </p:nvSpPr>
        <p:spPr>
          <a:xfrm>
            <a:off x="2816352" y="4343400"/>
            <a:ext cx="2011680" cy="502920"/>
          </a:xfrm>
          <a:prstGeom prst="rect">
            <a:avLst/>
          </a:prstGeom>
          <a:noFill/>
          <a:ln/>
        </p:spPr>
        <p:txBody>
          <a:bodyPr wrap="square" lIns="0" tIns="0" rIns="0" bIns="0" rtlCol="0" anchor="t"/>
          <a:lstStyle/>
          <a:p>
            <a:pPr algn="ctr" indent="0" marL="0">
              <a:buNone/>
            </a:pPr>
            <a:r>
              <a:rPr lang="en-US" sz="2800" b="1" dirty="0">
                <a:solidFill>
                  <a:schemeClr val="accent1"/>
                </a:solidFill>
              </a:rPr>
              <a:t>164.396</a:t>
            </a:r>
            <a:endParaRPr lang="en-US" sz="2800" dirty="0"/>
          </a:p>
        </p:txBody>
      </p:sp>
      <p:sp>
        <p:nvSpPr>
          <p:cNvPr id="16" name="Text 13"/>
          <p:cNvSpPr txBox="1"/>
          <p:nvPr/>
        </p:nvSpPr>
        <p:spPr>
          <a:xfrm>
            <a:off x="2816352" y="4846320"/>
            <a:ext cx="2011680" cy="274320"/>
          </a:xfrm>
          <a:prstGeom prst="rect">
            <a:avLst/>
          </a:prstGeom>
          <a:noFill/>
          <a:ln/>
        </p:spPr>
        <p:txBody>
          <a:bodyPr wrap="square" lIns="0" tIns="0" rIns="0" bIns="0" rtlCol="0" anchor="t"/>
          <a:lstStyle/>
          <a:p>
            <a:pPr algn="ctr" indent="0" marL="0">
              <a:buNone/>
            </a:pPr>
            <a:r>
              <a:rPr lang="en-US" sz="1300" dirty="0">
                <a:solidFill>
                  <a:schemeClr val="accent4"/>
                </a:solidFill>
              </a:rPr>
              <a:t>PDFs geladen</a:t>
            </a:r>
            <a:endParaRPr lang="en-US" sz="1300" dirty="0"/>
          </a:p>
        </p:txBody>
      </p:sp>
      <p:sp>
        <p:nvSpPr>
          <p:cNvPr id="17" name="Pfeil"/>
          <p:cNvSpPr/>
          <p:nvPr/>
        </p:nvSpPr>
        <p:spPr>
          <a:xfrm>
            <a:off x="4846320" y="2514600"/>
            <a:ext cx="219456" cy="365760"/>
          </a:xfrm>
          <a:prstGeom prst="rightArrow">
            <a:avLst/>
          </a:prstGeom>
          <a:solidFill>
            <a:schemeClr val="accent4"/>
          </a:solidFill>
          <a:ln w="12700">
            <a:solidFill>
              <a:schemeClr val="accent4"/>
            </a:solidFill>
            <a:prstDash val="solid"/>
          </a:ln>
        </p:spPr>
      </p:sp>
      <p:sp>
        <p:nvSpPr>
          <p:cNvPr id="18" name="Schritt 3"/>
          <p:cNvSpPr/>
          <p:nvPr/>
        </p:nvSpPr>
        <p:spPr>
          <a:xfrm>
            <a:off x="5084064" y="1417320"/>
            <a:ext cx="2011680" cy="2743200"/>
          </a:xfrm>
          <a:prstGeom prst="rect">
            <a:avLst/>
          </a:prstGeom>
          <a:solidFill>
            <a:schemeClr val="bg2"/>
          </a:solidFill>
          <a:ln w="12700">
            <a:solidFill>
              <a:schemeClr val="bg2"/>
            </a:solidFill>
            <a:prstDash val="solid"/>
          </a:ln>
        </p:spPr>
      </p:sp>
      <p:sp>
        <p:nvSpPr>
          <p:cNvPr id="19" name="Text 16"/>
          <p:cNvSpPr txBox="1"/>
          <p:nvPr/>
        </p:nvSpPr>
        <p:spPr>
          <a:xfrm>
            <a:off x="5266944" y="1600200"/>
            <a:ext cx="1645920" cy="274320"/>
          </a:xfrm>
          <a:prstGeom prst="rect">
            <a:avLst/>
          </a:prstGeom>
          <a:noFill/>
          <a:ln/>
        </p:spPr>
        <p:txBody>
          <a:bodyPr wrap="square" lIns="0" tIns="0" rIns="0" bIns="0" rtlCol="0" anchor="t"/>
          <a:lstStyle/>
          <a:p>
            <a:pPr algn="l" indent="0" marL="0">
              <a:buNone/>
            </a:pPr>
            <a:r>
              <a:rPr lang="en-US" sz="1200" b="1" dirty="0">
                <a:solidFill>
                  <a:schemeClr val="accent1"/>
                </a:solidFill>
              </a:rPr>
              <a:t>SCHRITT 3</a:t>
            </a:r>
            <a:endParaRPr lang="en-US" sz="1200" dirty="0"/>
          </a:p>
        </p:txBody>
      </p:sp>
      <p:sp>
        <p:nvSpPr>
          <p:cNvPr id="20" name="Text 17"/>
          <p:cNvSpPr txBox="1"/>
          <p:nvPr/>
        </p:nvSpPr>
        <p:spPr>
          <a:xfrm>
            <a:off x="5266944" y="1920240"/>
            <a:ext cx="1645920" cy="411480"/>
          </a:xfrm>
          <a:prstGeom prst="rect">
            <a:avLst/>
          </a:prstGeom>
          <a:noFill/>
          <a:ln/>
        </p:spPr>
        <p:txBody>
          <a:bodyPr wrap="square" lIns="0" tIns="0" rIns="0" bIns="0" rtlCol="0" anchor="t"/>
          <a:lstStyle/>
          <a:p>
            <a:pPr algn="l" indent="0" marL="0">
              <a:buNone/>
            </a:pPr>
            <a:r>
              <a:rPr lang="en-US" sz="1800" b="1" dirty="0">
                <a:solidFill>
                  <a:schemeClr val="tx2"/>
                </a:solidFill>
              </a:rPr>
              <a:t>ML-Modell</a:t>
            </a:r>
            <a:endParaRPr lang="en-US" sz="1800" dirty="0"/>
          </a:p>
        </p:txBody>
      </p:sp>
      <p:sp>
        <p:nvSpPr>
          <p:cNvPr id="21" name="Text 18"/>
          <p:cNvSpPr txBox="1"/>
          <p:nvPr/>
        </p:nvSpPr>
        <p:spPr>
          <a:xfrm>
            <a:off x="5266944" y="2423160"/>
            <a:ext cx="1645920" cy="1645920"/>
          </a:xfrm>
          <a:prstGeom prst="rect">
            <a:avLst/>
          </a:prstGeom>
          <a:noFill/>
          <a:ln/>
        </p:spPr>
        <p:txBody>
          <a:bodyPr wrap="square" lIns="0" tIns="0" rIns="0" bIns="0" rtlCol="0" anchor="t"/>
          <a:lstStyle/>
          <a:p>
            <a:pPr algn="l" indent="0" marL="0">
              <a:buNone/>
            </a:pPr>
            <a:r>
              <a:rPr lang="en-US" sz="1400" dirty="0">
                <a:solidFill>
                  <a:schemeClr val="tx1"/>
                </a:solidFill>
              </a:rPr>
              <a:t>Schnelle Vorsortierung: Wie ähnlich ist der Text einem Modulhandbuch? (Score 0–1)</a:t>
            </a:r>
            <a:endParaRPr lang="en-US" sz="1400" dirty="0"/>
          </a:p>
        </p:txBody>
      </p:sp>
      <p:sp>
        <p:nvSpPr>
          <p:cNvPr id="22" name="Text 19"/>
          <p:cNvSpPr txBox="1"/>
          <p:nvPr/>
        </p:nvSpPr>
        <p:spPr>
          <a:xfrm>
            <a:off x="5084064" y="4343400"/>
            <a:ext cx="2011680" cy="502920"/>
          </a:xfrm>
          <a:prstGeom prst="rect">
            <a:avLst/>
          </a:prstGeom>
          <a:noFill/>
          <a:ln/>
        </p:spPr>
        <p:txBody>
          <a:bodyPr wrap="square" lIns="0" tIns="0" rIns="0" bIns="0" rtlCol="0" anchor="t"/>
          <a:lstStyle/>
          <a:p>
            <a:pPr algn="ctr" indent="0" marL="0">
              <a:buNone/>
            </a:pPr>
            <a:r>
              <a:rPr lang="en-US" sz="2800" b="1" dirty="0">
                <a:solidFill>
                  <a:schemeClr val="accent1"/>
                </a:solidFill>
              </a:rPr>
              <a:t>44.437</a:t>
            </a:r>
            <a:endParaRPr lang="en-US" sz="2800" dirty="0"/>
          </a:p>
        </p:txBody>
      </p:sp>
      <p:sp>
        <p:nvSpPr>
          <p:cNvPr id="23" name="Text 20"/>
          <p:cNvSpPr txBox="1"/>
          <p:nvPr/>
        </p:nvSpPr>
        <p:spPr>
          <a:xfrm>
            <a:off x="5084064" y="4846320"/>
            <a:ext cx="2011680" cy="274320"/>
          </a:xfrm>
          <a:prstGeom prst="rect">
            <a:avLst/>
          </a:prstGeom>
          <a:noFill/>
          <a:ln/>
        </p:spPr>
        <p:txBody>
          <a:bodyPr wrap="square" lIns="0" tIns="0" rIns="0" bIns="0" rtlCol="0" anchor="t"/>
          <a:lstStyle/>
          <a:p>
            <a:pPr algn="ctr" indent="0" marL="0">
              <a:buNone/>
            </a:pPr>
            <a:r>
              <a:rPr lang="en-US" sz="1300" dirty="0">
                <a:solidFill>
                  <a:schemeClr val="accent4"/>
                </a:solidFill>
              </a:rPr>
              <a:t>Kandidaten</a:t>
            </a:r>
            <a:endParaRPr lang="en-US" sz="1300" dirty="0"/>
          </a:p>
        </p:txBody>
      </p:sp>
      <p:sp>
        <p:nvSpPr>
          <p:cNvPr id="24" name="Pfeil"/>
          <p:cNvSpPr/>
          <p:nvPr/>
        </p:nvSpPr>
        <p:spPr>
          <a:xfrm>
            <a:off x="7114032" y="2514600"/>
            <a:ext cx="219456" cy="365760"/>
          </a:xfrm>
          <a:prstGeom prst="rightArrow">
            <a:avLst/>
          </a:prstGeom>
          <a:solidFill>
            <a:schemeClr val="accent4"/>
          </a:solidFill>
          <a:ln w="12700">
            <a:solidFill>
              <a:schemeClr val="accent4"/>
            </a:solidFill>
            <a:prstDash val="solid"/>
          </a:ln>
        </p:spPr>
      </p:sp>
      <p:sp>
        <p:nvSpPr>
          <p:cNvPr id="25" name="Schritt 4"/>
          <p:cNvSpPr/>
          <p:nvPr/>
        </p:nvSpPr>
        <p:spPr>
          <a:xfrm>
            <a:off x="7351776" y="1417320"/>
            <a:ext cx="2011680" cy="2743200"/>
          </a:xfrm>
          <a:prstGeom prst="rect">
            <a:avLst/>
          </a:prstGeom>
          <a:solidFill>
            <a:schemeClr val="accent5"/>
          </a:solidFill>
          <a:ln w="12700">
            <a:solidFill>
              <a:schemeClr val="accent5"/>
            </a:solidFill>
            <a:prstDash val="solid"/>
          </a:ln>
        </p:spPr>
      </p:sp>
      <p:sp>
        <p:nvSpPr>
          <p:cNvPr id="26" name="Text 23"/>
          <p:cNvSpPr txBox="1"/>
          <p:nvPr/>
        </p:nvSpPr>
        <p:spPr>
          <a:xfrm>
            <a:off x="7534656" y="1600200"/>
            <a:ext cx="1645920" cy="274320"/>
          </a:xfrm>
          <a:prstGeom prst="rect">
            <a:avLst/>
          </a:prstGeom>
          <a:noFill/>
          <a:ln/>
        </p:spPr>
        <p:txBody>
          <a:bodyPr wrap="square" lIns="0" tIns="0" rIns="0" bIns="0" rtlCol="0" anchor="t"/>
          <a:lstStyle/>
          <a:p>
            <a:pPr algn="l" indent="0" marL="0">
              <a:buNone/>
            </a:pPr>
            <a:r>
              <a:rPr lang="en-US" sz="1200" b="1" dirty="0">
                <a:solidFill>
                  <a:schemeClr val="accent1"/>
                </a:solidFill>
              </a:rPr>
              <a:t>SCHRITT 4</a:t>
            </a:r>
            <a:endParaRPr lang="en-US" sz="1200" dirty="0"/>
          </a:p>
        </p:txBody>
      </p:sp>
      <p:sp>
        <p:nvSpPr>
          <p:cNvPr id="27" name="Text 24"/>
          <p:cNvSpPr txBox="1"/>
          <p:nvPr/>
        </p:nvSpPr>
        <p:spPr>
          <a:xfrm>
            <a:off x="7534656" y="1920240"/>
            <a:ext cx="1645920" cy="411480"/>
          </a:xfrm>
          <a:prstGeom prst="rect">
            <a:avLst/>
          </a:prstGeom>
          <a:noFill/>
          <a:ln/>
        </p:spPr>
        <p:txBody>
          <a:bodyPr wrap="square" lIns="0" tIns="0" rIns="0" bIns="0" rtlCol="0" anchor="t"/>
          <a:lstStyle/>
          <a:p>
            <a:pPr algn="l" indent="0" marL="0">
              <a:buNone/>
            </a:pPr>
            <a:r>
              <a:rPr lang="en-US" sz="1800" b="1" dirty="0">
                <a:solidFill>
                  <a:schemeClr val="tx2"/>
                </a:solidFill>
              </a:rPr>
              <a:t>KI-Sprachmodell</a:t>
            </a:r>
            <a:endParaRPr lang="en-US" sz="1800" dirty="0"/>
          </a:p>
        </p:txBody>
      </p:sp>
      <p:sp>
        <p:nvSpPr>
          <p:cNvPr id="28" name="Text 25"/>
          <p:cNvSpPr txBox="1"/>
          <p:nvPr/>
        </p:nvSpPr>
        <p:spPr>
          <a:xfrm>
            <a:off x="7534656" y="2423160"/>
            <a:ext cx="1645920" cy="1645920"/>
          </a:xfrm>
          <a:prstGeom prst="rect">
            <a:avLst/>
          </a:prstGeom>
          <a:noFill/>
          <a:ln/>
        </p:spPr>
        <p:txBody>
          <a:bodyPr wrap="square" lIns="0" tIns="0" rIns="0" bIns="0" rtlCol="0" anchor="t"/>
          <a:lstStyle/>
          <a:p>
            <a:pPr algn="l" indent="0" marL="0">
              <a:buNone/>
            </a:pPr>
            <a:r>
              <a:rPr lang="en-US" sz="1400" dirty="0">
                <a:solidFill>
                  <a:schemeClr val="tx1"/>
                </a:solidFill>
              </a:rPr>
              <a:t>Prüft nur die unsichere Grauzone und begründet jedes Urteil.</a:t>
            </a:r>
            <a:endParaRPr lang="en-US" sz="1400" dirty="0"/>
          </a:p>
        </p:txBody>
      </p:sp>
      <p:sp>
        <p:nvSpPr>
          <p:cNvPr id="29" name="Text 26"/>
          <p:cNvSpPr txBox="1"/>
          <p:nvPr/>
        </p:nvSpPr>
        <p:spPr>
          <a:xfrm>
            <a:off x="7351776" y="4343400"/>
            <a:ext cx="2011680" cy="502920"/>
          </a:xfrm>
          <a:prstGeom prst="rect">
            <a:avLst/>
          </a:prstGeom>
          <a:noFill/>
          <a:ln/>
        </p:spPr>
        <p:txBody>
          <a:bodyPr wrap="square" lIns="0" tIns="0" rIns="0" bIns="0" rtlCol="0" anchor="t"/>
          <a:lstStyle/>
          <a:p>
            <a:pPr algn="ctr" indent="0" marL="0">
              <a:buNone/>
            </a:pPr>
            <a:r>
              <a:rPr lang="en-US" sz="2800" b="1" dirty="0">
                <a:solidFill>
                  <a:schemeClr val="accent1"/>
                </a:solidFill>
              </a:rPr>
              <a:t>34.141</a:t>
            </a:r>
            <a:endParaRPr lang="en-US" sz="2800" dirty="0"/>
          </a:p>
        </p:txBody>
      </p:sp>
      <p:sp>
        <p:nvSpPr>
          <p:cNvPr id="30" name="Text 27"/>
          <p:cNvSpPr txBox="1"/>
          <p:nvPr/>
        </p:nvSpPr>
        <p:spPr>
          <a:xfrm>
            <a:off x="7351776" y="4846320"/>
            <a:ext cx="2011680" cy="274320"/>
          </a:xfrm>
          <a:prstGeom prst="rect">
            <a:avLst/>
          </a:prstGeom>
          <a:noFill/>
          <a:ln/>
        </p:spPr>
        <p:txBody>
          <a:bodyPr wrap="square" lIns="0" tIns="0" rIns="0" bIns="0" rtlCol="0" anchor="t"/>
          <a:lstStyle/>
          <a:p>
            <a:pPr algn="ctr" indent="0" marL="0">
              <a:buNone/>
            </a:pPr>
            <a:r>
              <a:rPr lang="en-US" sz="1300" dirty="0">
                <a:solidFill>
                  <a:schemeClr val="accent4"/>
                </a:solidFill>
              </a:rPr>
              <a:t>geprüfte Dokumente</a:t>
            </a:r>
            <a:endParaRPr lang="en-US" sz="1300" dirty="0"/>
          </a:p>
        </p:txBody>
      </p:sp>
      <p:sp>
        <p:nvSpPr>
          <p:cNvPr id="31" name="Pfeil"/>
          <p:cNvSpPr/>
          <p:nvPr/>
        </p:nvSpPr>
        <p:spPr>
          <a:xfrm>
            <a:off x="9381744" y="2514600"/>
            <a:ext cx="219456" cy="365760"/>
          </a:xfrm>
          <a:prstGeom prst="rightArrow">
            <a:avLst/>
          </a:prstGeom>
          <a:solidFill>
            <a:schemeClr val="accent4"/>
          </a:solidFill>
          <a:ln w="12700">
            <a:solidFill>
              <a:schemeClr val="accent4"/>
            </a:solidFill>
            <a:prstDash val="solid"/>
          </a:ln>
        </p:spPr>
      </p:sp>
      <p:sp>
        <p:nvSpPr>
          <p:cNvPr id="32" name="Schritt 5"/>
          <p:cNvSpPr/>
          <p:nvPr/>
        </p:nvSpPr>
        <p:spPr>
          <a:xfrm>
            <a:off x="9619488" y="1417320"/>
            <a:ext cx="2011680" cy="2743200"/>
          </a:xfrm>
          <a:prstGeom prst="rect">
            <a:avLst/>
          </a:prstGeom>
          <a:solidFill>
            <a:schemeClr val="bg2"/>
          </a:solidFill>
          <a:ln w="12700">
            <a:solidFill>
              <a:schemeClr val="bg2"/>
            </a:solidFill>
            <a:prstDash val="solid"/>
          </a:ln>
        </p:spPr>
      </p:sp>
      <p:sp>
        <p:nvSpPr>
          <p:cNvPr id="33" name="Text 30"/>
          <p:cNvSpPr txBox="1"/>
          <p:nvPr/>
        </p:nvSpPr>
        <p:spPr>
          <a:xfrm>
            <a:off x="9802368" y="1600200"/>
            <a:ext cx="1645920" cy="274320"/>
          </a:xfrm>
          <a:prstGeom prst="rect">
            <a:avLst/>
          </a:prstGeom>
          <a:noFill/>
          <a:ln/>
        </p:spPr>
        <p:txBody>
          <a:bodyPr wrap="square" lIns="0" tIns="0" rIns="0" bIns="0" rtlCol="0" anchor="t"/>
          <a:lstStyle/>
          <a:p>
            <a:pPr algn="l" indent="0" marL="0">
              <a:buNone/>
            </a:pPr>
            <a:r>
              <a:rPr lang="en-US" sz="1200" b="1" dirty="0">
                <a:solidFill>
                  <a:schemeClr val="accent1"/>
                </a:solidFill>
              </a:rPr>
              <a:t>SCHRITT 5</a:t>
            </a:r>
            <a:endParaRPr lang="en-US" sz="1200" dirty="0"/>
          </a:p>
        </p:txBody>
      </p:sp>
      <p:sp>
        <p:nvSpPr>
          <p:cNvPr id="34" name="Text 31"/>
          <p:cNvSpPr txBox="1"/>
          <p:nvPr/>
        </p:nvSpPr>
        <p:spPr>
          <a:xfrm>
            <a:off x="9802368" y="1920240"/>
            <a:ext cx="1645920" cy="411480"/>
          </a:xfrm>
          <a:prstGeom prst="rect">
            <a:avLst/>
          </a:prstGeom>
          <a:noFill/>
          <a:ln/>
        </p:spPr>
        <p:txBody>
          <a:bodyPr wrap="square" lIns="0" tIns="0" rIns="0" bIns="0" rtlCol="0" anchor="t"/>
          <a:lstStyle/>
          <a:p>
            <a:pPr algn="l" indent="0" marL="0">
              <a:buNone/>
            </a:pPr>
            <a:r>
              <a:rPr lang="en-US" sz="1800" b="1" dirty="0">
                <a:solidFill>
                  <a:schemeClr val="tx2"/>
                </a:solidFill>
              </a:rPr>
              <a:t>Ergebnis</a:t>
            </a:r>
            <a:endParaRPr lang="en-US" sz="1800" dirty="0"/>
          </a:p>
        </p:txBody>
      </p:sp>
      <p:sp>
        <p:nvSpPr>
          <p:cNvPr id="35" name="Text 32"/>
          <p:cNvSpPr txBox="1"/>
          <p:nvPr/>
        </p:nvSpPr>
        <p:spPr>
          <a:xfrm>
            <a:off x="9802368" y="2423160"/>
            <a:ext cx="1645920" cy="1645920"/>
          </a:xfrm>
          <a:prstGeom prst="rect">
            <a:avLst/>
          </a:prstGeom>
          <a:noFill/>
          <a:ln/>
        </p:spPr>
        <p:txBody>
          <a:bodyPr wrap="square" lIns="0" tIns="0" rIns="0" bIns="0" rtlCol="0" anchor="t"/>
          <a:lstStyle/>
          <a:p>
            <a:pPr algn="l" indent="0" marL="0">
              <a:buNone/>
            </a:pPr>
            <a:r>
              <a:rPr lang="en-US" sz="1400" dirty="0">
                <a:solidFill>
                  <a:schemeClr val="tx1"/>
                </a:solidFill>
              </a:rPr>
              <a:t>Dateien mit Score, Quelle und Begründung – ein Mensch kann nachprüfen.</a:t>
            </a:r>
            <a:endParaRPr lang="en-US" sz="1400" dirty="0"/>
          </a:p>
        </p:txBody>
      </p:sp>
      <p:sp>
        <p:nvSpPr>
          <p:cNvPr id="36" name="Text 33"/>
          <p:cNvSpPr txBox="1"/>
          <p:nvPr/>
        </p:nvSpPr>
        <p:spPr>
          <a:xfrm>
            <a:off x="9619488" y="4343400"/>
            <a:ext cx="2011680" cy="502920"/>
          </a:xfrm>
          <a:prstGeom prst="rect">
            <a:avLst/>
          </a:prstGeom>
          <a:noFill/>
          <a:ln/>
        </p:spPr>
        <p:txBody>
          <a:bodyPr wrap="square" lIns="0" tIns="0" rIns="0" bIns="0" rtlCol="0" anchor="t"/>
          <a:lstStyle/>
          <a:p>
            <a:pPr algn="ctr" indent="0" marL="0">
              <a:buNone/>
            </a:pPr>
            <a:r>
              <a:rPr lang="en-US" sz="2800" b="1" dirty="0">
                <a:solidFill>
                  <a:schemeClr val="accent1"/>
                </a:solidFill>
              </a:rPr>
              <a:t>19.049</a:t>
            </a:r>
            <a:endParaRPr lang="en-US" sz="2800" dirty="0"/>
          </a:p>
        </p:txBody>
      </p:sp>
      <p:sp>
        <p:nvSpPr>
          <p:cNvPr id="37" name="Text 34"/>
          <p:cNvSpPr txBox="1"/>
          <p:nvPr/>
        </p:nvSpPr>
        <p:spPr>
          <a:xfrm>
            <a:off x="9619488" y="4846320"/>
            <a:ext cx="2011680" cy="274320"/>
          </a:xfrm>
          <a:prstGeom prst="rect">
            <a:avLst/>
          </a:prstGeom>
          <a:noFill/>
          <a:ln/>
        </p:spPr>
        <p:txBody>
          <a:bodyPr wrap="square" lIns="0" tIns="0" rIns="0" bIns="0" rtlCol="0" anchor="t"/>
          <a:lstStyle/>
          <a:p>
            <a:pPr algn="ctr" indent="0" marL="0">
              <a:buNone/>
            </a:pPr>
            <a:r>
              <a:rPr lang="en-US" sz="1300" dirty="0">
                <a:solidFill>
                  <a:schemeClr val="accent4"/>
                </a:solidFill>
              </a:rPr>
              <a:t>in der Endliste</a:t>
            </a:r>
            <a:endParaRPr lang="en-US" sz="1300" dirty="0"/>
          </a:p>
        </p:txBody>
      </p:sp>
      <p:sp>
        <p:nvSpPr>
          <p:cNvPr id="38" name="Text 35"/>
          <p:cNvSpPr txBox="1"/>
          <p:nvPr/>
        </p:nvSpPr>
        <p:spPr>
          <a:xfrm>
            <a:off x="548640" y="5486400"/>
            <a:ext cx="11091672" cy="640080"/>
          </a:xfrm>
          <a:prstGeom prst="rect">
            <a:avLst/>
          </a:prstGeom>
          <a:noFill/>
          <a:ln/>
        </p:spPr>
        <p:txBody>
          <a:bodyPr wrap="square" lIns="0" tIns="0" rIns="0" bIns="0" rtlCol="0" anchor="t"/>
          <a:lstStyle/>
          <a:p>
            <a:pPr algn="l" indent="0" marL="0">
              <a:buNone/>
            </a:pPr>
            <a:r>
              <a:rPr lang="en-US" sz="1800" b="1" dirty="0">
                <a:solidFill>
                  <a:schemeClr val="tx2"/>
                </a:solidFill>
              </a:rPr>
              <a:t>Sammeln ist einfach, Aussortieren ist schwer: Zwei Stufen teilen sich die Arbeit – schnell und günstig für die Masse, gründlich für die Grauzone.</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Die Architektur in einem Bild</a:t>
            </a:r>
            <a:endParaRPr lang="en-US" sz="2800" dirty="0"/>
          </a:p>
        </p:txBody>
      </p:sp>
      <p:sp>
        <p:nvSpPr>
          <p:cNvPr id="4" name="Text 1"/>
          <p:cNvSpPr txBox="1"/>
          <p:nvPr/>
        </p:nvSpPr>
        <p:spPr>
          <a:xfrm>
            <a:off x="548640" y="1325880"/>
            <a:ext cx="11091672" cy="502920"/>
          </a:xfrm>
          <a:prstGeom prst="rect">
            <a:avLst/>
          </a:prstGeom>
          <a:noFill/>
          <a:ln/>
        </p:spPr>
        <p:txBody>
          <a:bodyPr wrap="square" lIns="0" tIns="0" rIns="0" bIns="0" rtlCol="0" anchor="t"/>
          <a:lstStyle/>
          <a:p>
            <a:pPr algn="l" indent="0" marL="0">
              <a:buNone/>
            </a:pPr>
            <a:r>
              <a:rPr lang="en-US" sz="1500" b="1" dirty="0">
                <a:solidFill>
                  <a:schemeClr val="accent4"/>
                </a:solidFill>
              </a:rPr>
              <a:t>AWS (Amazon Web Services) </a:t>
            </a:r>
            <a:pPr algn="l" indent="0" marL="0">
              <a:buNone/>
            </a:pPr>
            <a:r>
              <a:rPr lang="en-US" sz="1500" dirty="0">
                <a:solidFill>
                  <a:schemeClr val="accent4"/>
                </a:solidFill>
              </a:rPr>
              <a:t>= Cloud-Plattform: Rechenleistung und Speicher werden bei Bedarf gemietet, statt eigene Server zu betreiben.</a:t>
            </a:r>
            <a:endParaRPr lang="en-US" sz="1500" dirty="0"/>
          </a:p>
        </p:txBody>
      </p:sp>
      <p:sp>
        <p:nvSpPr>
          <p:cNvPr id="5" name="Nutzer im Browser"/>
          <p:cNvSpPr/>
          <p:nvPr/>
        </p:nvSpPr>
        <p:spPr>
          <a:xfrm>
            <a:off x="548640" y="2011680"/>
            <a:ext cx="2377440" cy="1828800"/>
          </a:xfrm>
          <a:prstGeom prst="rect">
            <a:avLst/>
          </a:prstGeom>
          <a:solidFill>
            <a:schemeClr val="bg2"/>
          </a:solidFill>
          <a:ln w="12700">
            <a:solidFill>
              <a:schemeClr val="bg2"/>
            </a:solidFill>
            <a:prstDash val="solid"/>
          </a:ln>
        </p:spPr>
      </p:sp>
      <p:sp>
        <p:nvSpPr>
          <p:cNvPr id="6" name="Text 3"/>
          <p:cNvSpPr txBox="1"/>
          <p:nvPr/>
        </p:nvSpPr>
        <p:spPr>
          <a:xfrm>
            <a:off x="731520" y="2176272"/>
            <a:ext cx="2011680" cy="365760"/>
          </a:xfrm>
          <a:prstGeom prst="rect">
            <a:avLst/>
          </a:prstGeom>
          <a:noFill/>
          <a:ln/>
        </p:spPr>
        <p:txBody>
          <a:bodyPr wrap="square" lIns="0" tIns="0" rIns="0" bIns="0" rtlCol="0" anchor="t"/>
          <a:lstStyle/>
          <a:p>
            <a:pPr algn="l" indent="0" marL="0">
              <a:buNone/>
            </a:pPr>
            <a:r>
              <a:rPr lang="en-US" sz="1700" b="1" dirty="0">
                <a:solidFill>
                  <a:schemeClr val="tx2"/>
                </a:solidFill>
              </a:rPr>
              <a:t>Nutzer im Browser</a:t>
            </a:r>
            <a:endParaRPr lang="en-US" sz="1700" dirty="0"/>
          </a:p>
        </p:txBody>
      </p:sp>
      <p:sp>
        <p:nvSpPr>
          <p:cNvPr id="7" name="Text 4"/>
          <p:cNvSpPr txBox="1"/>
          <p:nvPr/>
        </p:nvSpPr>
        <p:spPr>
          <a:xfrm>
            <a:off x="731520" y="2606040"/>
            <a:ext cx="2011680" cy="1143000"/>
          </a:xfrm>
          <a:prstGeom prst="rect">
            <a:avLst/>
          </a:prstGeom>
          <a:noFill/>
          <a:ln/>
        </p:spPr>
        <p:txBody>
          <a:bodyPr wrap="square" lIns="0" tIns="0" rIns="0" bIns="0" rtlCol="0" anchor="t"/>
          <a:lstStyle/>
          <a:p>
            <a:pPr algn="l" indent="0" marL="0">
              <a:buNone/>
            </a:pPr>
            <a:r>
              <a:rPr lang="en-US" sz="1400" dirty="0">
                <a:solidFill>
                  <a:schemeClr val="tx1"/>
                </a:solidFill>
              </a:rPr>
              <a:t>Hochschulliste hochladen, Ergebnisse ansehen und prüfen</a:t>
            </a:r>
            <a:endParaRPr lang="en-US" sz="1400" dirty="0"/>
          </a:p>
        </p:txBody>
      </p:sp>
      <p:sp>
        <p:nvSpPr>
          <p:cNvPr id="8" name="Webapp"/>
          <p:cNvSpPr/>
          <p:nvPr/>
        </p:nvSpPr>
        <p:spPr>
          <a:xfrm>
            <a:off x="3447288" y="2011680"/>
            <a:ext cx="2377440" cy="1828800"/>
          </a:xfrm>
          <a:prstGeom prst="rect">
            <a:avLst/>
          </a:prstGeom>
          <a:solidFill>
            <a:schemeClr val="accent1"/>
          </a:solidFill>
          <a:ln w="12700">
            <a:solidFill>
              <a:schemeClr val="accent1"/>
            </a:solidFill>
            <a:prstDash val="solid"/>
          </a:ln>
        </p:spPr>
      </p:sp>
      <p:sp>
        <p:nvSpPr>
          <p:cNvPr id="9" name="Text 6"/>
          <p:cNvSpPr txBox="1"/>
          <p:nvPr/>
        </p:nvSpPr>
        <p:spPr>
          <a:xfrm>
            <a:off x="3630168" y="2176272"/>
            <a:ext cx="2011680" cy="365760"/>
          </a:xfrm>
          <a:prstGeom prst="rect">
            <a:avLst/>
          </a:prstGeom>
          <a:noFill/>
          <a:ln/>
        </p:spPr>
        <p:txBody>
          <a:bodyPr wrap="square" lIns="0" tIns="0" rIns="0" bIns="0" rtlCol="0" anchor="t"/>
          <a:lstStyle/>
          <a:p>
            <a:pPr algn="l" indent="0" marL="0">
              <a:buNone/>
            </a:pPr>
            <a:r>
              <a:rPr lang="en-US" sz="1700" b="1" dirty="0">
                <a:solidFill>
                  <a:schemeClr val="bg1"/>
                </a:solidFill>
              </a:rPr>
              <a:t>Webapp</a:t>
            </a:r>
            <a:endParaRPr lang="en-US" sz="1700" dirty="0"/>
          </a:p>
        </p:txBody>
      </p:sp>
      <p:sp>
        <p:nvSpPr>
          <p:cNvPr id="10" name="Text 7"/>
          <p:cNvSpPr txBox="1"/>
          <p:nvPr/>
        </p:nvSpPr>
        <p:spPr>
          <a:xfrm>
            <a:off x="3630168" y="2606040"/>
            <a:ext cx="2011680" cy="1143000"/>
          </a:xfrm>
          <a:prstGeom prst="rect">
            <a:avLst/>
          </a:prstGeom>
          <a:noFill/>
          <a:ln/>
        </p:spPr>
        <p:txBody>
          <a:bodyPr wrap="square" lIns="0" tIns="0" rIns="0" bIns="0" rtlCol="0" anchor="t"/>
          <a:lstStyle/>
          <a:p>
            <a:pPr algn="l" indent="0" marL="0">
              <a:buNone/>
            </a:pPr>
            <a:r>
              <a:rPr lang="en-US" sz="1400" dirty="0">
                <a:solidFill>
                  <a:schemeClr val="bg1"/>
                </a:solidFill>
              </a:rPr>
              <a:t>Frontend (Oberfläche) und Backend (Steuerung, Login, Aufträge)</a:t>
            </a:r>
            <a:endParaRPr lang="en-US" sz="1400" dirty="0"/>
          </a:p>
        </p:txBody>
      </p:sp>
      <p:sp>
        <p:nvSpPr>
          <p:cNvPr id="11" name="Crawl-Jobs"/>
          <p:cNvSpPr/>
          <p:nvPr/>
        </p:nvSpPr>
        <p:spPr>
          <a:xfrm>
            <a:off x="6345936" y="2011680"/>
            <a:ext cx="2377440" cy="1828800"/>
          </a:xfrm>
          <a:prstGeom prst="rect">
            <a:avLst/>
          </a:prstGeom>
          <a:solidFill>
            <a:schemeClr val="bg2"/>
          </a:solidFill>
          <a:ln w="12700">
            <a:solidFill>
              <a:schemeClr val="bg2"/>
            </a:solidFill>
            <a:prstDash val="solid"/>
          </a:ln>
        </p:spPr>
      </p:sp>
      <p:sp>
        <p:nvSpPr>
          <p:cNvPr id="12" name="Text 9"/>
          <p:cNvSpPr txBox="1"/>
          <p:nvPr/>
        </p:nvSpPr>
        <p:spPr>
          <a:xfrm>
            <a:off x="6528816" y="2176272"/>
            <a:ext cx="2011680" cy="365760"/>
          </a:xfrm>
          <a:prstGeom prst="rect">
            <a:avLst/>
          </a:prstGeom>
          <a:noFill/>
          <a:ln/>
        </p:spPr>
        <p:txBody>
          <a:bodyPr wrap="square" lIns="0" tIns="0" rIns="0" bIns="0" rtlCol="0" anchor="t"/>
          <a:lstStyle/>
          <a:p>
            <a:pPr algn="l" indent="0" marL="0">
              <a:buNone/>
            </a:pPr>
            <a:r>
              <a:rPr lang="en-US" sz="1700" b="1" dirty="0">
                <a:solidFill>
                  <a:schemeClr val="tx2"/>
                </a:solidFill>
              </a:rPr>
              <a:t>Crawl-Jobs</a:t>
            </a:r>
            <a:endParaRPr lang="en-US" sz="1700" dirty="0"/>
          </a:p>
        </p:txBody>
      </p:sp>
      <p:sp>
        <p:nvSpPr>
          <p:cNvPr id="13" name="Text 10"/>
          <p:cNvSpPr txBox="1"/>
          <p:nvPr/>
        </p:nvSpPr>
        <p:spPr>
          <a:xfrm>
            <a:off x="6528816" y="2606040"/>
            <a:ext cx="2011680" cy="1143000"/>
          </a:xfrm>
          <a:prstGeom prst="rect">
            <a:avLst/>
          </a:prstGeom>
          <a:noFill/>
          <a:ln/>
        </p:spPr>
        <p:txBody>
          <a:bodyPr wrap="square" lIns="0" tIns="0" rIns="0" bIns="0" rtlCol="0" anchor="t"/>
          <a:lstStyle/>
          <a:p>
            <a:pPr algn="l" indent="0" marL="0">
              <a:buNone/>
            </a:pPr>
            <a:r>
              <a:rPr lang="en-US" sz="1400" dirty="0">
                <a:solidFill>
                  <a:schemeClr val="tx1"/>
                </a:solidFill>
              </a:rPr>
              <a:t>AWS Fargate / Lambda: Rechenleistung nur bei Bedarf, viele Hochschulen parallel</a:t>
            </a:r>
            <a:endParaRPr lang="en-US" sz="1400" dirty="0"/>
          </a:p>
        </p:txBody>
      </p:sp>
      <p:sp>
        <p:nvSpPr>
          <p:cNvPr id="14" name="KI-Prüfung"/>
          <p:cNvSpPr/>
          <p:nvPr/>
        </p:nvSpPr>
        <p:spPr>
          <a:xfrm>
            <a:off x="6345936" y="4160520"/>
            <a:ext cx="2377440" cy="1600200"/>
          </a:xfrm>
          <a:prstGeom prst="rect">
            <a:avLst/>
          </a:prstGeom>
          <a:solidFill>
            <a:schemeClr val="bg2"/>
          </a:solidFill>
          <a:ln w="12700">
            <a:solidFill>
              <a:schemeClr val="bg2"/>
            </a:solidFill>
            <a:prstDash val="solid"/>
          </a:ln>
        </p:spPr>
      </p:sp>
      <p:sp>
        <p:nvSpPr>
          <p:cNvPr id="15" name="Text 12"/>
          <p:cNvSpPr txBox="1"/>
          <p:nvPr/>
        </p:nvSpPr>
        <p:spPr>
          <a:xfrm>
            <a:off x="6528816" y="4325112"/>
            <a:ext cx="2011680" cy="365760"/>
          </a:xfrm>
          <a:prstGeom prst="rect">
            <a:avLst/>
          </a:prstGeom>
          <a:noFill/>
          <a:ln/>
        </p:spPr>
        <p:txBody>
          <a:bodyPr wrap="square" lIns="0" tIns="0" rIns="0" bIns="0" rtlCol="0" anchor="t"/>
          <a:lstStyle/>
          <a:p>
            <a:pPr algn="l" indent="0" marL="0">
              <a:buNone/>
            </a:pPr>
            <a:r>
              <a:rPr lang="en-US" sz="1700" b="1" dirty="0">
                <a:solidFill>
                  <a:schemeClr val="tx2"/>
                </a:solidFill>
              </a:rPr>
              <a:t>KI-Prüfung</a:t>
            </a:r>
            <a:endParaRPr lang="en-US" sz="1700" dirty="0"/>
          </a:p>
        </p:txBody>
      </p:sp>
      <p:sp>
        <p:nvSpPr>
          <p:cNvPr id="16" name="Text 13"/>
          <p:cNvSpPr txBox="1"/>
          <p:nvPr/>
        </p:nvSpPr>
        <p:spPr>
          <a:xfrm>
            <a:off x="6528816" y="4754880"/>
            <a:ext cx="2011680" cy="914400"/>
          </a:xfrm>
          <a:prstGeom prst="rect">
            <a:avLst/>
          </a:prstGeom>
          <a:noFill/>
          <a:ln/>
        </p:spPr>
        <p:txBody>
          <a:bodyPr wrap="square" lIns="0" tIns="0" rIns="0" bIns="0" rtlCol="0" anchor="t"/>
          <a:lstStyle/>
          <a:p>
            <a:pPr algn="l" indent="0" marL="0">
              <a:buNone/>
            </a:pPr>
            <a:r>
              <a:rPr lang="en-US" sz="1400" dirty="0">
                <a:solidFill>
                  <a:schemeClr val="tx1"/>
                </a:solidFill>
              </a:rPr>
              <a:t>AWS Bedrock: Sprachmodell als Cloud-Dienst</a:t>
            </a:r>
            <a:endParaRPr lang="en-US" sz="1400" dirty="0"/>
          </a:p>
        </p:txBody>
      </p:sp>
      <p:sp>
        <p:nvSpPr>
          <p:cNvPr id="17" name="Speicher"/>
          <p:cNvSpPr/>
          <p:nvPr/>
        </p:nvSpPr>
        <p:spPr>
          <a:xfrm>
            <a:off x="9244584" y="2011680"/>
            <a:ext cx="2377440" cy="3749040"/>
          </a:xfrm>
          <a:prstGeom prst="rect">
            <a:avLst/>
          </a:prstGeom>
          <a:solidFill>
            <a:schemeClr val="accent5"/>
          </a:solidFill>
          <a:ln w="12700">
            <a:solidFill>
              <a:schemeClr val="accent5"/>
            </a:solidFill>
            <a:prstDash val="solid"/>
          </a:ln>
        </p:spPr>
      </p:sp>
      <p:sp>
        <p:nvSpPr>
          <p:cNvPr id="18" name="Text 15"/>
          <p:cNvSpPr txBox="1"/>
          <p:nvPr/>
        </p:nvSpPr>
        <p:spPr>
          <a:xfrm>
            <a:off x="9427464" y="2148840"/>
            <a:ext cx="2011680" cy="365760"/>
          </a:xfrm>
          <a:prstGeom prst="rect">
            <a:avLst/>
          </a:prstGeom>
          <a:noFill/>
          <a:ln/>
        </p:spPr>
        <p:txBody>
          <a:bodyPr wrap="square" lIns="0" tIns="0" rIns="0" bIns="0" rtlCol="0" anchor="t"/>
          <a:lstStyle/>
          <a:p>
            <a:pPr algn="l" indent="0" marL="0">
              <a:buNone/>
            </a:pPr>
            <a:r>
              <a:rPr lang="en-US" sz="1700" b="1" dirty="0">
                <a:solidFill>
                  <a:schemeClr val="tx2"/>
                </a:solidFill>
              </a:rPr>
              <a:t>Speicher</a:t>
            </a:r>
            <a:endParaRPr lang="en-US" sz="1700" dirty="0"/>
          </a:p>
        </p:txBody>
      </p:sp>
      <p:sp>
        <p:nvSpPr>
          <p:cNvPr id="19" name="S3"/>
          <p:cNvSpPr/>
          <p:nvPr/>
        </p:nvSpPr>
        <p:spPr>
          <a:xfrm>
            <a:off x="9427464" y="2606040"/>
            <a:ext cx="2011680" cy="1417320"/>
          </a:xfrm>
          <a:prstGeom prst="rect">
            <a:avLst/>
          </a:prstGeom>
          <a:solidFill>
            <a:schemeClr val="bg1"/>
          </a:solidFill>
          <a:ln w="12700">
            <a:solidFill>
              <a:schemeClr val="bg1"/>
            </a:solidFill>
            <a:prstDash val="solid"/>
          </a:ln>
        </p:spPr>
      </p:sp>
      <p:sp>
        <p:nvSpPr>
          <p:cNvPr id="20" name="Text 17"/>
          <p:cNvSpPr txBox="1"/>
          <p:nvPr/>
        </p:nvSpPr>
        <p:spPr>
          <a:xfrm>
            <a:off x="9564624" y="2724912"/>
            <a:ext cx="1737360" cy="1234440"/>
          </a:xfrm>
          <a:prstGeom prst="rect">
            <a:avLst/>
          </a:prstGeom>
          <a:noFill/>
          <a:ln/>
        </p:spPr>
        <p:txBody>
          <a:bodyPr wrap="square" lIns="0" tIns="0" rIns="0" bIns="0" rtlCol="0" anchor="t"/>
          <a:lstStyle/>
          <a:p>
            <a:pPr algn="l" indent="0" marL="0">
              <a:buNone/>
            </a:pPr>
            <a:r>
              <a:rPr lang="en-US" sz="1600" b="1" dirty="0">
                <a:solidFill>
                  <a:schemeClr val="tx1"/>
                </a:solidFill>
              </a:rPr>
              <a:t>S3</a:t>
            </a:r>
            <a:endParaRPr lang="en-US" sz="1400" dirty="0"/>
          </a:p>
          <a:p>
            <a:pPr algn="l" indent="0" marL="0">
              <a:buNone/>
            </a:pPr>
            <a:r>
              <a:rPr lang="en-US" sz="1400" dirty="0">
                <a:solidFill>
                  <a:schemeClr val="tx1"/>
                </a:solidFill>
              </a:rPr>
              <a:t>Dateispeicher für PDFs und Ergebnisse (154 GB)</a:t>
            </a:r>
            <a:endParaRPr lang="en-US" sz="1400" dirty="0"/>
          </a:p>
        </p:txBody>
      </p:sp>
      <p:sp>
        <p:nvSpPr>
          <p:cNvPr id="21" name="DynamoDB"/>
          <p:cNvSpPr/>
          <p:nvPr/>
        </p:nvSpPr>
        <p:spPr>
          <a:xfrm>
            <a:off x="9427464" y="4206240"/>
            <a:ext cx="2011680" cy="1371600"/>
          </a:xfrm>
          <a:prstGeom prst="rect">
            <a:avLst/>
          </a:prstGeom>
          <a:solidFill>
            <a:schemeClr val="bg1"/>
          </a:solidFill>
          <a:ln w="12700">
            <a:solidFill>
              <a:schemeClr val="bg1"/>
            </a:solidFill>
            <a:prstDash val="solid"/>
          </a:ln>
        </p:spPr>
      </p:sp>
      <p:sp>
        <p:nvSpPr>
          <p:cNvPr id="22" name="Text 19"/>
          <p:cNvSpPr txBox="1"/>
          <p:nvPr/>
        </p:nvSpPr>
        <p:spPr>
          <a:xfrm>
            <a:off x="9564624" y="4325112"/>
            <a:ext cx="1737360" cy="1188720"/>
          </a:xfrm>
          <a:prstGeom prst="rect">
            <a:avLst/>
          </a:prstGeom>
          <a:noFill/>
          <a:ln/>
        </p:spPr>
        <p:txBody>
          <a:bodyPr wrap="square" lIns="0" tIns="0" rIns="0" bIns="0" rtlCol="0" anchor="t"/>
          <a:lstStyle/>
          <a:p>
            <a:pPr algn="l" indent="0" marL="0">
              <a:buNone/>
            </a:pPr>
            <a:r>
              <a:rPr lang="en-US" sz="1600" b="1" dirty="0">
                <a:solidFill>
                  <a:schemeClr val="tx1"/>
                </a:solidFill>
              </a:rPr>
              <a:t>DynamoDB</a:t>
            </a:r>
            <a:endParaRPr lang="en-US" sz="1400" dirty="0"/>
          </a:p>
          <a:p>
            <a:pPr algn="l" indent="0" marL="0">
              <a:buNone/>
            </a:pPr>
            <a:r>
              <a:rPr lang="en-US" sz="1400" dirty="0">
                <a:solidFill>
                  <a:schemeClr val="tx1"/>
                </a:solidFill>
              </a:rPr>
              <a:t>Merkzettel: Welche Seiten waren schon dran?</a:t>
            </a:r>
            <a:endParaRPr lang="en-US" sz="1400" dirty="0"/>
          </a:p>
        </p:txBody>
      </p:sp>
      <p:sp>
        <p:nvSpPr>
          <p:cNvPr id="23" name="Pfeil"/>
          <p:cNvSpPr/>
          <p:nvPr/>
        </p:nvSpPr>
        <p:spPr>
          <a:xfrm>
            <a:off x="2971800" y="2926080"/>
            <a:ext cx="429768" cy="0"/>
          </a:xfrm>
          <a:prstGeom prst="line">
            <a:avLst/>
          </a:prstGeom>
          <a:noFill/>
          <a:ln w="31750">
            <a:solidFill>
              <a:schemeClr val="accent4"/>
            </a:solidFill>
            <a:prstDash val="solid"/>
            <a:tailEnd type="triangle"/>
          </a:ln>
        </p:spPr>
      </p:sp>
      <p:sp>
        <p:nvSpPr>
          <p:cNvPr id="24" name="Pfeil"/>
          <p:cNvSpPr/>
          <p:nvPr/>
        </p:nvSpPr>
        <p:spPr>
          <a:xfrm>
            <a:off x="5870448" y="2926080"/>
            <a:ext cx="429768" cy="0"/>
          </a:xfrm>
          <a:prstGeom prst="line">
            <a:avLst/>
          </a:prstGeom>
          <a:noFill/>
          <a:ln w="31750">
            <a:solidFill>
              <a:schemeClr val="accent4"/>
            </a:solidFill>
            <a:prstDash val="solid"/>
            <a:tailEnd type="triangle"/>
          </a:ln>
        </p:spPr>
      </p:sp>
      <p:sp>
        <p:nvSpPr>
          <p:cNvPr id="25" name="Pfeil"/>
          <p:cNvSpPr/>
          <p:nvPr/>
        </p:nvSpPr>
        <p:spPr>
          <a:xfrm>
            <a:off x="8769096" y="2926080"/>
            <a:ext cx="429768" cy="0"/>
          </a:xfrm>
          <a:prstGeom prst="line">
            <a:avLst/>
          </a:prstGeom>
          <a:noFill/>
          <a:ln w="31750">
            <a:solidFill>
              <a:schemeClr val="accent4"/>
            </a:solidFill>
            <a:prstDash val="solid"/>
            <a:tailEnd type="triangle"/>
          </a:ln>
        </p:spPr>
      </p:sp>
      <p:sp>
        <p:nvSpPr>
          <p:cNvPr id="26" name="Pfeil"/>
          <p:cNvSpPr/>
          <p:nvPr/>
        </p:nvSpPr>
        <p:spPr>
          <a:xfrm>
            <a:off x="8769096" y="4937760"/>
            <a:ext cx="429768" cy="0"/>
          </a:xfrm>
          <a:prstGeom prst="line">
            <a:avLst/>
          </a:prstGeom>
          <a:noFill/>
          <a:ln w="31750">
            <a:solidFill>
              <a:schemeClr val="accent4"/>
            </a:solidFill>
            <a:prstDash val="solid"/>
            <a:tailEnd type="triangle"/>
          </a:ln>
        </p:spPr>
      </p:sp>
      <p:sp>
        <p:nvSpPr>
          <p:cNvPr id="27" name="Ablauf"/>
          <p:cNvSpPr/>
          <p:nvPr/>
        </p:nvSpPr>
        <p:spPr>
          <a:xfrm>
            <a:off x="548640" y="4160520"/>
            <a:ext cx="5303520" cy="1600200"/>
          </a:xfrm>
          <a:prstGeom prst="rect">
            <a:avLst/>
          </a:prstGeom>
          <a:solidFill>
            <a:schemeClr val="bg2"/>
          </a:solidFill>
          <a:ln w="12700">
            <a:solidFill>
              <a:schemeClr val="bg2"/>
            </a:solidFill>
            <a:prstDash val="solid"/>
          </a:ln>
        </p:spPr>
      </p:sp>
      <p:sp>
        <p:nvSpPr>
          <p:cNvPr id="28" name="Text 25"/>
          <p:cNvSpPr txBox="1"/>
          <p:nvPr/>
        </p:nvSpPr>
        <p:spPr>
          <a:xfrm>
            <a:off x="731520" y="4297680"/>
            <a:ext cx="4937760" cy="1371600"/>
          </a:xfrm>
          <a:prstGeom prst="rect">
            <a:avLst/>
          </a:prstGeom>
          <a:noFill/>
          <a:ln/>
        </p:spPr>
        <p:txBody>
          <a:bodyPr wrap="square" lIns="0" tIns="0" rIns="0" bIns="0" rtlCol="0" anchor="t"/>
          <a:lstStyle/>
          <a:p>
            <a:pPr algn="l" indent="0" marL="0">
              <a:spcAft>
                <a:spcPts val="200"/>
              </a:spcAft>
              <a:buNone/>
            </a:pPr>
            <a:r>
              <a:rPr lang="en-US" sz="1600" b="1" dirty="0">
                <a:solidFill>
                  <a:schemeClr val="tx2"/>
                </a:solidFill>
              </a:rPr>
              <a:t>So läuft ein Auftrag</a:t>
            </a:r>
            <a:endParaRPr lang="en-US" sz="1400" dirty="0"/>
          </a:p>
          <a:p>
            <a:pPr algn="l" indent="0" marL="0">
              <a:spcAft>
                <a:spcPts val="200"/>
              </a:spcAft>
              <a:buNone/>
            </a:pPr>
            <a:r>
              <a:rPr lang="en-US" sz="1400" dirty="0">
                <a:solidFill>
                  <a:schemeClr val="tx1"/>
                </a:solidFill>
              </a:rPr>
              <a:t>1  Liste hochladen, Auftrag starten</a:t>
            </a:r>
            <a:endParaRPr lang="en-US" sz="1400" dirty="0"/>
          </a:p>
          <a:p>
            <a:pPr algn="l" indent="0" marL="0">
              <a:spcAft>
                <a:spcPts val="200"/>
              </a:spcAft>
              <a:buNone/>
            </a:pPr>
            <a:r>
              <a:rPr lang="en-US" sz="1400" dirty="0">
                <a:solidFill>
                  <a:schemeClr val="tx1"/>
                </a:solidFill>
              </a:rPr>
              <a:t>2  Webapp startet die Crawl-Jobs</a:t>
            </a:r>
            <a:endParaRPr lang="en-US" sz="1400" dirty="0"/>
          </a:p>
          <a:p>
            <a:pPr algn="l" indent="0" marL="0">
              <a:spcAft>
                <a:spcPts val="200"/>
              </a:spcAft>
              <a:buNone/>
            </a:pPr>
            <a:r>
              <a:rPr lang="en-US" sz="1400" dirty="0">
                <a:solidFill>
                  <a:schemeClr val="tx1"/>
                </a:solidFill>
              </a:rPr>
              <a:t>3  Jobs legen PDFs im Speicher ab</a:t>
            </a:r>
            <a:endParaRPr lang="en-US" sz="1400" dirty="0"/>
          </a:p>
          <a:p>
            <a:pPr algn="l" indent="0" marL="0">
              <a:spcAft>
                <a:spcPts val="200"/>
              </a:spcAft>
              <a:buNone/>
            </a:pPr>
            <a:r>
              <a:rPr lang="en-US" sz="1400" dirty="0">
                <a:solidFill>
                  <a:schemeClr val="tx1"/>
                </a:solidFill>
              </a:rPr>
              <a:t>4  Sprachmodell prüft die Grauzone</a:t>
            </a:r>
            <a:endParaRPr lang="en-US" sz="1400" dirty="0"/>
          </a:p>
          <a:p>
            <a:pPr algn="l" indent="0" marL="0">
              <a:spcAft>
                <a:spcPts val="200"/>
              </a:spcAft>
              <a:buNone/>
            </a:pPr>
            <a:r>
              <a:rPr lang="en-US" sz="1400" dirty="0">
                <a:solidFill>
                  <a:schemeClr val="tx1"/>
                </a:solidFill>
              </a:rPr>
              <a:t>5  Ergebnisse erscheinen in der Webapp</a:t>
            </a:r>
            <a:endParaRPr lang="en-US" sz="1400" dirty="0"/>
          </a:p>
        </p:txBody>
      </p:sp>
      <p:sp>
        <p:nvSpPr>
          <p:cNvPr id="29" name="Text 26"/>
          <p:cNvSpPr txBox="1"/>
          <p:nvPr/>
        </p:nvSpPr>
        <p:spPr>
          <a:xfrm>
            <a:off x="548640" y="5989320"/>
            <a:ext cx="10424160" cy="365760"/>
          </a:xfrm>
          <a:prstGeom prst="rect">
            <a:avLst/>
          </a:prstGeom>
          <a:noFill/>
          <a:ln/>
        </p:spPr>
        <p:txBody>
          <a:bodyPr wrap="square" lIns="0" tIns="0" rIns="0" bIns="0" rtlCol="0" anchor="t"/>
          <a:lstStyle/>
          <a:p>
            <a:pPr algn="l" indent="0" marL="0">
              <a:buNone/>
            </a:pPr>
            <a:r>
              <a:rPr lang="en-US" sz="1500" b="1" dirty="0">
                <a:solidFill>
                  <a:schemeClr val="tx2"/>
                </a:solidFill>
              </a:rPr>
              <a:t>Steuerung und Last sind getrennt: Die kleine Webapp läuft immer, die schwere Arbeit nur bei Bedarf.</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Was bereits gebaut ist: der Funktionsumfang</a:t>
            </a:r>
            <a:endParaRPr lang="en-US" sz="2800" dirty="0"/>
          </a:p>
        </p:txBody>
      </p:sp>
      <p:sp>
        <p:nvSpPr>
          <p:cNvPr id="4" name="Kopf Erheben"/>
          <p:cNvSpPr/>
          <p:nvPr/>
        </p:nvSpPr>
        <p:spPr>
          <a:xfrm>
            <a:off x="548640" y="1417320"/>
            <a:ext cx="3566160" cy="548640"/>
          </a:xfrm>
          <a:prstGeom prst="rect">
            <a:avLst/>
          </a:prstGeom>
          <a:solidFill>
            <a:schemeClr val="accent1"/>
          </a:solidFill>
          <a:ln w="12700">
            <a:solidFill>
              <a:schemeClr val="accent1"/>
            </a:solidFill>
            <a:prstDash val="solid"/>
          </a:ln>
        </p:spPr>
      </p:sp>
      <p:sp>
        <p:nvSpPr>
          <p:cNvPr id="5" name="Text 2"/>
          <p:cNvSpPr txBox="1"/>
          <p:nvPr/>
        </p:nvSpPr>
        <p:spPr>
          <a:xfrm>
            <a:off x="777240" y="1417320"/>
            <a:ext cx="3108960" cy="548640"/>
          </a:xfrm>
          <a:prstGeom prst="rect">
            <a:avLst/>
          </a:prstGeom>
          <a:noFill/>
          <a:ln/>
        </p:spPr>
        <p:txBody>
          <a:bodyPr wrap="square" lIns="0" tIns="0" rIns="0" bIns="0" rtlCol="0" anchor="ctr"/>
          <a:lstStyle/>
          <a:p>
            <a:pPr algn="l" indent="0" marL="0">
              <a:buNone/>
            </a:pPr>
            <a:r>
              <a:rPr lang="en-US" sz="2000" b="1" dirty="0">
                <a:solidFill>
                  <a:schemeClr val="bg1"/>
                </a:solidFill>
              </a:rPr>
              <a:t>Erheben</a:t>
            </a:r>
            <a:endParaRPr lang="en-US" sz="2000" dirty="0"/>
          </a:p>
        </p:txBody>
      </p:sp>
      <p:sp>
        <p:nvSpPr>
          <p:cNvPr id="6" name="Liste Erheben"/>
          <p:cNvSpPr/>
          <p:nvPr/>
        </p:nvSpPr>
        <p:spPr>
          <a:xfrm>
            <a:off x="548640" y="1965960"/>
            <a:ext cx="3566160" cy="3749040"/>
          </a:xfrm>
          <a:prstGeom prst="rect">
            <a:avLst/>
          </a:prstGeom>
          <a:solidFill>
            <a:schemeClr val="bg2"/>
          </a:solidFill>
          <a:ln w="12700">
            <a:solidFill>
              <a:schemeClr val="bg2"/>
            </a:solidFill>
            <a:prstDash val="solid"/>
          </a:ln>
        </p:spPr>
      </p:sp>
      <p:sp>
        <p:nvSpPr>
          <p:cNvPr id="7" name="Text 4"/>
          <p:cNvSpPr txBox="1"/>
          <p:nvPr/>
        </p:nvSpPr>
        <p:spPr>
          <a:xfrm>
            <a:off x="777240" y="2148840"/>
            <a:ext cx="3108960" cy="347472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chemeClr val="tx1"/>
                </a:solidFill>
              </a:rPr>
              <a:t>Massenimport per CSV (404 Hochschulen)</a:t>
            </a:r>
            <a:endParaRPr lang="en-US" sz="1700" dirty="0"/>
          </a:p>
          <a:p>
            <a:pPr algn="l" marL="342900" indent="-342900">
              <a:spcAft>
                <a:spcPts val="1200"/>
              </a:spcAft>
              <a:buSzPct val="100000"/>
              <a:buChar char="•"/>
            </a:pPr>
            <a:r>
              <a:rPr lang="en-US" sz="1700" dirty="0">
                <a:solidFill>
                  <a:schemeClr val="tx1"/>
                </a:solidFill>
              </a:rPr>
              <a:t>Fokussierter Crawler: robots.txt, Sitemaps, Fakultäts-Subdomains</a:t>
            </a:r>
            <a:endParaRPr lang="en-US" sz="1700" dirty="0"/>
          </a:p>
          <a:p>
            <a:pPr algn="l" marL="342900" indent="-342900">
              <a:spcAft>
                <a:spcPts val="1200"/>
              </a:spcAft>
              <a:buSzPct val="100000"/>
              <a:buChar char="•"/>
            </a:pPr>
            <a:r>
              <a:rPr lang="en-US" sz="1700" dirty="0">
                <a:solidFill>
                  <a:schemeClr val="tx1"/>
                </a:solidFill>
              </a:rPr>
              <a:t>Zusatzsuche: Common Crawl, Serper, Firecrawl</a:t>
            </a:r>
            <a:endParaRPr lang="en-US" sz="1700" dirty="0"/>
          </a:p>
          <a:p>
            <a:pPr algn="l" marL="342900" indent="-342900">
              <a:spcAft>
                <a:spcPts val="1200"/>
              </a:spcAft>
              <a:buSzPct val="100000"/>
              <a:buChar char="•"/>
            </a:pPr>
            <a:r>
              <a:rPr lang="en-US" sz="1700" dirty="0">
                <a:solidFill>
                  <a:schemeClr val="tx1"/>
                </a:solidFill>
              </a:rPr>
              <a:t>OCR für gescannte PDFs</a:t>
            </a:r>
            <a:endParaRPr lang="en-US" sz="1700" dirty="0"/>
          </a:p>
          <a:p>
            <a:pPr algn="l" marL="342900" indent="-342900">
              <a:spcAft>
                <a:spcPts val="1200"/>
              </a:spcAft>
              <a:buSzPct val="100000"/>
              <a:buChar char="•"/>
            </a:pPr>
            <a:r>
              <a:rPr lang="en-US" sz="1700" dirty="0">
                <a:solidFill>
                  <a:schemeClr val="tx1"/>
                </a:solidFill>
              </a:rPr>
              <a:t>Duplikaterkennung</a:t>
            </a:r>
            <a:endParaRPr lang="en-US" sz="1700" dirty="0"/>
          </a:p>
        </p:txBody>
      </p:sp>
      <p:sp>
        <p:nvSpPr>
          <p:cNvPr id="8" name="Kopf Prüfen"/>
          <p:cNvSpPr/>
          <p:nvPr/>
        </p:nvSpPr>
        <p:spPr>
          <a:xfrm>
            <a:off x="4311396" y="1417320"/>
            <a:ext cx="3566160" cy="548640"/>
          </a:xfrm>
          <a:prstGeom prst="rect">
            <a:avLst/>
          </a:prstGeom>
          <a:solidFill>
            <a:schemeClr val="accent1"/>
          </a:solidFill>
          <a:ln w="12700">
            <a:solidFill>
              <a:schemeClr val="accent1"/>
            </a:solidFill>
            <a:prstDash val="solid"/>
          </a:ln>
        </p:spPr>
      </p:sp>
      <p:sp>
        <p:nvSpPr>
          <p:cNvPr id="9" name="Text 6"/>
          <p:cNvSpPr txBox="1"/>
          <p:nvPr/>
        </p:nvSpPr>
        <p:spPr>
          <a:xfrm>
            <a:off x="4539996" y="1417320"/>
            <a:ext cx="3108960" cy="548640"/>
          </a:xfrm>
          <a:prstGeom prst="rect">
            <a:avLst/>
          </a:prstGeom>
          <a:noFill/>
          <a:ln/>
        </p:spPr>
        <p:txBody>
          <a:bodyPr wrap="square" lIns="0" tIns="0" rIns="0" bIns="0" rtlCol="0" anchor="ctr"/>
          <a:lstStyle/>
          <a:p>
            <a:pPr algn="l" indent="0" marL="0">
              <a:buNone/>
            </a:pPr>
            <a:r>
              <a:rPr lang="en-US" sz="2000" b="1" dirty="0">
                <a:solidFill>
                  <a:schemeClr val="bg1"/>
                </a:solidFill>
              </a:rPr>
              <a:t>Prüfen</a:t>
            </a:r>
            <a:endParaRPr lang="en-US" sz="2000" dirty="0"/>
          </a:p>
        </p:txBody>
      </p:sp>
      <p:sp>
        <p:nvSpPr>
          <p:cNvPr id="10" name="Liste Prüfen"/>
          <p:cNvSpPr/>
          <p:nvPr/>
        </p:nvSpPr>
        <p:spPr>
          <a:xfrm>
            <a:off x="4311396" y="1965960"/>
            <a:ext cx="3566160" cy="3749040"/>
          </a:xfrm>
          <a:prstGeom prst="rect">
            <a:avLst/>
          </a:prstGeom>
          <a:solidFill>
            <a:schemeClr val="bg2"/>
          </a:solidFill>
          <a:ln w="12700">
            <a:solidFill>
              <a:schemeClr val="bg2"/>
            </a:solidFill>
            <a:prstDash val="solid"/>
          </a:ln>
        </p:spPr>
      </p:sp>
      <p:sp>
        <p:nvSpPr>
          <p:cNvPr id="11" name="Text 8"/>
          <p:cNvSpPr txBox="1"/>
          <p:nvPr/>
        </p:nvSpPr>
        <p:spPr>
          <a:xfrm>
            <a:off x="4539996" y="2148840"/>
            <a:ext cx="3108960" cy="347472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chemeClr val="tx1"/>
                </a:solidFill>
              </a:rPr>
              <a:t>ML-Klassifikator (TF-IDF + logistische Regression)</a:t>
            </a:r>
            <a:endParaRPr lang="en-US" sz="1700" dirty="0"/>
          </a:p>
          <a:p>
            <a:pPr algn="l" marL="342900" indent="-342900">
              <a:spcAft>
                <a:spcPts val="1200"/>
              </a:spcAft>
              <a:buSzPct val="100000"/>
              <a:buChar char="•"/>
            </a:pPr>
            <a:r>
              <a:rPr lang="en-US" sz="1700" dirty="0">
                <a:solidFill>
                  <a:schemeClr val="tx1"/>
                </a:solidFill>
              </a:rPr>
              <a:t>Sprachmodell-Zweitstufe (Claude Haiku 4.5)</a:t>
            </a:r>
            <a:endParaRPr lang="en-US" sz="1700" dirty="0"/>
          </a:p>
          <a:p>
            <a:pPr algn="l" marL="342900" indent="-342900">
              <a:spcAft>
                <a:spcPts val="1200"/>
              </a:spcAft>
              <a:buSzPct val="100000"/>
              <a:buChar char="•"/>
            </a:pPr>
            <a:r>
              <a:rPr lang="en-US" sz="1700" dirty="0">
                <a:solidFill>
                  <a:schemeClr val="tx1"/>
                </a:solidFill>
              </a:rPr>
              <a:t>Review-Oberfläche mit Nachtraining (Human-in-the-Loop)</a:t>
            </a:r>
            <a:endParaRPr lang="en-US" sz="1700" dirty="0"/>
          </a:p>
          <a:p>
            <a:pPr algn="l" marL="342900" indent="-342900">
              <a:spcAft>
                <a:spcPts val="1200"/>
              </a:spcAft>
              <a:buSzPct val="100000"/>
              <a:buChar char="•"/>
            </a:pPr>
            <a:r>
              <a:rPr lang="en-US" sz="1700" dirty="0">
                <a:solidFill>
                  <a:schemeClr val="tx1"/>
                </a:solidFill>
              </a:rPr>
              <a:t>Evaluationsmodul mit HTML-Bericht und Diagnose je Hochschule</a:t>
            </a:r>
            <a:endParaRPr lang="en-US" sz="1700" dirty="0"/>
          </a:p>
        </p:txBody>
      </p:sp>
      <p:sp>
        <p:nvSpPr>
          <p:cNvPr id="12" name="Kopf Betreiben"/>
          <p:cNvSpPr/>
          <p:nvPr/>
        </p:nvSpPr>
        <p:spPr>
          <a:xfrm>
            <a:off x="8074152" y="1417320"/>
            <a:ext cx="3566160" cy="548640"/>
          </a:xfrm>
          <a:prstGeom prst="rect">
            <a:avLst/>
          </a:prstGeom>
          <a:solidFill>
            <a:schemeClr val="accent1"/>
          </a:solidFill>
          <a:ln w="12700">
            <a:solidFill>
              <a:schemeClr val="accent1"/>
            </a:solidFill>
            <a:prstDash val="solid"/>
          </a:ln>
        </p:spPr>
      </p:sp>
      <p:sp>
        <p:nvSpPr>
          <p:cNvPr id="13" name="Text 10"/>
          <p:cNvSpPr txBox="1"/>
          <p:nvPr/>
        </p:nvSpPr>
        <p:spPr>
          <a:xfrm>
            <a:off x="8302752" y="1417320"/>
            <a:ext cx="3108960" cy="548640"/>
          </a:xfrm>
          <a:prstGeom prst="rect">
            <a:avLst/>
          </a:prstGeom>
          <a:noFill/>
          <a:ln/>
        </p:spPr>
        <p:txBody>
          <a:bodyPr wrap="square" lIns="0" tIns="0" rIns="0" bIns="0" rtlCol="0" anchor="ctr"/>
          <a:lstStyle/>
          <a:p>
            <a:pPr algn="l" indent="0" marL="0">
              <a:buNone/>
            </a:pPr>
            <a:r>
              <a:rPr lang="en-US" sz="2000" b="1" dirty="0">
                <a:solidFill>
                  <a:schemeClr val="bg1"/>
                </a:solidFill>
              </a:rPr>
              <a:t>Betreiben</a:t>
            </a:r>
            <a:endParaRPr lang="en-US" sz="2000" dirty="0"/>
          </a:p>
        </p:txBody>
      </p:sp>
      <p:sp>
        <p:nvSpPr>
          <p:cNvPr id="14" name="Liste Betreiben"/>
          <p:cNvSpPr/>
          <p:nvPr/>
        </p:nvSpPr>
        <p:spPr>
          <a:xfrm>
            <a:off x="8074152" y="1965960"/>
            <a:ext cx="3566160" cy="3749040"/>
          </a:xfrm>
          <a:prstGeom prst="rect">
            <a:avLst/>
          </a:prstGeom>
          <a:solidFill>
            <a:schemeClr val="bg2"/>
          </a:solidFill>
          <a:ln w="12700">
            <a:solidFill>
              <a:schemeClr val="bg2"/>
            </a:solidFill>
            <a:prstDash val="solid"/>
          </a:ln>
        </p:spPr>
      </p:sp>
      <p:sp>
        <p:nvSpPr>
          <p:cNvPr id="15" name="Text 12"/>
          <p:cNvSpPr txBox="1"/>
          <p:nvPr/>
        </p:nvSpPr>
        <p:spPr>
          <a:xfrm>
            <a:off x="8302752" y="2148840"/>
            <a:ext cx="3108960" cy="347472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chemeClr val="tx1"/>
                </a:solidFill>
              </a:rPr>
              <a:t>Weboberfläche mit Login, Rollen, Modellverwaltung</a:t>
            </a:r>
            <a:endParaRPr lang="en-US" sz="1700" dirty="0"/>
          </a:p>
          <a:p>
            <a:pPr algn="l" marL="342900" indent="-342900">
              <a:spcAft>
                <a:spcPts val="1200"/>
              </a:spcAft>
              <a:buSzPct val="100000"/>
              <a:buChar char="•"/>
            </a:pPr>
            <a:r>
              <a:rPr lang="en-US" sz="1700" dirty="0">
                <a:solidFill>
                  <a:schemeClr val="tx1"/>
                </a:solidFill>
              </a:rPr>
              <a:t>Austauschbare Extraktionsprofile</a:t>
            </a:r>
            <a:endParaRPr lang="en-US" sz="1700" dirty="0"/>
          </a:p>
          <a:p>
            <a:pPr algn="l" marL="342900" indent="-342900">
              <a:spcAft>
                <a:spcPts val="1200"/>
              </a:spcAft>
              <a:buSzPct val="100000"/>
              <a:buChar char="•"/>
            </a:pPr>
            <a:r>
              <a:rPr lang="en-US" sz="1700" dirty="0">
                <a:solidFill>
                  <a:schemeClr val="tx1"/>
                </a:solidFill>
              </a:rPr>
              <a:t>Automatisches Deployment (CI/CD)</a:t>
            </a:r>
            <a:endParaRPr lang="en-US" sz="1700" dirty="0"/>
          </a:p>
          <a:p>
            <a:pPr algn="l" marL="342900" indent="-342900">
              <a:spcAft>
                <a:spcPts val="1200"/>
              </a:spcAft>
              <a:buSzPct val="100000"/>
              <a:buChar char="•"/>
            </a:pPr>
            <a:r>
              <a:rPr lang="en-US" sz="1700" dirty="0">
                <a:solidFill>
                  <a:schemeClr val="tx1"/>
                </a:solidFill>
              </a:rPr>
              <a:t>Cloud-Umgebung per Skript komplett neu aufbaubar</a:t>
            </a:r>
            <a:endParaRPr lang="en-US" sz="1700" dirty="0"/>
          </a:p>
        </p:txBody>
      </p:sp>
      <p:sp>
        <p:nvSpPr>
          <p:cNvPr id="16" name="Text 13"/>
          <p:cNvSpPr txBox="1"/>
          <p:nvPr/>
        </p:nvSpPr>
        <p:spPr>
          <a:xfrm>
            <a:off x="548640" y="5897880"/>
            <a:ext cx="11091672" cy="365760"/>
          </a:xfrm>
          <a:prstGeom prst="rect">
            <a:avLst/>
          </a:prstGeom>
          <a:noFill/>
          <a:ln/>
        </p:spPr>
        <p:txBody>
          <a:bodyPr wrap="square" lIns="0" tIns="0" rIns="0" bIns="0" rtlCol="0" anchor="t"/>
          <a:lstStyle/>
          <a:p>
            <a:pPr algn="l" indent="0" marL="0">
              <a:buNone/>
            </a:pPr>
            <a:r>
              <a:rPr lang="en-US" sz="1700" b="1" dirty="0">
                <a:solidFill>
                  <a:schemeClr val="tx2"/>
                </a:solidFill>
              </a:rPr>
              <a:t>Ein neuer Dokumenttyp bedeutet ein neues Profil – nicht einen neuen Crawler.</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Herausforderungen und die Entscheidungen dahinter</a:t>
            </a:r>
            <a:endParaRPr lang="en-US" sz="2800" dirty="0"/>
          </a:p>
        </p:txBody>
      </p:sp>
      <p:graphicFrame>
        <p:nvGraphicFramePr>
          <p:cNvPr id="9" name="Tabelle Herausforderungen"/>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023360"/>
                <a:gridCol w="3840480"/>
                <a:gridCol w="3227832"/>
              </a:tblGrid>
              <a:tr h="457200">
                <a:tc>
                  <a:txBody>
                    <a:bodyPr/>
                    <a:lstStyle/>
                    <a:p>
                      <a:pPr indent="0" marL="0">
                        <a:buNone/>
                      </a:pPr>
                      <a:r>
                        <a:rPr lang="en-US" sz="1500" b="1" dirty="0">
                          <a:solidFill>
                            <a:schemeClr val="bg1"/>
                          </a:solidFill>
                        </a:rPr>
                        <a:t>Herausforderung</a:t>
                      </a:r>
                      <a:endParaRPr lang="en-US" sz="15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Entscheidung</a:t>
                      </a:r>
                      <a:endParaRPr lang="en-US" sz="15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Wirkung</a:t>
                      </a:r>
                      <a:endParaRPr lang="en-US" sz="15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804672">
                <a:tc>
                  <a:txBody>
                    <a:bodyPr/>
                    <a:lstStyle/>
                    <a:p>
                      <a:pPr indent="0" marL="0">
                        <a:buNone/>
                      </a:pPr>
                      <a:r>
                        <a:rPr lang="en-US" sz="1400" b="1" dirty="0">
                          <a:solidFill>
                            <a:srgbClr val="000000"/>
                          </a:solidFill>
                        </a:rPr>
                        <a:t>Modell im Training sehr gut (96,5 %), im echten Crawl schwach (25–82 %)</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Zwei Stufen: ML-Modell für die Masse, Sprachmodell für die Grauzone</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Precision der Endliste ≈ 98 %</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731520">
                <a:tc>
                  <a:txBody>
                    <a:bodyPr/>
                    <a:lstStyle/>
                    <a:p>
                      <a:pPr indent="0" marL="0">
                        <a:buNone/>
                      </a:pPr>
                      <a:r>
                        <a:rPr lang="en-US" sz="1400" b="1" dirty="0">
                          <a:solidFill>
                            <a:srgbClr val="000000"/>
                          </a:solidFill>
                        </a:rPr>
                        <a:t>164.396 PDFs in vertretbarer Zeit sammeln</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Parallele Cloud-Jobs statt eigener Server</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10–14 Tsd. PDFs pro Stunde</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731520">
                <a:tc>
                  <a:txBody>
                    <a:bodyPr/>
                    <a:lstStyle/>
                    <a:p>
                      <a:pPr indent="0" marL="0">
                        <a:buNone/>
                      </a:pPr>
                      <a:r>
                        <a:rPr lang="en-US" sz="1400" b="1" dirty="0">
                          <a:solidFill>
                            <a:srgbClr val="000000"/>
                          </a:solidFill>
                        </a:rPr>
                        <a:t>Kleine und private Hochschulen liefern nichts</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Zusatzsuche über Common Crawl und Serper</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13 Handbücher bei 3 Test-Hochschulen mit zuvor 0 Treffern</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731520">
                <a:tc>
                  <a:txBody>
                    <a:bodyPr/>
                    <a:lstStyle/>
                    <a:p>
                      <a:pPr indent="0" marL="0">
                        <a:buNone/>
                      </a:pPr>
                      <a:r>
                        <a:rPr lang="en-US" sz="1400" b="1" dirty="0">
                          <a:solidFill>
                            <a:srgbClr val="000000"/>
                          </a:solidFill>
                        </a:rPr>
                        <a:t>Gescannte PDFs ohne Text</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OCR-Nachbearbeitung</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3.553 Scans bearbeitet, 42 zusätzliche Treffer</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731520">
                <a:tc>
                  <a:txBody>
                    <a:bodyPr/>
                    <a:lstStyle/>
                    <a:p>
                      <a:pPr indent="0" marL="0">
                        <a:buNone/>
                      </a:pPr>
                      <a:r>
                        <a:rPr lang="en-US" sz="1400" b="1" dirty="0">
                          <a:solidFill>
                            <a:srgbClr val="000000"/>
                          </a:solidFill>
                        </a:rPr>
                        <a:t>Befristete Cloud-Umgebung wird gelöscht</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Kompletter Aufbau per Skript</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Plattform in einem Lauf wiederherstellbar</a:t>
                      </a:r>
                      <a:endParaRPr lang="en-US" sz="1400" dirty="0"/>
                    </a:p>
                  </a:txBody>
                  <a:tcPr marL="109728" marR="109728"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Die Plattform in Aktion</a:t>
            </a:r>
            <a:endParaRPr lang="en-US" sz="2800" dirty="0"/>
          </a:p>
        </p:txBody>
      </p:sp>
      <p:sp>
        <p:nvSpPr>
          <p:cNvPr id="4" name="Screenshot 1"/>
          <p:cNvSpPr/>
          <p:nvPr/>
        </p:nvSpPr>
        <p:spPr>
          <a:xfrm>
            <a:off x="548640" y="1417320"/>
            <a:ext cx="3520440" cy="3200400"/>
          </a:xfrm>
          <a:prstGeom prst="rect">
            <a:avLst/>
          </a:prstGeom>
          <a:solidFill>
            <a:schemeClr val="bg2"/>
          </a:solidFill>
          <a:ln w="15875">
            <a:solidFill>
              <a:srgbClr val="5B6573"/>
            </a:solidFill>
            <a:prstDash val="dash"/>
          </a:ln>
        </p:spPr>
      </p:sp>
      <p:sp>
        <p:nvSpPr>
          <p:cNvPr id="5" name="Text 2"/>
          <p:cNvSpPr txBox="1"/>
          <p:nvPr/>
        </p:nvSpPr>
        <p:spPr>
          <a:xfrm>
            <a:off x="548640" y="1417320"/>
            <a:ext cx="3520440" cy="3200400"/>
          </a:xfrm>
          <a:prstGeom prst="rect">
            <a:avLst/>
          </a:prstGeom>
          <a:noFill/>
          <a:ln/>
        </p:spPr>
        <p:txBody>
          <a:bodyPr wrap="square" lIns="0" tIns="0" rIns="0" bIns="0" rtlCol="0" anchor="ctr"/>
          <a:lstStyle/>
          <a:p>
            <a:pPr algn="ctr" indent="0" marL="0">
              <a:buNone/>
            </a:pPr>
            <a:r>
              <a:rPr lang="en-US" sz="1600" dirty="0">
                <a:solidFill>
                  <a:schemeClr val="accent4"/>
                </a:solidFill>
              </a:rPr>
              <a:t>Screenshot einfügen</a:t>
            </a:r>
            <a:endParaRPr lang="en-US" sz="1600" dirty="0"/>
          </a:p>
        </p:txBody>
      </p:sp>
      <p:sp>
        <p:nvSpPr>
          <p:cNvPr id="6" name="Text 3"/>
          <p:cNvSpPr txBox="1"/>
          <p:nvPr/>
        </p:nvSpPr>
        <p:spPr>
          <a:xfrm>
            <a:off x="548640" y="4800600"/>
            <a:ext cx="3520440" cy="365760"/>
          </a:xfrm>
          <a:prstGeom prst="rect">
            <a:avLst/>
          </a:prstGeom>
          <a:noFill/>
          <a:ln/>
        </p:spPr>
        <p:txBody>
          <a:bodyPr wrap="square" lIns="0" tIns="0" rIns="0" bIns="0" rtlCol="0" anchor="t"/>
          <a:lstStyle/>
          <a:p>
            <a:pPr algn="l" indent="0" marL="0">
              <a:buNone/>
            </a:pPr>
            <a:r>
              <a:rPr lang="en-US" sz="1800" b="1" dirty="0">
                <a:solidFill>
                  <a:schemeClr val="tx2"/>
                </a:solidFill>
              </a:rPr>
              <a:t>1 · Auftrag starten</a:t>
            </a:r>
            <a:endParaRPr lang="en-US" sz="1800" dirty="0"/>
          </a:p>
        </p:txBody>
      </p:sp>
      <p:sp>
        <p:nvSpPr>
          <p:cNvPr id="7" name="Text 4"/>
          <p:cNvSpPr txBox="1"/>
          <p:nvPr/>
        </p:nvSpPr>
        <p:spPr>
          <a:xfrm>
            <a:off x="548640" y="5212080"/>
            <a:ext cx="3520440" cy="731520"/>
          </a:xfrm>
          <a:prstGeom prst="rect">
            <a:avLst/>
          </a:prstGeom>
          <a:noFill/>
          <a:ln/>
        </p:spPr>
        <p:txBody>
          <a:bodyPr wrap="square" lIns="0" tIns="0" rIns="0" bIns="0" rtlCol="0" anchor="t"/>
          <a:lstStyle/>
          <a:p>
            <a:pPr algn="l" indent="0" marL="0">
              <a:buNone/>
            </a:pPr>
            <a:r>
              <a:rPr lang="en-US" sz="1400" dirty="0">
                <a:solidFill>
                  <a:schemeClr val="tx1"/>
                </a:solidFill>
              </a:rPr>
              <a:t>CSV mit Hochschulen hochladen, Modell wählen, Lauf starten</a:t>
            </a:r>
            <a:endParaRPr lang="en-US" sz="1400" dirty="0"/>
          </a:p>
        </p:txBody>
      </p:sp>
      <p:sp>
        <p:nvSpPr>
          <p:cNvPr id="8" name="Screenshot 2"/>
          <p:cNvSpPr/>
          <p:nvPr/>
        </p:nvSpPr>
        <p:spPr>
          <a:xfrm>
            <a:off x="4334256" y="1417320"/>
            <a:ext cx="3520440" cy="3200400"/>
          </a:xfrm>
          <a:prstGeom prst="rect">
            <a:avLst/>
          </a:prstGeom>
          <a:solidFill>
            <a:schemeClr val="bg2"/>
          </a:solidFill>
          <a:ln w="15875">
            <a:solidFill>
              <a:srgbClr val="5B6573"/>
            </a:solidFill>
            <a:prstDash val="dash"/>
          </a:ln>
        </p:spPr>
      </p:sp>
      <p:sp>
        <p:nvSpPr>
          <p:cNvPr id="9" name="Text 6"/>
          <p:cNvSpPr txBox="1"/>
          <p:nvPr/>
        </p:nvSpPr>
        <p:spPr>
          <a:xfrm>
            <a:off x="4334256" y="1417320"/>
            <a:ext cx="3520440" cy="3200400"/>
          </a:xfrm>
          <a:prstGeom prst="rect">
            <a:avLst/>
          </a:prstGeom>
          <a:noFill/>
          <a:ln/>
        </p:spPr>
        <p:txBody>
          <a:bodyPr wrap="square" lIns="0" tIns="0" rIns="0" bIns="0" rtlCol="0" anchor="ctr"/>
          <a:lstStyle/>
          <a:p>
            <a:pPr algn="ctr" indent="0" marL="0">
              <a:buNone/>
            </a:pPr>
            <a:r>
              <a:rPr lang="en-US" sz="1600" dirty="0">
                <a:solidFill>
                  <a:schemeClr val="accent4"/>
                </a:solidFill>
              </a:rPr>
              <a:t>Screenshot einfügen</a:t>
            </a:r>
            <a:endParaRPr lang="en-US" sz="1600" dirty="0"/>
          </a:p>
        </p:txBody>
      </p:sp>
      <p:sp>
        <p:nvSpPr>
          <p:cNvPr id="10" name="Text 7"/>
          <p:cNvSpPr txBox="1"/>
          <p:nvPr/>
        </p:nvSpPr>
        <p:spPr>
          <a:xfrm>
            <a:off x="4334256" y="4800600"/>
            <a:ext cx="3520440" cy="365760"/>
          </a:xfrm>
          <a:prstGeom prst="rect">
            <a:avLst/>
          </a:prstGeom>
          <a:noFill/>
          <a:ln/>
        </p:spPr>
        <p:txBody>
          <a:bodyPr wrap="square" lIns="0" tIns="0" rIns="0" bIns="0" rtlCol="0" anchor="t"/>
          <a:lstStyle/>
          <a:p>
            <a:pPr algn="l" indent="0" marL="0">
              <a:buNone/>
            </a:pPr>
            <a:r>
              <a:rPr lang="en-US" sz="1800" b="1" dirty="0">
                <a:solidFill>
                  <a:schemeClr val="tx2"/>
                </a:solidFill>
              </a:rPr>
              <a:t>2 · Ergebnisse</a:t>
            </a:r>
            <a:endParaRPr lang="en-US" sz="1800" dirty="0"/>
          </a:p>
        </p:txBody>
      </p:sp>
      <p:sp>
        <p:nvSpPr>
          <p:cNvPr id="11" name="Text 8"/>
          <p:cNvSpPr txBox="1"/>
          <p:nvPr/>
        </p:nvSpPr>
        <p:spPr>
          <a:xfrm>
            <a:off x="4334256" y="5212080"/>
            <a:ext cx="3520440" cy="731520"/>
          </a:xfrm>
          <a:prstGeom prst="rect">
            <a:avLst/>
          </a:prstGeom>
          <a:noFill/>
          <a:ln/>
        </p:spPr>
        <p:txBody>
          <a:bodyPr wrap="square" lIns="0" tIns="0" rIns="0" bIns="0" rtlCol="0" anchor="t"/>
          <a:lstStyle/>
          <a:p>
            <a:pPr algn="l" indent="0" marL="0">
              <a:buNone/>
            </a:pPr>
            <a:r>
              <a:rPr lang="en-US" sz="1400" dirty="0">
                <a:solidFill>
                  <a:schemeClr val="tx1"/>
                </a:solidFill>
              </a:rPr>
              <a:t>Gefundene Dokumente je Hochschule mit Score und Quelle</a:t>
            </a:r>
            <a:endParaRPr lang="en-US" sz="1400" dirty="0"/>
          </a:p>
        </p:txBody>
      </p:sp>
      <p:sp>
        <p:nvSpPr>
          <p:cNvPr id="12" name="Screenshot 3"/>
          <p:cNvSpPr/>
          <p:nvPr/>
        </p:nvSpPr>
        <p:spPr>
          <a:xfrm>
            <a:off x="8119872" y="1417320"/>
            <a:ext cx="3520440" cy="3200400"/>
          </a:xfrm>
          <a:prstGeom prst="rect">
            <a:avLst/>
          </a:prstGeom>
          <a:solidFill>
            <a:schemeClr val="bg2"/>
          </a:solidFill>
          <a:ln w="15875">
            <a:solidFill>
              <a:srgbClr val="5B6573"/>
            </a:solidFill>
            <a:prstDash val="dash"/>
          </a:ln>
        </p:spPr>
      </p:sp>
      <p:sp>
        <p:nvSpPr>
          <p:cNvPr id="13" name="Text 10"/>
          <p:cNvSpPr txBox="1"/>
          <p:nvPr/>
        </p:nvSpPr>
        <p:spPr>
          <a:xfrm>
            <a:off x="8119872" y="1417320"/>
            <a:ext cx="3520440" cy="3200400"/>
          </a:xfrm>
          <a:prstGeom prst="rect">
            <a:avLst/>
          </a:prstGeom>
          <a:noFill/>
          <a:ln/>
        </p:spPr>
        <p:txBody>
          <a:bodyPr wrap="square" lIns="0" tIns="0" rIns="0" bIns="0" rtlCol="0" anchor="ctr"/>
          <a:lstStyle/>
          <a:p>
            <a:pPr algn="ctr" indent="0" marL="0">
              <a:buNone/>
            </a:pPr>
            <a:r>
              <a:rPr lang="en-US" sz="1600" dirty="0">
                <a:solidFill>
                  <a:schemeClr val="accent4"/>
                </a:solidFill>
              </a:rPr>
              <a:t>Screenshot einfügen</a:t>
            </a:r>
            <a:endParaRPr lang="en-US" sz="1600" dirty="0"/>
          </a:p>
        </p:txBody>
      </p:sp>
      <p:sp>
        <p:nvSpPr>
          <p:cNvPr id="14" name="Text 11"/>
          <p:cNvSpPr txBox="1"/>
          <p:nvPr/>
        </p:nvSpPr>
        <p:spPr>
          <a:xfrm>
            <a:off x="8119872" y="4800600"/>
            <a:ext cx="3520440" cy="365760"/>
          </a:xfrm>
          <a:prstGeom prst="rect">
            <a:avLst/>
          </a:prstGeom>
          <a:noFill/>
          <a:ln/>
        </p:spPr>
        <p:txBody>
          <a:bodyPr wrap="square" lIns="0" tIns="0" rIns="0" bIns="0" rtlCol="0" anchor="t"/>
          <a:lstStyle/>
          <a:p>
            <a:pPr algn="l" indent="0" marL="0">
              <a:buNone/>
            </a:pPr>
            <a:r>
              <a:rPr lang="en-US" sz="1800" b="1" dirty="0">
                <a:solidFill>
                  <a:schemeClr val="tx2"/>
                </a:solidFill>
              </a:rPr>
              <a:t>3 · Prüfband</a:t>
            </a:r>
            <a:endParaRPr lang="en-US" sz="1800" dirty="0"/>
          </a:p>
        </p:txBody>
      </p:sp>
      <p:sp>
        <p:nvSpPr>
          <p:cNvPr id="15" name="Text 12"/>
          <p:cNvSpPr txBox="1"/>
          <p:nvPr/>
        </p:nvSpPr>
        <p:spPr>
          <a:xfrm>
            <a:off x="8119872" y="5212080"/>
            <a:ext cx="3520440" cy="731520"/>
          </a:xfrm>
          <a:prstGeom prst="rect">
            <a:avLst/>
          </a:prstGeom>
          <a:noFill/>
          <a:ln/>
        </p:spPr>
        <p:txBody>
          <a:bodyPr wrap="square" lIns="0" tIns="0" rIns="0" bIns="0" rtlCol="0" anchor="t"/>
          <a:lstStyle/>
          <a:p>
            <a:pPr algn="l" indent="0" marL="0">
              <a:buNone/>
            </a:pPr>
            <a:r>
              <a:rPr lang="en-US" sz="1400" dirty="0">
                <a:solidFill>
                  <a:schemeClr val="tx1"/>
                </a:solidFill>
              </a:rPr>
              <a:t>Mensch entscheidet nur die Grauzone; sein Urteil fließt ins Nachtraining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Ergebnis: Nur etwa jedes neunte PDF ist ein Modulhandbuch</a:t>
            </a:r>
            <a:endParaRPr lang="en-US" sz="2800" dirty="0"/>
          </a:p>
        </p:txBody>
      </p:sp>
      <p:sp>
        <p:nvSpPr>
          <p:cNvPr id="4" name="Text 1"/>
          <p:cNvSpPr txBox="1"/>
          <p:nvPr/>
        </p:nvSpPr>
        <p:spPr>
          <a:xfrm>
            <a:off x="548640" y="1371600"/>
            <a:ext cx="6949440" cy="365760"/>
          </a:xfrm>
          <a:prstGeom prst="rect">
            <a:avLst/>
          </a:prstGeom>
          <a:noFill/>
          <a:ln/>
        </p:spPr>
        <p:txBody>
          <a:bodyPr wrap="square" lIns="0" tIns="0" rIns="0" bIns="0" rtlCol="0" anchor="t"/>
          <a:lstStyle/>
          <a:p>
            <a:pPr algn="l" indent="0" marL="0">
              <a:buNone/>
            </a:pPr>
            <a:r>
              <a:rPr lang="en-US" sz="1600" b="1" dirty="0">
                <a:solidFill>
                  <a:schemeClr val="tx2"/>
                </a:solidFill>
              </a:rPr>
              <a:t>Vom Crawl zur Endliste (Anzahl Dokumente)</a:t>
            </a:r>
            <a:endParaRPr lang="en-US" sz="1600" dirty="0"/>
          </a:p>
        </p:txBody>
      </p:sp>
      <p:graphicFrame>
        <p:nvGraphicFramePr>
          <p:cNvPr id="5" name="Chart 0" descr=""/>
          <p:cNvGraphicFramePr/>
          <p:nvPr/>
        </p:nvGraphicFramePr>
        <p:xfrm>
          <a:off x="548640" y="1783080"/>
          <a:ext cx="7040880" cy="3931920"/>
        </p:xfrm>
        <a:graphic xmlns:a="http://schemas.openxmlformats.org/drawingml/2006/main">
          <a:graphicData uri="http://schemas.openxmlformats.org/drawingml/2006/chart">
            <c:chart xmlns:c="http://schemas.openxmlformats.org/drawingml/2006/chart" r:id="rId1"/>
          </a:graphicData>
        </a:graphic>
      </p:graphicFrame>
      <p:sp>
        <p:nvSpPr>
          <p:cNvPr id="6" name="Aussage"/>
          <p:cNvSpPr/>
          <p:nvPr/>
        </p:nvSpPr>
        <p:spPr>
          <a:xfrm>
            <a:off x="8138160" y="1417320"/>
            <a:ext cx="3502152" cy="4297680"/>
          </a:xfrm>
          <a:prstGeom prst="rect">
            <a:avLst/>
          </a:prstGeom>
          <a:solidFill>
            <a:schemeClr val="bg2"/>
          </a:solidFill>
          <a:ln w="12700">
            <a:solidFill>
              <a:schemeClr val="bg2"/>
            </a:solidFill>
            <a:prstDash val="solid"/>
          </a:ln>
        </p:spPr>
      </p:sp>
      <p:sp>
        <p:nvSpPr>
          <p:cNvPr id="7" name="Text 3"/>
          <p:cNvSpPr txBox="1"/>
          <p:nvPr/>
        </p:nvSpPr>
        <p:spPr>
          <a:xfrm>
            <a:off x="8366760" y="1645920"/>
            <a:ext cx="3108960" cy="822960"/>
          </a:xfrm>
          <a:prstGeom prst="rect">
            <a:avLst/>
          </a:prstGeom>
          <a:noFill/>
          <a:ln/>
        </p:spPr>
        <p:txBody>
          <a:bodyPr wrap="square" lIns="0" tIns="0" rIns="0" bIns="0" rtlCol="0" anchor="t"/>
          <a:lstStyle/>
          <a:p>
            <a:pPr algn="l" indent="0" marL="0">
              <a:buNone/>
            </a:pPr>
            <a:r>
              <a:rPr lang="en-US" sz="4800" b="1" dirty="0">
                <a:solidFill>
                  <a:schemeClr val="accent1"/>
                </a:solidFill>
              </a:rPr>
              <a:t>1 von 9</a:t>
            </a:r>
            <a:endParaRPr lang="en-US" sz="4800" dirty="0"/>
          </a:p>
        </p:txBody>
      </p:sp>
      <p:sp>
        <p:nvSpPr>
          <p:cNvPr id="8" name="Text 4"/>
          <p:cNvSpPr txBox="1"/>
          <p:nvPr/>
        </p:nvSpPr>
        <p:spPr>
          <a:xfrm>
            <a:off x="8366760" y="2514600"/>
            <a:ext cx="3108960" cy="640080"/>
          </a:xfrm>
          <a:prstGeom prst="rect">
            <a:avLst/>
          </a:prstGeom>
          <a:noFill/>
          <a:ln/>
        </p:spPr>
        <p:txBody>
          <a:bodyPr wrap="square" lIns="0" tIns="0" rIns="0" bIns="0" rtlCol="0" anchor="t"/>
          <a:lstStyle/>
          <a:p>
            <a:pPr algn="l" indent="0" marL="0">
              <a:buNone/>
            </a:pPr>
            <a:r>
              <a:rPr lang="en-US" sz="1700" b="1" dirty="0">
                <a:solidFill>
                  <a:schemeClr val="tx2"/>
                </a:solidFill>
              </a:rPr>
              <a:t>gesammelten PDFs ist ein Modulhandbuch.</a:t>
            </a:r>
            <a:endParaRPr lang="en-US" sz="1700" dirty="0"/>
          </a:p>
        </p:txBody>
      </p:sp>
      <p:sp>
        <p:nvSpPr>
          <p:cNvPr id="9" name="Text 5"/>
          <p:cNvSpPr txBox="1"/>
          <p:nvPr/>
        </p:nvSpPr>
        <p:spPr>
          <a:xfrm>
            <a:off x="8366760" y="3337560"/>
            <a:ext cx="3108960" cy="22860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Sammeln ist nicht der Engpass, Aussortieren ist es.</a:t>
            </a:r>
            <a:endParaRPr lang="en-US" sz="1400" dirty="0"/>
          </a:p>
          <a:p>
            <a:pPr algn="l" marL="342900" indent="-342900">
              <a:spcAft>
                <a:spcPts val="800"/>
              </a:spcAft>
              <a:buSzPct val="100000"/>
              <a:buChar char="•"/>
            </a:pPr>
            <a:r>
              <a:rPr lang="en-US" sz="1400" dirty="0">
                <a:solidFill>
                  <a:schemeClr val="tx1"/>
                </a:solidFill>
              </a:rPr>
              <a:t>Streng (nur vom Sprachmodell bestätigt): 11.771</a:t>
            </a:r>
            <a:endParaRPr lang="en-US" sz="1400" dirty="0"/>
          </a:p>
          <a:p>
            <a:pPr algn="l" marL="342900" indent="-342900">
              <a:spcAft>
                <a:spcPts val="800"/>
              </a:spcAft>
              <a:buSzPct val="100000"/>
              <a:buChar char="•"/>
            </a:pPr>
            <a:r>
              <a:rPr lang="en-US" sz="1400" dirty="0">
                <a:solidFill>
                  <a:schemeClr val="tx1"/>
                </a:solidFill>
              </a:rPr>
              <a:t>Erweitert (zusätzlich Score ≥ 0,9): 19.049</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Warum die zweite Stufe nötig war: Training ist nicht Praxis</a:t>
            </a:r>
            <a:endParaRPr lang="en-US" sz="2800" dirty="0"/>
          </a:p>
        </p:txBody>
      </p:sp>
      <p:sp>
        <p:nvSpPr>
          <p:cNvPr id="4" name="Text 1"/>
          <p:cNvSpPr txBox="1"/>
          <p:nvPr/>
        </p:nvSpPr>
        <p:spPr>
          <a:xfrm>
            <a:off x="548640" y="1371600"/>
            <a:ext cx="6766560" cy="365760"/>
          </a:xfrm>
          <a:prstGeom prst="rect">
            <a:avLst/>
          </a:prstGeom>
          <a:noFill/>
          <a:ln/>
        </p:spPr>
        <p:txBody>
          <a:bodyPr wrap="square" lIns="0" tIns="0" rIns="0" bIns="0" rtlCol="0" anchor="t"/>
          <a:lstStyle/>
          <a:p>
            <a:pPr algn="l" indent="0" marL="0">
              <a:buNone/>
            </a:pPr>
            <a:r>
              <a:rPr lang="en-US" sz="1600" b="1" dirty="0">
                <a:solidFill>
                  <a:schemeClr val="tx2"/>
                </a:solidFill>
              </a:rPr>
              <a:t>Precision (Anteil richtiger Treffer) in Prozent</a:t>
            </a:r>
            <a:endParaRPr lang="en-US" sz="1600" dirty="0"/>
          </a:p>
        </p:txBody>
      </p:sp>
      <p:graphicFrame>
        <p:nvGraphicFramePr>
          <p:cNvPr id="5" name="Chart 0" descr=""/>
          <p:cNvGraphicFramePr/>
          <p:nvPr/>
        </p:nvGraphicFramePr>
        <p:xfrm>
          <a:off x="548640" y="1783080"/>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6" name="Erklärung"/>
          <p:cNvSpPr/>
          <p:nvPr/>
        </p:nvSpPr>
        <p:spPr>
          <a:xfrm>
            <a:off x="7680960" y="1417320"/>
            <a:ext cx="3959352" cy="4297680"/>
          </a:xfrm>
          <a:prstGeom prst="rect">
            <a:avLst/>
          </a:prstGeom>
          <a:solidFill>
            <a:schemeClr val="bg2"/>
          </a:solidFill>
          <a:ln w="12700">
            <a:solidFill>
              <a:schemeClr val="bg2"/>
            </a:solidFill>
            <a:prstDash val="solid"/>
          </a:ln>
        </p:spPr>
      </p:sp>
      <p:sp>
        <p:nvSpPr>
          <p:cNvPr id="7" name="Text 3"/>
          <p:cNvSpPr txBox="1"/>
          <p:nvPr/>
        </p:nvSpPr>
        <p:spPr>
          <a:xfrm>
            <a:off x="7909560" y="1600200"/>
            <a:ext cx="3520440" cy="365760"/>
          </a:xfrm>
          <a:prstGeom prst="rect">
            <a:avLst/>
          </a:prstGeom>
          <a:noFill/>
          <a:ln/>
        </p:spPr>
        <p:txBody>
          <a:bodyPr wrap="square" lIns="0" tIns="0" rIns="0" bIns="0" rtlCol="0" anchor="t"/>
          <a:lstStyle/>
          <a:p>
            <a:pPr algn="l" indent="0" marL="0">
              <a:buNone/>
            </a:pPr>
            <a:r>
              <a:rPr lang="en-US" sz="1800" b="1" dirty="0">
                <a:solidFill>
                  <a:schemeClr val="tx2"/>
                </a:solidFill>
              </a:rPr>
              <a:t>Was dahinter steckt</a:t>
            </a:r>
            <a:endParaRPr lang="en-US" sz="1800" dirty="0"/>
          </a:p>
        </p:txBody>
      </p:sp>
      <p:sp>
        <p:nvSpPr>
          <p:cNvPr id="8" name="Text 4"/>
          <p:cNvSpPr txBox="1"/>
          <p:nvPr/>
        </p:nvSpPr>
        <p:spPr>
          <a:xfrm>
            <a:off x="7909560" y="2103120"/>
            <a:ext cx="3520440" cy="352044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Beinahe-Treffer täuschen das Modell: Hälfte der falschen Treffer sind Prüfungsordnungen, ein Fünftel Einzelmodulblätter.</a:t>
            </a:r>
            <a:endParaRPr lang="en-US" sz="1400" dirty="0"/>
          </a:p>
          <a:p>
            <a:pPr algn="l" marL="342900" indent="-342900">
              <a:spcAft>
                <a:spcPts val="800"/>
              </a:spcAft>
              <a:buSzPct val="100000"/>
              <a:buChar char="•"/>
            </a:pPr>
            <a:r>
              <a:rPr lang="en-US" sz="1400" dirty="0">
                <a:solidFill>
                  <a:schemeClr val="tx1"/>
                </a:solidFill>
              </a:rPr>
              <a:t>Training: 2.695 Dokumente von 269 Hochschulen – zu wenig Breite.</a:t>
            </a:r>
            <a:endParaRPr lang="en-US" sz="1400" dirty="0"/>
          </a:p>
          <a:p>
            <a:pPr algn="l" marL="342900" indent="-342900">
              <a:spcAft>
                <a:spcPts val="800"/>
              </a:spcAft>
              <a:buSzPct val="100000"/>
              <a:buChar char="•"/>
            </a:pPr>
            <a:r>
              <a:rPr lang="en-US" sz="1400" dirty="0">
                <a:solidFill>
                  <a:schemeClr val="tx1"/>
                </a:solidFill>
              </a:rPr>
              <a:t>Darum: Sprachmodell prüft die Grauzone.</a:t>
            </a:r>
            <a:endParaRPr lang="en-US" sz="1400" dirty="0"/>
          </a:p>
          <a:p>
            <a:pPr algn="l" marL="342900" indent="-342900">
              <a:spcAft>
                <a:spcPts val="800"/>
              </a:spcAft>
              <a:buSzPct val="100000"/>
              <a:buChar char="•"/>
            </a:pPr>
            <a:r>
              <a:rPr lang="en-US" sz="1400" dirty="0">
                <a:solidFill>
                  <a:schemeClr val="tx1"/>
                </a:solidFill>
              </a:rPr>
              <a:t>Referenz ist das Sprachmodell; manuelle Stichprobe (20 Dokumente): 85 % Übereinstimmung.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Abdeckung: 63 % der Hochschulen – große öffentliche fast vollständig</a:t>
            </a:r>
            <a:endParaRPr lang="en-US" sz="2800" dirty="0"/>
          </a:p>
        </p:txBody>
      </p:sp>
      <p:sp>
        <p:nvSpPr>
          <p:cNvPr id="4" name="Text 1"/>
          <p:cNvSpPr txBox="1"/>
          <p:nvPr/>
        </p:nvSpPr>
        <p:spPr>
          <a:xfrm>
            <a:off x="548640" y="1371600"/>
            <a:ext cx="5394960" cy="365760"/>
          </a:xfrm>
          <a:prstGeom prst="rect">
            <a:avLst/>
          </a:prstGeom>
          <a:noFill/>
          <a:ln/>
        </p:spPr>
        <p:txBody>
          <a:bodyPr wrap="square" lIns="0" tIns="0" rIns="0" bIns="0" rtlCol="0" anchor="t"/>
          <a:lstStyle/>
          <a:p>
            <a:pPr algn="l" indent="0" marL="0">
              <a:buNone/>
            </a:pPr>
            <a:r>
              <a:rPr lang="en-US" sz="1500" b="1" dirty="0">
                <a:solidFill>
                  <a:schemeClr val="tx2"/>
                </a:solidFill>
              </a:rPr>
              <a:t>Nach Trägerschaft (Anteil Hochschulen mit ≥ 1 Modulhandbuch)</a:t>
            </a:r>
            <a:endParaRPr lang="en-US" sz="1500" dirty="0"/>
          </a:p>
        </p:txBody>
      </p:sp>
      <p:graphicFrame>
        <p:nvGraphicFramePr>
          <p:cNvPr id="5" name="Chart 0" descr=""/>
          <p:cNvGraphicFramePr/>
          <p:nvPr/>
        </p:nvGraphicFramePr>
        <p:xfrm>
          <a:off x="548640" y="178308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245352" y="1371600"/>
            <a:ext cx="5394960" cy="365760"/>
          </a:xfrm>
          <a:prstGeom prst="rect">
            <a:avLst/>
          </a:prstGeom>
          <a:noFill/>
          <a:ln/>
        </p:spPr>
        <p:txBody>
          <a:bodyPr wrap="square" lIns="0" tIns="0" rIns="0" bIns="0" rtlCol="0" anchor="t"/>
          <a:lstStyle/>
          <a:p>
            <a:pPr algn="l" indent="0" marL="0">
              <a:buNone/>
            </a:pPr>
            <a:r>
              <a:rPr lang="en-US" sz="1500" b="1" dirty="0">
                <a:solidFill>
                  <a:schemeClr val="tx2"/>
                </a:solidFill>
              </a:rPr>
              <a:t>Nach Größe (Studierende; Anzahl Hochschulen)</a:t>
            </a:r>
            <a:endParaRPr lang="en-US" sz="1500" dirty="0"/>
          </a:p>
        </p:txBody>
      </p:sp>
      <p:graphicFrame>
        <p:nvGraphicFramePr>
          <p:cNvPr id="7" name="Chart 1" descr=""/>
          <p:cNvGraphicFramePr/>
          <p:nvPr/>
        </p:nvGraphicFramePr>
        <p:xfrm>
          <a:off x="6245352" y="1783080"/>
          <a:ext cx="5394960" cy="3383280"/>
        </p:xfrm>
        <a:graphic xmlns:a="http://schemas.openxmlformats.org/drawingml/2006/main">
          <a:graphicData uri="http://schemas.openxmlformats.org/drawingml/2006/chart">
            <c:chart xmlns:c="http://schemas.openxmlformats.org/drawingml/2006/chart" r:id="rId2"/>
          </a:graphicData>
        </a:graphic>
      </p:graphicFrame>
      <p:sp>
        <p:nvSpPr>
          <p:cNvPr id="8" name="Fazit Abdeckung"/>
          <p:cNvSpPr/>
          <p:nvPr/>
        </p:nvSpPr>
        <p:spPr>
          <a:xfrm>
            <a:off x="548640" y="5349240"/>
            <a:ext cx="11091672" cy="777240"/>
          </a:xfrm>
          <a:prstGeom prst="rect">
            <a:avLst/>
          </a:prstGeom>
          <a:solidFill>
            <a:schemeClr val="bg2"/>
          </a:solidFill>
          <a:ln w="12700">
            <a:solidFill>
              <a:schemeClr val="bg2"/>
            </a:solidFill>
            <a:prstDash val="solid"/>
          </a:ln>
        </p:spPr>
      </p:sp>
      <p:sp>
        <p:nvSpPr>
          <p:cNvPr id="9" name="Text 4"/>
          <p:cNvSpPr txBox="1"/>
          <p:nvPr/>
        </p:nvSpPr>
        <p:spPr>
          <a:xfrm>
            <a:off x="822960" y="5349240"/>
            <a:ext cx="10543032" cy="777240"/>
          </a:xfrm>
          <a:prstGeom prst="rect">
            <a:avLst/>
          </a:prstGeom>
          <a:noFill/>
          <a:ln/>
        </p:spPr>
        <p:txBody>
          <a:bodyPr wrap="square" lIns="0" tIns="0" rIns="0" bIns="0" rtlCol="0" anchor="ctr"/>
          <a:lstStyle/>
          <a:p>
            <a:pPr algn="l" indent="0" marL="0">
              <a:buNone/>
            </a:pPr>
            <a:r>
              <a:rPr lang="en-US" sz="1600" b="1" dirty="0">
                <a:solidFill>
                  <a:schemeClr val="tx2"/>
                </a:solidFill>
              </a:rPr>
              <a:t>Lücken liegen bei kleinen, privaten Hochschulen: kaum PDFs, Login-Bereiche, JavaScript-Portale. 39 Hochschulen blieben ganz ohne Fund.</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Daten und Fakten: Laufzeit, Umfang, Aktualität</a:t>
            </a:r>
            <a:endParaRPr lang="en-US" sz="2800" dirty="0"/>
          </a:p>
        </p:txBody>
      </p:sp>
      <p:sp>
        <p:nvSpPr>
          <p:cNvPr id="4" name="Text 1"/>
          <p:cNvSpPr txBox="1"/>
          <p:nvPr/>
        </p:nvSpPr>
        <p:spPr>
          <a:xfrm>
            <a:off x="548640" y="1371600"/>
            <a:ext cx="5760720" cy="365760"/>
          </a:xfrm>
          <a:prstGeom prst="rect">
            <a:avLst/>
          </a:prstGeom>
          <a:noFill/>
          <a:ln/>
        </p:spPr>
        <p:txBody>
          <a:bodyPr wrap="square" lIns="0" tIns="0" rIns="0" bIns="0" rtlCol="0" anchor="t"/>
          <a:lstStyle/>
          <a:p>
            <a:pPr algn="l" indent="0" marL="0">
              <a:buNone/>
            </a:pPr>
            <a:r>
              <a:rPr lang="en-US" sz="1500" b="1" dirty="0">
                <a:solidFill>
                  <a:schemeClr val="tx2"/>
                </a:solidFill>
              </a:rPr>
              <a:t>Aktualität: Jahr im Dateinamen (11.758 Dokumente)</a:t>
            </a:r>
            <a:endParaRPr lang="en-US" sz="1500" dirty="0"/>
          </a:p>
        </p:txBody>
      </p:sp>
      <p:graphicFrame>
        <p:nvGraphicFramePr>
          <p:cNvPr id="5" name="Chart 0" descr=""/>
          <p:cNvGraphicFramePr/>
          <p:nvPr/>
        </p:nvGraphicFramePr>
        <p:xfrm>
          <a:off x="548640" y="178308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440680"/>
            <a:ext cx="5760720" cy="640080"/>
          </a:xfrm>
          <a:prstGeom prst="rect">
            <a:avLst/>
          </a:prstGeom>
          <a:noFill/>
          <a:ln/>
        </p:spPr>
        <p:txBody>
          <a:bodyPr wrap="square" lIns="0" tIns="0" rIns="0" bIns="0" rtlCol="0" anchor="t"/>
          <a:lstStyle/>
          <a:p>
            <a:pPr algn="l" indent="0" marL="0">
              <a:buNone/>
            </a:pPr>
            <a:r>
              <a:rPr lang="en-US" sz="1400" dirty="0">
                <a:solidFill>
                  <a:schemeClr val="accent4"/>
                </a:solidFill>
              </a:rPr>
              <a:t>Zwei Drittel der datierbaren Dokumente stammen aus 2020 oder später; die ältesten ab 2001.</a:t>
            </a:r>
            <a:endParaRPr lang="en-US" sz="1400" dirty="0"/>
          </a:p>
        </p:txBody>
      </p:sp>
      <p:sp>
        <p:nvSpPr>
          <p:cNvPr id="7" name="Fakt 1"/>
          <p:cNvSpPr/>
          <p:nvPr/>
        </p:nvSpPr>
        <p:spPr>
          <a:xfrm>
            <a:off x="6583680" y="1417320"/>
            <a:ext cx="2450592" cy="1371600"/>
          </a:xfrm>
          <a:prstGeom prst="rect">
            <a:avLst/>
          </a:prstGeom>
          <a:solidFill>
            <a:schemeClr val="bg2"/>
          </a:solidFill>
          <a:ln w="12700">
            <a:solidFill>
              <a:schemeClr val="bg2"/>
            </a:solidFill>
            <a:prstDash val="solid"/>
          </a:ln>
        </p:spPr>
      </p:sp>
      <p:sp>
        <p:nvSpPr>
          <p:cNvPr id="8" name="Text 4"/>
          <p:cNvSpPr txBox="1"/>
          <p:nvPr/>
        </p:nvSpPr>
        <p:spPr>
          <a:xfrm>
            <a:off x="6720840" y="1508760"/>
            <a:ext cx="2176272" cy="502920"/>
          </a:xfrm>
          <a:prstGeom prst="rect">
            <a:avLst/>
          </a:prstGeom>
          <a:noFill/>
          <a:ln/>
        </p:spPr>
        <p:txBody>
          <a:bodyPr wrap="square" lIns="0" tIns="0" rIns="0" bIns="0" rtlCol="0" anchor="ctr"/>
          <a:lstStyle/>
          <a:p>
            <a:pPr algn="l" indent="0" marL="0">
              <a:buNone/>
            </a:pPr>
            <a:r>
              <a:rPr lang="en-US" sz="2400" b="1" dirty="0">
                <a:solidFill>
                  <a:schemeClr val="accent1"/>
                </a:solidFill>
              </a:rPr>
              <a:t>6,3 h / 13 h</a:t>
            </a:r>
            <a:endParaRPr lang="en-US" sz="2400" dirty="0"/>
          </a:p>
        </p:txBody>
      </p:sp>
      <p:sp>
        <p:nvSpPr>
          <p:cNvPr id="9" name="Text 5"/>
          <p:cNvSpPr txBox="1"/>
          <p:nvPr/>
        </p:nvSpPr>
        <p:spPr>
          <a:xfrm>
            <a:off x="6720840" y="2057400"/>
            <a:ext cx="2176272" cy="685800"/>
          </a:xfrm>
          <a:prstGeom prst="rect">
            <a:avLst/>
          </a:prstGeom>
          <a:noFill/>
          <a:ln/>
        </p:spPr>
        <p:txBody>
          <a:bodyPr wrap="square" lIns="0" tIns="0" rIns="0" bIns="0" rtlCol="0" anchor="t"/>
          <a:lstStyle/>
          <a:p>
            <a:pPr algn="l" indent="0" marL="0">
              <a:buNone/>
            </a:pPr>
            <a:r>
              <a:rPr lang="en-US" sz="1200" dirty="0">
                <a:solidFill>
                  <a:schemeClr val="tx1"/>
                </a:solidFill>
              </a:rPr>
              <a:t>Laufzeit: Erstlauf (411 Hochschulen) / Deep Run (132 Tsd. PDFs)</a:t>
            </a:r>
            <a:endParaRPr lang="en-US" sz="1200" dirty="0"/>
          </a:p>
        </p:txBody>
      </p:sp>
      <p:sp>
        <p:nvSpPr>
          <p:cNvPr id="10" name="Fakt 2"/>
          <p:cNvSpPr/>
          <p:nvPr/>
        </p:nvSpPr>
        <p:spPr>
          <a:xfrm>
            <a:off x="9189720" y="1417320"/>
            <a:ext cx="2450592" cy="1371600"/>
          </a:xfrm>
          <a:prstGeom prst="rect">
            <a:avLst/>
          </a:prstGeom>
          <a:solidFill>
            <a:schemeClr val="bg2"/>
          </a:solidFill>
          <a:ln w="12700">
            <a:solidFill>
              <a:schemeClr val="bg2"/>
            </a:solidFill>
            <a:prstDash val="solid"/>
          </a:ln>
        </p:spPr>
      </p:sp>
      <p:sp>
        <p:nvSpPr>
          <p:cNvPr id="11" name="Text 7"/>
          <p:cNvSpPr txBox="1"/>
          <p:nvPr/>
        </p:nvSpPr>
        <p:spPr>
          <a:xfrm>
            <a:off x="9326880" y="1508760"/>
            <a:ext cx="2176272" cy="502920"/>
          </a:xfrm>
          <a:prstGeom prst="rect">
            <a:avLst/>
          </a:prstGeom>
          <a:noFill/>
          <a:ln/>
        </p:spPr>
        <p:txBody>
          <a:bodyPr wrap="square" lIns="0" tIns="0" rIns="0" bIns="0" rtlCol="0" anchor="ctr"/>
          <a:lstStyle/>
          <a:p>
            <a:pPr algn="l" indent="0" marL="0">
              <a:buNone/>
            </a:pPr>
            <a:r>
              <a:rPr lang="en-US" sz="2400" b="1" dirty="0">
                <a:solidFill>
                  <a:schemeClr val="accent1"/>
                </a:solidFill>
              </a:rPr>
              <a:t>10–14 Tsd.</a:t>
            </a:r>
            <a:endParaRPr lang="en-US" sz="2400" dirty="0"/>
          </a:p>
        </p:txBody>
      </p:sp>
      <p:sp>
        <p:nvSpPr>
          <p:cNvPr id="12" name="Text 8"/>
          <p:cNvSpPr txBox="1"/>
          <p:nvPr/>
        </p:nvSpPr>
        <p:spPr>
          <a:xfrm>
            <a:off x="9326880" y="2057400"/>
            <a:ext cx="2176272" cy="685800"/>
          </a:xfrm>
          <a:prstGeom prst="rect">
            <a:avLst/>
          </a:prstGeom>
          <a:noFill/>
          <a:ln/>
        </p:spPr>
        <p:txBody>
          <a:bodyPr wrap="square" lIns="0" tIns="0" rIns="0" bIns="0" rtlCol="0" anchor="t"/>
          <a:lstStyle/>
          <a:p>
            <a:pPr algn="l" indent="0" marL="0">
              <a:buNone/>
            </a:pPr>
            <a:r>
              <a:rPr lang="en-US" sz="1200" dirty="0">
                <a:solidFill>
                  <a:schemeClr val="tx1"/>
                </a:solidFill>
              </a:rPr>
              <a:t>neue PDFs pro Stunde im Spitzenbereich</a:t>
            </a:r>
            <a:endParaRPr lang="en-US" sz="1200" dirty="0"/>
          </a:p>
        </p:txBody>
      </p:sp>
      <p:sp>
        <p:nvSpPr>
          <p:cNvPr id="13" name="Fakt 3"/>
          <p:cNvSpPr/>
          <p:nvPr/>
        </p:nvSpPr>
        <p:spPr>
          <a:xfrm>
            <a:off x="6583680" y="2926080"/>
            <a:ext cx="2450592" cy="1371600"/>
          </a:xfrm>
          <a:prstGeom prst="rect">
            <a:avLst/>
          </a:prstGeom>
          <a:solidFill>
            <a:schemeClr val="bg2"/>
          </a:solidFill>
          <a:ln w="12700">
            <a:solidFill>
              <a:schemeClr val="bg2"/>
            </a:solidFill>
            <a:prstDash val="solid"/>
          </a:ln>
        </p:spPr>
      </p:sp>
      <p:sp>
        <p:nvSpPr>
          <p:cNvPr id="14" name="Text 10"/>
          <p:cNvSpPr txBox="1"/>
          <p:nvPr/>
        </p:nvSpPr>
        <p:spPr>
          <a:xfrm>
            <a:off x="6720840" y="3017520"/>
            <a:ext cx="2176272" cy="502920"/>
          </a:xfrm>
          <a:prstGeom prst="rect">
            <a:avLst/>
          </a:prstGeom>
          <a:noFill/>
          <a:ln/>
        </p:spPr>
        <p:txBody>
          <a:bodyPr wrap="square" lIns="0" tIns="0" rIns="0" bIns="0" rtlCol="0" anchor="ctr"/>
          <a:lstStyle/>
          <a:p>
            <a:pPr algn="l" indent="0" marL="0">
              <a:buNone/>
            </a:pPr>
            <a:r>
              <a:rPr lang="en-US" sz="2400" b="1" dirty="0">
                <a:solidFill>
                  <a:schemeClr val="accent1"/>
                </a:solidFill>
              </a:rPr>
              <a:t>154 GB</a:t>
            </a:r>
            <a:endParaRPr lang="en-US" sz="2400" dirty="0"/>
          </a:p>
        </p:txBody>
      </p:sp>
      <p:sp>
        <p:nvSpPr>
          <p:cNvPr id="15" name="Text 11"/>
          <p:cNvSpPr txBox="1"/>
          <p:nvPr/>
        </p:nvSpPr>
        <p:spPr>
          <a:xfrm>
            <a:off x="6720840" y="3566160"/>
            <a:ext cx="2176272" cy="685800"/>
          </a:xfrm>
          <a:prstGeom prst="rect">
            <a:avLst/>
          </a:prstGeom>
          <a:noFill/>
          <a:ln/>
        </p:spPr>
        <p:txBody>
          <a:bodyPr wrap="square" lIns="0" tIns="0" rIns="0" bIns="0" rtlCol="0" anchor="t"/>
          <a:lstStyle/>
          <a:p>
            <a:pPr algn="l" indent="0" marL="0">
              <a:buNone/>
            </a:pPr>
            <a:r>
              <a:rPr lang="en-US" sz="1200" dirty="0">
                <a:solidFill>
                  <a:schemeClr val="tx1"/>
                </a:solidFill>
              </a:rPr>
              <a:t>gespeicherte Daten in rund 193 Tsd. Dateien</a:t>
            </a:r>
            <a:endParaRPr lang="en-US" sz="1200" dirty="0"/>
          </a:p>
        </p:txBody>
      </p:sp>
      <p:sp>
        <p:nvSpPr>
          <p:cNvPr id="16" name="Fakt 4"/>
          <p:cNvSpPr/>
          <p:nvPr/>
        </p:nvSpPr>
        <p:spPr>
          <a:xfrm>
            <a:off x="9189720" y="2926080"/>
            <a:ext cx="2450592" cy="1371600"/>
          </a:xfrm>
          <a:prstGeom prst="rect">
            <a:avLst/>
          </a:prstGeom>
          <a:solidFill>
            <a:schemeClr val="bg2"/>
          </a:solidFill>
          <a:ln w="12700">
            <a:solidFill>
              <a:schemeClr val="bg2"/>
            </a:solidFill>
            <a:prstDash val="solid"/>
          </a:ln>
        </p:spPr>
      </p:sp>
      <p:sp>
        <p:nvSpPr>
          <p:cNvPr id="17" name="Text 13"/>
          <p:cNvSpPr txBox="1"/>
          <p:nvPr/>
        </p:nvSpPr>
        <p:spPr>
          <a:xfrm>
            <a:off x="9326880" y="3017520"/>
            <a:ext cx="2176272" cy="502920"/>
          </a:xfrm>
          <a:prstGeom prst="rect">
            <a:avLst/>
          </a:prstGeom>
          <a:noFill/>
          <a:ln/>
        </p:spPr>
        <p:txBody>
          <a:bodyPr wrap="square" lIns="0" tIns="0" rIns="0" bIns="0" rtlCol="0" anchor="ctr"/>
          <a:lstStyle/>
          <a:p>
            <a:pPr algn="l" indent="0" marL="0">
              <a:buNone/>
            </a:pPr>
            <a:r>
              <a:rPr lang="en-US" sz="2400" b="1" dirty="0">
                <a:solidFill>
                  <a:schemeClr val="accent1"/>
                </a:solidFill>
              </a:rPr>
              <a:t>14 %</a:t>
            </a:r>
            <a:endParaRPr lang="en-US" sz="2400" dirty="0"/>
          </a:p>
        </p:txBody>
      </p:sp>
      <p:sp>
        <p:nvSpPr>
          <p:cNvPr id="18" name="Text 14"/>
          <p:cNvSpPr txBox="1"/>
          <p:nvPr/>
        </p:nvSpPr>
        <p:spPr>
          <a:xfrm>
            <a:off x="9326880" y="3566160"/>
            <a:ext cx="2176272" cy="685800"/>
          </a:xfrm>
          <a:prstGeom prst="rect">
            <a:avLst/>
          </a:prstGeom>
          <a:noFill/>
          <a:ln/>
        </p:spPr>
        <p:txBody>
          <a:bodyPr wrap="square" lIns="0" tIns="0" rIns="0" bIns="0" rtlCol="0" anchor="t"/>
          <a:lstStyle/>
          <a:p>
            <a:pPr algn="l" indent="0" marL="0">
              <a:buNone/>
            </a:pPr>
            <a:r>
              <a:rPr lang="en-US" sz="1200" dirty="0">
                <a:solidFill>
                  <a:schemeClr val="tx1"/>
                </a:solidFill>
              </a:rPr>
              <a:t>Duplikate in der Endliste (2.733 von 19.049)</a:t>
            </a:r>
            <a:endParaRPr lang="en-US" sz="1200" dirty="0"/>
          </a:p>
        </p:txBody>
      </p:sp>
      <p:sp>
        <p:nvSpPr>
          <p:cNvPr id="19" name="Fakt 5"/>
          <p:cNvSpPr/>
          <p:nvPr/>
        </p:nvSpPr>
        <p:spPr>
          <a:xfrm>
            <a:off x="6583680" y="4434840"/>
            <a:ext cx="2450592" cy="1371600"/>
          </a:xfrm>
          <a:prstGeom prst="rect">
            <a:avLst/>
          </a:prstGeom>
          <a:solidFill>
            <a:schemeClr val="bg2"/>
          </a:solidFill>
          <a:ln w="12700">
            <a:solidFill>
              <a:schemeClr val="bg2"/>
            </a:solidFill>
            <a:prstDash val="solid"/>
          </a:ln>
        </p:spPr>
      </p:sp>
      <p:sp>
        <p:nvSpPr>
          <p:cNvPr id="20" name="Text 16"/>
          <p:cNvSpPr txBox="1"/>
          <p:nvPr/>
        </p:nvSpPr>
        <p:spPr>
          <a:xfrm>
            <a:off x="6720840" y="4526280"/>
            <a:ext cx="2176272" cy="502920"/>
          </a:xfrm>
          <a:prstGeom prst="rect">
            <a:avLst/>
          </a:prstGeom>
          <a:noFill/>
          <a:ln/>
        </p:spPr>
        <p:txBody>
          <a:bodyPr wrap="square" lIns="0" tIns="0" rIns="0" bIns="0" rtlCol="0" anchor="ctr"/>
          <a:lstStyle/>
          <a:p>
            <a:pPr algn="l" indent="0" marL="0">
              <a:buNone/>
            </a:pPr>
            <a:r>
              <a:rPr lang="en-US" sz="2400" b="1" dirty="0">
                <a:solidFill>
                  <a:schemeClr val="accent1"/>
                </a:solidFill>
              </a:rPr>
              <a:t>≈ 285 h</a:t>
            </a:r>
            <a:endParaRPr lang="en-US" sz="2400" dirty="0"/>
          </a:p>
        </p:txBody>
      </p:sp>
      <p:sp>
        <p:nvSpPr>
          <p:cNvPr id="21" name="Text 17"/>
          <p:cNvSpPr txBox="1"/>
          <p:nvPr/>
        </p:nvSpPr>
        <p:spPr>
          <a:xfrm>
            <a:off x="6720840" y="5074920"/>
            <a:ext cx="2176272" cy="685800"/>
          </a:xfrm>
          <a:prstGeom prst="rect">
            <a:avLst/>
          </a:prstGeom>
          <a:noFill/>
          <a:ln/>
        </p:spPr>
        <p:txBody>
          <a:bodyPr wrap="square" lIns="0" tIns="0" rIns="0" bIns="0" rtlCol="0" anchor="t"/>
          <a:lstStyle/>
          <a:p>
            <a:pPr algn="l" indent="0" marL="0">
              <a:buNone/>
            </a:pPr>
            <a:r>
              <a:rPr lang="en-US" sz="1200" dirty="0">
                <a:solidFill>
                  <a:schemeClr val="tx1"/>
                </a:solidFill>
              </a:rPr>
              <a:t>Handprüfung gespart (34.141 Dokumente × 30 s, Modellrechnung)</a:t>
            </a:r>
            <a:endParaRPr lang="en-US" sz="1200" dirty="0"/>
          </a:p>
        </p:txBody>
      </p:sp>
      <p:sp>
        <p:nvSpPr>
          <p:cNvPr id="22" name="Fakt 6"/>
          <p:cNvSpPr/>
          <p:nvPr/>
        </p:nvSpPr>
        <p:spPr>
          <a:xfrm>
            <a:off x="9189720" y="4434840"/>
            <a:ext cx="2450592" cy="1371600"/>
          </a:xfrm>
          <a:prstGeom prst="rect">
            <a:avLst/>
          </a:prstGeom>
          <a:solidFill>
            <a:schemeClr val="bg2"/>
          </a:solidFill>
          <a:ln w="12700">
            <a:solidFill>
              <a:schemeClr val="bg2"/>
            </a:solidFill>
            <a:prstDash val="solid"/>
          </a:ln>
        </p:spPr>
      </p:sp>
      <p:sp>
        <p:nvSpPr>
          <p:cNvPr id="23" name="Text 19"/>
          <p:cNvSpPr txBox="1"/>
          <p:nvPr/>
        </p:nvSpPr>
        <p:spPr>
          <a:xfrm>
            <a:off x="9326880" y="4526280"/>
            <a:ext cx="2176272" cy="502920"/>
          </a:xfrm>
          <a:prstGeom prst="rect">
            <a:avLst/>
          </a:prstGeom>
          <a:noFill/>
          <a:ln/>
        </p:spPr>
        <p:txBody>
          <a:bodyPr wrap="square" lIns="0" tIns="0" rIns="0" bIns="0" rtlCol="0" anchor="ctr"/>
          <a:lstStyle/>
          <a:p>
            <a:pPr algn="l" indent="0" marL="0">
              <a:buNone/>
            </a:pPr>
            <a:r>
              <a:rPr lang="en-US" sz="2400" b="1" dirty="0">
                <a:solidFill>
                  <a:schemeClr val="accent1"/>
                </a:solidFill>
              </a:rPr>
              <a:t>40 %</a:t>
            </a:r>
            <a:endParaRPr lang="en-US" sz="2400" dirty="0"/>
          </a:p>
        </p:txBody>
      </p:sp>
      <p:sp>
        <p:nvSpPr>
          <p:cNvPr id="24" name="Text 20"/>
          <p:cNvSpPr txBox="1"/>
          <p:nvPr/>
        </p:nvSpPr>
        <p:spPr>
          <a:xfrm>
            <a:off x="9326880" y="5074920"/>
            <a:ext cx="2176272" cy="685800"/>
          </a:xfrm>
          <a:prstGeom prst="rect">
            <a:avLst/>
          </a:prstGeom>
          <a:noFill/>
          <a:ln/>
        </p:spPr>
        <p:txBody>
          <a:bodyPr wrap="square" lIns="0" tIns="0" rIns="0" bIns="0" rtlCol="0" anchor="t"/>
          <a:lstStyle/>
          <a:p>
            <a:pPr algn="l" indent="0" marL="0">
              <a:buNone/>
            </a:pPr>
            <a:r>
              <a:rPr lang="en-US" sz="1200" dirty="0">
                <a:solidFill>
                  <a:schemeClr val="tx1"/>
                </a:solidFill>
              </a:rPr>
              <a:t>aller Funde stammen von den 10 ergiebigsten Hochschulen</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Kosten: 155 $ insgesamt – und eine Vollerhebung bleibt bezahlbar</a:t>
            </a:r>
            <a:endParaRPr lang="en-US" sz="2800" dirty="0"/>
          </a:p>
        </p:txBody>
      </p:sp>
      <p:sp>
        <p:nvSpPr>
          <p:cNvPr id="4" name="Text 1"/>
          <p:cNvSpPr txBox="1"/>
          <p:nvPr/>
        </p:nvSpPr>
        <p:spPr>
          <a:xfrm>
            <a:off x="548640" y="1371600"/>
            <a:ext cx="5852160" cy="365760"/>
          </a:xfrm>
          <a:prstGeom prst="rect">
            <a:avLst/>
          </a:prstGeom>
          <a:noFill/>
          <a:ln/>
        </p:spPr>
        <p:txBody>
          <a:bodyPr wrap="square" lIns="0" tIns="0" rIns="0" bIns="0" rtlCol="0" anchor="t"/>
          <a:lstStyle/>
          <a:p>
            <a:pPr algn="l" indent="0" marL="0">
              <a:buNone/>
            </a:pPr>
            <a:r>
              <a:rPr lang="en-US" sz="1500" b="1" dirty="0">
                <a:solidFill>
                  <a:schemeClr val="tx2"/>
                </a:solidFill>
              </a:rPr>
              <a:t>Wofür das Geld ging (Juli–Okt 2026, in US-Dollar)</a:t>
            </a:r>
            <a:endParaRPr lang="en-US" sz="1500" dirty="0"/>
          </a:p>
        </p:txBody>
      </p:sp>
      <p:graphicFrame>
        <p:nvGraphicFramePr>
          <p:cNvPr id="5" name="Chart 0" descr=""/>
          <p:cNvGraphicFramePr/>
          <p:nvPr/>
        </p:nvGraphicFramePr>
        <p:xfrm>
          <a:off x="548640" y="178308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440680"/>
            <a:ext cx="5852160" cy="640080"/>
          </a:xfrm>
          <a:prstGeom prst="rect">
            <a:avLst/>
          </a:prstGeom>
          <a:noFill/>
          <a:ln/>
        </p:spPr>
        <p:txBody>
          <a:bodyPr wrap="square" lIns="0" tIns="0" rIns="0" bIns="0" rtlCol="0" anchor="t"/>
          <a:lstStyle/>
          <a:p>
            <a:pPr algn="l" indent="0" marL="0">
              <a:buNone/>
            </a:pPr>
            <a:r>
              <a:rPr lang="en-US" sz="1400" b="1" dirty="0">
                <a:solidFill>
                  <a:schemeClr val="tx2"/>
                </a:solidFill>
              </a:rPr>
              <a:t>Die dauerhaft laufende Webapp (28 $) kostete mehr als alle Crawls zusammen (7 $).</a:t>
            </a:r>
            <a:endParaRPr lang="en-US" sz="1400" dirty="0"/>
          </a:p>
        </p:txBody>
      </p:sp>
      <p:sp>
        <p:nvSpPr>
          <p:cNvPr id="7" name="Text 3"/>
          <p:cNvSpPr txBox="1"/>
          <p:nvPr/>
        </p:nvSpPr>
        <p:spPr>
          <a:xfrm>
            <a:off x="6675120" y="1371600"/>
            <a:ext cx="4965192" cy="365760"/>
          </a:xfrm>
          <a:prstGeom prst="rect">
            <a:avLst/>
          </a:prstGeom>
          <a:noFill/>
          <a:ln/>
        </p:spPr>
        <p:txBody>
          <a:bodyPr wrap="square" lIns="0" tIns="0" rIns="0" bIns="0" rtlCol="0" anchor="t"/>
          <a:lstStyle/>
          <a:p>
            <a:pPr algn="l" indent="0" marL="0">
              <a:buNone/>
            </a:pPr>
            <a:r>
              <a:rPr lang="en-US" sz="1500" b="1" dirty="0">
                <a:solidFill>
                  <a:schemeClr val="tx2"/>
                </a:solidFill>
              </a:rPr>
              <a:t>Hochrechnung: Vollerhebung mit 40.000 Modulhandbüchern</a:t>
            </a:r>
            <a:endParaRPr lang="en-US" sz="1500" dirty="0"/>
          </a:p>
        </p:txBody>
      </p:sp>
      <p:graphicFrame>
        <p:nvGraphicFramePr>
          <p:cNvPr id="15" name="Tabelle Hochrechnung"/>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1554480"/>
                <a:gridCol w="1417320"/>
                <a:gridCol w="1993392"/>
              </a:tblGrid>
              <a:tr h="502920">
                <a:tc>
                  <a:txBody>
                    <a:bodyPr/>
                    <a:lstStyle/>
                    <a:p>
                      <a:pPr indent="0" marL="0">
                        <a:buNone/>
                      </a:pP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Ist</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Vollerhebung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rgbClr val="000000"/>
                          </a:solidFill>
                        </a:rPr>
                        <a:t>PDFs</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164 Tsd.</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 350 Tsd.</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Speicher</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154 GB</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 280 GB</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Crawl-Zeit</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 19 h</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 40 h</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KI-Prüfung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107 $</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 230 $</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9" name="Text 4"/>
          <p:cNvSpPr txBox="1"/>
          <p:nvPr/>
        </p:nvSpPr>
        <p:spPr>
          <a:xfrm>
            <a:off x="6675120" y="5349240"/>
            <a:ext cx="4965192" cy="914400"/>
          </a:xfrm>
          <a:prstGeom prst="rect">
            <a:avLst/>
          </a:prstGeom>
          <a:noFill/>
          <a:ln/>
        </p:spPr>
        <p:txBody>
          <a:bodyPr wrap="square" lIns="0" tIns="0" rIns="0" bIns="0" rtlCol="0" anchor="t"/>
          <a:lstStyle/>
          <a:p>
            <a:pPr algn="l" indent="0" marL="0">
              <a:buNone/>
            </a:pPr>
            <a:r>
              <a:rPr lang="en-US" sz="1200" dirty="0">
                <a:solidFill>
                  <a:schemeClr val="accent4"/>
                </a:solidFill>
              </a:rPr>
              <a:t>Lineare Hochrechnung bei gleicher Ausbeute (8,8 PDFs je Modulhandbuch; Zielwert 40.000 laut Fachschätzung). Testläufe nutzen ein Limit (ca. 200 Dokumente); der Deep Run holte 132.187 PDFs in einem Lauf. Die reale Ausbeute dürfte schlechter sein.</a:t>
            </a:r>
            <a:endParaRPr lang="en-US" sz="1200" dirty="0"/>
          </a:p>
        </p:txBody>
      </p:sp>
      <p:sp>
        <p:nvSpPr>
          <p:cNvPr id="10" name="Text 5"/>
          <p:cNvSpPr txBox="1"/>
          <p:nvPr/>
        </p:nvSpPr>
        <p:spPr>
          <a:xfrm>
            <a:off x="6675120" y="4434840"/>
            <a:ext cx="4965192" cy="822960"/>
          </a:xfrm>
          <a:prstGeom prst="rect">
            <a:avLst/>
          </a:prstGeom>
          <a:noFill/>
          <a:ln/>
        </p:spPr>
        <p:txBody>
          <a:bodyPr wrap="square" lIns="0" tIns="0" rIns="0" bIns="0" rtlCol="0" anchor="t"/>
          <a:lstStyle/>
          <a:p>
            <a:pPr algn="l" indent="0" marL="0">
              <a:buNone/>
            </a:pPr>
            <a:r>
              <a:rPr lang="en-US" sz="1400" b="1" dirty="0">
                <a:solidFill>
                  <a:schemeClr val="tx2"/>
                </a:solidFill>
              </a:rPr>
              <a:t>Vollerhebung </a:t>
            </a:r>
            <a:pPr algn="l" indent="0" marL="0">
              <a:buNone/>
            </a:pPr>
            <a:r>
              <a:rPr lang="en-US" sz="1400" dirty="0">
                <a:solidFill>
                  <a:schemeClr val="tx2"/>
                </a:solidFill>
              </a:rPr>
              <a:t>= alle Modulhandbücher aller deutschen Hochschulen erfassen (Fachschätzung: ca. 40.000).</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Forschungspotenzial: Was der Datensatz beantworten kann</a:t>
            </a:r>
            <a:endParaRPr lang="en-US" sz="2800" dirty="0"/>
          </a:p>
        </p:txBody>
      </p:sp>
      <p:sp>
        <p:nvSpPr>
          <p:cNvPr id="4" name="Fragen"/>
          <p:cNvSpPr/>
          <p:nvPr/>
        </p:nvSpPr>
        <p:spPr>
          <a:xfrm>
            <a:off x="548640" y="1417320"/>
            <a:ext cx="5394960" cy="4251960"/>
          </a:xfrm>
          <a:prstGeom prst="rect">
            <a:avLst/>
          </a:prstGeom>
          <a:solidFill>
            <a:schemeClr val="bg2"/>
          </a:solidFill>
          <a:ln w="12700">
            <a:solidFill>
              <a:schemeClr val="bg2"/>
            </a:solidFill>
            <a:prstDash val="solid"/>
          </a:ln>
        </p:spPr>
      </p:sp>
      <p:sp>
        <p:nvSpPr>
          <p:cNvPr id="5" name="Text 2"/>
          <p:cNvSpPr txBox="1"/>
          <p:nvPr/>
        </p:nvSpPr>
        <p:spPr>
          <a:xfrm>
            <a:off x="822960" y="1600200"/>
            <a:ext cx="4846320" cy="365760"/>
          </a:xfrm>
          <a:prstGeom prst="rect">
            <a:avLst/>
          </a:prstGeom>
          <a:noFill/>
          <a:ln/>
        </p:spPr>
        <p:txBody>
          <a:bodyPr wrap="square" lIns="0" tIns="0" rIns="0" bIns="0" rtlCol="0" anchor="t"/>
          <a:lstStyle/>
          <a:p>
            <a:pPr algn="l" indent="0" marL="0">
              <a:buNone/>
            </a:pPr>
            <a:r>
              <a:rPr lang="en-US" sz="1800" b="1" dirty="0">
                <a:solidFill>
                  <a:schemeClr val="tx2"/>
                </a:solidFill>
              </a:rPr>
              <a:t>Fragen, die der Datensatz beantwortet</a:t>
            </a:r>
            <a:endParaRPr lang="en-US" sz="1800" dirty="0"/>
          </a:p>
        </p:txBody>
      </p:sp>
      <p:sp>
        <p:nvSpPr>
          <p:cNvPr id="6" name="Text 3"/>
          <p:cNvSpPr txBox="1"/>
          <p:nvPr/>
        </p:nvSpPr>
        <p:spPr>
          <a:xfrm>
            <a:off x="822960" y="2103120"/>
            <a:ext cx="4846320" cy="3474720"/>
          </a:xfrm>
          <a:prstGeom prst="rect">
            <a:avLst/>
          </a:prstGeom>
          <a:noFill/>
          <a:ln/>
        </p:spPr>
        <p:txBody>
          <a:bodyPr wrap="square" lIns="0" tIns="0" rIns="0" bIns="0" rtlCol="0" anchor="t"/>
          <a:lstStyle/>
          <a:p>
            <a:pPr algn="l" marL="342900" indent="-342900">
              <a:spcAft>
                <a:spcPts val="900"/>
              </a:spcAft>
              <a:buSzPct val="100000"/>
              <a:buChar char="•"/>
            </a:pPr>
            <a:r>
              <a:rPr lang="en-US" sz="1600" dirty="0">
                <a:solidFill>
                  <a:schemeClr val="tx1"/>
                </a:solidFill>
              </a:rPr>
              <a:t>Wie unterscheiden sich Modulhandbücher zwischen Hochschulen?</a:t>
            </a:r>
            <a:endParaRPr lang="en-US" sz="1600" dirty="0"/>
          </a:p>
          <a:p>
            <a:pPr algn="l" marL="342900" indent="-342900">
              <a:spcAft>
                <a:spcPts val="900"/>
              </a:spcAft>
              <a:buSzPct val="100000"/>
              <a:buChar char="•"/>
            </a:pPr>
            <a:r>
              <a:rPr lang="en-US" sz="1600" dirty="0">
                <a:solidFill>
                  <a:schemeClr val="tx1"/>
                </a:solidFill>
              </a:rPr>
              <a:t>Wie oft werden Studiengänge und Module aktualisiert?</a:t>
            </a:r>
            <a:endParaRPr lang="en-US" sz="1600" dirty="0"/>
          </a:p>
          <a:p>
            <a:pPr algn="l" marL="342900" indent="-342900">
              <a:spcAft>
                <a:spcPts val="900"/>
              </a:spcAft>
              <a:buSzPct val="100000"/>
              <a:buChar char="•"/>
            </a:pPr>
            <a:r>
              <a:rPr lang="en-US" sz="1600" dirty="0">
                <a:solidFill>
                  <a:schemeClr val="tx1"/>
                </a:solidFill>
              </a:rPr>
              <a:t>Wie zentral oder dezentral stellen Hochschulen ihre Dokumente bereit?</a:t>
            </a:r>
            <a:endParaRPr lang="en-US" sz="1600" dirty="0"/>
          </a:p>
          <a:p>
            <a:pPr algn="l" marL="342900" indent="-342900">
              <a:spcAft>
                <a:spcPts val="900"/>
              </a:spcAft>
              <a:buSzPct val="100000"/>
              <a:buChar char="•"/>
            </a:pPr>
            <a:r>
              <a:rPr lang="en-US" sz="1600" dirty="0">
                <a:solidFill>
                  <a:schemeClr val="tx1"/>
                </a:solidFill>
              </a:rPr>
              <a:t>Wie unterscheiden sich kleine und große Hochschulen?</a:t>
            </a:r>
            <a:endParaRPr lang="en-US" sz="1600" dirty="0"/>
          </a:p>
          <a:p>
            <a:pPr algn="l" marL="342900" indent="-342900">
              <a:spcAft>
                <a:spcPts val="900"/>
              </a:spcAft>
              <a:buSzPct val="100000"/>
              <a:buChar char="•"/>
            </a:pPr>
            <a:r>
              <a:rPr lang="en-US" sz="1600" dirty="0">
                <a:solidFill>
                  <a:schemeClr val="tx1"/>
                </a:solidFill>
              </a:rPr>
              <a:t>Welche Strukturen teilen Studiengänge?</a:t>
            </a:r>
            <a:endParaRPr lang="en-US" sz="1600" dirty="0"/>
          </a:p>
          <a:p>
            <a:pPr algn="l" marL="342900" indent="-342900">
              <a:spcAft>
                <a:spcPts val="900"/>
              </a:spcAft>
              <a:buSzPct val="100000"/>
              <a:buChar char="•"/>
            </a:pPr>
            <a:r>
              <a:rPr lang="en-US" sz="1600" dirty="0">
                <a:solidFill>
                  <a:schemeClr val="tx1"/>
                </a:solidFill>
              </a:rPr>
              <a:t>Wie vollständig lassen sich Hochschulwebseiten automatisiert erfassen?</a:t>
            </a:r>
            <a:endParaRPr lang="en-US" sz="1600" dirty="0"/>
          </a:p>
        </p:txBody>
      </p:sp>
      <p:sp>
        <p:nvSpPr>
          <p:cNvPr id="7" name="Text 4"/>
          <p:cNvSpPr txBox="1"/>
          <p:nvPr/>
        </p:nvSpPr>
        <p:spPr>
          <a:xfrm>
            <a:off x="6199632" y="1371600"/>
            <a:ext cx="5440680" cy="365760"/>
          </a:xfrm>
          <a:prstGeom prst="rect">
            <a:avLst/>
          </a:prstGeom>
          <a:noFill/>
          <a:ln/>
        </p:spPr>
        <p:txBody>
          <a:bodyPr wrap="square" lIns="0" tIns="0" rIns="0" bIns="0" rtlCol="0" anchor="t"/>
          <a:lstStyle/>
          <a:p>
            <a:pPr algn="l" indent="0" marL="0">
              <a:buNone/>
            </a:pPr>
            <a:r>
              <a:rPr lang="en-US" sz="1800" b="1" dirty="0">
                <a:solidFill>
                  <a:schemeClr val="tx2"/>
                </a:solidFill>
              </a:rPr>
              <a:t>Erste Befunde aus den Daten</a:t>
            </a:r>
            <a:endParaRPr lang="en-US" sz="1800" dirty="0"/>
          </a:p>
        </p:txBody>
      </p:sp>
      <p:sp>
        <p:nvSpPr>
          <p:cNvPr id="8" name="Befund 1"/>
          <p:cNvSpPr/>
          <p:nvPr/>
        </p:nvSpPr>
        <p:spPr>
          <a:xfrm>
            <a:off x="6199632" y="1828800"/>
            <a:ext cx="2633472" cy="1828800"/>
          </a:xfrm>
          <a:prstGeom prst="rect">
            <a:avLst/>
          </a:prstGeom>
          <a:solidFill>
            <a:schemeClr val="bg2"/>
          </a:solidFill>
          <a:ln w="12700">
            <a:solidFill>
              <a:schemeClr val="bg2"/>
            </a:solidFill>
            <a:prstDash val="solid"/>
          </a:ln>
        </p:spPr>
      </p:sp>
      <p:sp>
        <p:nvSpPr>
          <p:cNvPr id="9" name="Text 6"/>
          <p:cNvSpPr txBox="1"/>
          <p:nvPr/>
        </p:nvSpPr>
        <p:spPr>
          <a:xfrm>
            <a:off x="6382512" y="1965960"/>
            <a:ext cx="2286000" cy="594360"/>
          </a:xfrm>
          <a:prstGeom prst="rect">
            <a:avLst/>
          </a:prstGeom>
          <a:noFill/>
          <a:ln/>
        </p:spPr>
        <p:txBody>
          <a:bodyPr wrap="square" lIns="0" tIns="0" rIns="0" bIns="0" rtlCol="0" anchor="ctr"/>
          <a:lstStyle/>
          <a:p>
            <a:pPr algn="l" indent="0" marL="0">
              <a:buNone/>
            </a:pPr>
            <a:r>
              <a:rPr lang="en-US" sz="2800" b="1" dirty="0">
                <a:solidFill>
                  <a:schemeClr val="accent1"/>
                </a:solidFill>
              </a:rPr>
              <a:t>1.801</a:t>
            </a:r>
            <a:endParaRPr lang="en-US" sz="2800" dirty="0"/>
          </a:p>
        </p:txBody>
      </p:sp>
      <p:sp>
        <p:nvSpPr>
          <p:cNvPr id="10" name="Text 7"/>
          <p:cNvSpPr txBox="1"/>
          <p:nvPr/>
        </p:nvSpPr>
        <p:spPr>
          <a:xfrm>
            <a:off x="6382512" y="2606040"/>
            <a:ext cx="2286000" cy="1005840"/>
          </a:xfrm>
          <a:prstGeom prst="rect">
            <a:avLst/>
          </a:prstGeom>
          <a:noFill/>
          <a:ln/>
        </p:spPr>
        <p:txBody>
          <a:bodyPr wrap="square" lIns="0" tIns="0" rIns="0" bIns="0" rtlCol="0" anchor="t"/>
          <a:lstStyle/>
          <a:p>
            <a:pPr algn="l" indent="0" marL="0">
              <a:buNone/>
            </a:pPr>
            <a:r>
              <a:rPr lang="en-US" sz="1500" dirty="0">
                <a:solidFill>
                  <a:schemeClr val="tx1"/>
                </a:solidFill>
              </a:rPr>
              <a:t>Dokumente auf einem einzigen Portal (Uni Augsburg) – Median: 4 je Hochschule</a:t>
            </a:r>
            <a:endParaRPr lang="en-US" sz="1500" dirty="0"/>
          </a:p>
        </p:txBody>
      </p:sp>
      <p:sp>
        <p:nvSpPr>
          <p:cNvPr id="11" name="Befund 2"/>
          <p:cNvSpPr/>
          <p:nvPr/>
        </p:nvSpPr>
        <p:spPr>
          <a:xfrm>
            <a:off x="9006840" y="1828800"/>
            <a:ext cx="2633472" cy="1828800"/>
          </a:xfrm>
          <a:prstGeom prst="rect">
            <a:avLst/>
          </a:prstGeom>
          <a:solidFill>
            <a:schemeClr val="bg2"/>
          </a:solidFill>
          <a:ln w="12700">
            <a:solidFill>
              <a:schemeClr val="bg2"/>
            </a:solidFill>
            <a:prstDash val="solid"/>
          </a:ln>
        </p:spPr>
      </p:sp>
      <p:sp>
        <p:nvSpPr>
          <p:cNvPr id="12" name="Text 9"/>
          <p:cNvSpPr txBox="1"/>
          <p:nvPr/>
        </p:nvSpPr>
        <p:spPr>
          <a:xfrm>
            <a:off x="9189720" y="1965960"/>
            <a:ext cx="2286000" cy="594360"/>
          </a:xfrm>
          <a:prstGeom prst="rect">
            <a:avLst/>
          </a:prstGeom>
          <a:noFill/>
          <a:ln/>
        </p:spPr>
        <p:txBody>
          <a:bodyPr wrap="square" lIns="0" tIns="0" rIns="0" bIns="0" rtlCol="0" anchor="ctr"/>
          <a:lstStyle/>
          <a:p>
            <a:pPr algn="l" indent="0" marL="0">
              <a:buNone/>
            </a:pPr>
            <a:r>
              <a:rPr lang="en-US" sz="2800" b="1" dirty="0">
                <a:solidFill>
                  <a:schemeClr val="accent1"/>
                </a:solidFill>
              </a:rPr>
              <a:t>6 vs. 222</a:t>
            </a:r>
            <a:endParaRPr lang="en-US" sz="2800" dirty="0"/>
          </a:p>
        </p:txBody>
      </p:sp>
      <p:sp>
        <p:nvSpPr>
          <p:cNvPr id="13" name="Text 10"/>
          <p:cNvSpPr txBox="1"/>
          <p:nvPr/>
        </p:nvSpPr>
        <p:spPr>
          <a:xfrm>
            <a:off x="9189720" y="2606040"/>
            <a:ext cx="2286000" cy="1005840"/>
          </a:xfrm>
          <a:prstGeom prst="rect">
            <a:avLst/>
          </a:prstGeom>
          <a:noFill/>
          <a:ln/>
        </p:spPr>
        <p:txBody>
          <a:bodyPr wrap="square" lIns="0" tIns="0" rIns="0" bIns="0" rtlCol="0" anchor="t"/>
          <a:lstStyle/>
          <a:p>
            <a:pPr algn="l" indent="0" marL="0">
              <a:buNone/>
            </a:pPr>
            <a:r>
              <a:rPr lang="en-US" sz="1500" dirty="0">
                <a:solidFill>
                  <a:schemeClr val="tx1"/>
                </a:solidFill>
              </a:rPr>
              <a:t>Ø Handbücher: Hochschulen unter 1.000 vs. 15–30 Tsd. Studierende</a:t>
            </a:r>
            <a:endParaRPr lang="en-US" sz="1500" dirty="0"/>
          </a:p>
        </p:txBody>
      </p:sp>
      <p:sp>
        <p:nvSpPr>
          <p:cNvPr id="14" name="Befund 3"/>
          <p:cNvSpPr/>
          <p:nvPr/>
        </p:nvSpPr>
        <p:spPr>
          <a:xfrm>
            <a:off x="6199632" y="3840480"/>
            <a:ext cx="2633472" cy="1828800"/>
          </a:xfrm>
          <a:prstGeom prst="rect">
            <a:avLst/>
          </a:prstGeom>
          <a:solidFill>
            <a:schemeClr val="bg2"/>
          </a:solidFill>
          <a:ln w="12700">
            <a:solidFill>
              <a:schemeClr val="bg2"/>
            </a:solidFill>
            <a:prstDash val="solid"/>
          </a:ln>
        </p:spPr>
      </p:sp>
      <p:sp>
        <p:nvSpPr>
          <p:cNvPr id="15" name="Text 12"/>
          <p:cNvSpPr txBox="1"/>
          <p:nvPr/>
        </p:nvSpPr>
        <p:spPr>
          <a:xfrm>
            <a:off x="6382512" y="3977640"/>
            <a:ext cx="2286000" cy="594360"/>
          </a:xfrm>
          <a:prstGeom prst="rect">
            <a:avLst/>
          </a:prstGeom>
          <a:noFill/>
          <a:ln/>
        </p:spPr>
        <p:txBody>
          <a:bodyPr wrap="square" lIns="0" tIns="0" rIns="0" bIns="0" rtlCol="0" anchor="ctr"/>
          <a:lstStyle/>
          <a:p>
            <a:pPr algn="l" indent="0" marL="0">
              <a:buNone/>
            </a:pPr>
            <a:r>
              <a:rPr lang="en-US" sz="2800" b="1" dirty="0">
                <a:solidFill>
                  <a:schemeClr val="accent1"/>
                </a:solidFill>
              </a:rPr>
              <a:t>⅔</a:t>
            </a:r>
            <a:endParaRPr lang="en-US" sz="2800" dirty="0"/>
          </a:p>
        </p:txBody>
      </p:sp>
      <p:sp>
        <p:nvSpPr>
          <p:cNvPr id="16" name="Text 13"/>
          <p:cNvSpPr txBox="1"/>
          <p:nvPr/>
        </p:nvSpPr>
        <p:spPr>
          <a:xfrm>
            <a:off x="6382512" y="4617720"/>
            <a:ext cx="2286000" cy="1005840"/>
          </a:xfrm>
          <a:prstGeom prst="rect">
            <a:avLst/>
          </a:prstGeom>
          <a:noFill/>
          <a:ln/>
        </p:spPr>
        <p:txBody>
          <a:bodyPr wrap="square" lIns="0" tIns="0" rIns="0" bIns="0" rtlCol="0" anchor="t"/>
          <a:lstStyle/>
          <a:p>
            <a:pPr algn="l" indent="0" marL="0">
              <a:buNone/>
            </a:pPr>
            <a:r>
              <a:rPr lang="en-US" sz="1500" dirty="0">
                <a:solidFill>
                  <a:schemeClr val="tx1"/>
                </a:solidFill>
              </a:rPr>
              <a:t>der datierbaren Dokumente stammen aus 2020 oder später</a:t>
            </a:r>
            <a:endParaRPr lang="en-US" sz="1500" dirty="0"/>
          </a:p>
        </p:txBody>
      </p:sp>
      <p:sp>
        <p:nvSpPr>
          <p:cNvPr id="17" name="Befund 4"/>
          <p:cNvSpPr/>
          <p:nvPr/>
        </p:nvSpPr>
        <p:spPr>
          <a:xfrm>
            <a:off x="9006840" y="3840480"/>
            <a:ext cx="2633472" cy="1828800"/>
          </a:xfrm>
          <a:prstGeom prst="rect">
            <a:avLst/>
          </a:prstGeom>
          <a:solidFill>
            <a:schemeClr val="bg2"/>
          </a:solidFill>
          <a:ln w="12700">
            <a:solidFill>
              <a:schemeClr val="bg2"/>
            </a:solidFill>
            <a:prstDash val="solid"/>
          </a:ln>
        </p:spPr>
      </p:sp>
      <p:sp>
        <p:nvSpPr>
          <p:cNvPr id="18" name="Text 15"/>
          <p:cNvSpPr txBox="1"/>
          <p:nvPr/>
        </p:nvSpPr>
        <p:spPr>
          <a:xfrm>
            <a:off x="9189720" y="3977640"/>
            <a:ext cx="2286000" cy="594360"/>
          </a:xfrm>
          <a:prstGeom prst="rect">
            <a:avLst/>
          </a:prstGeom>
          <a:noFill/>
          <a:ln/>
        </p:spPr>
        <p:txBody>
          <a:bodyPr wrap="square" lIns="0" tIns="0" rIns="0" bIns="0" rtlCol="0" anchor="ctr"/>
          <a:lstStyle/>
          <a:p>
            <a:pPr algn="l" indent="0" marL="0">
              <a:buNone/>
            </a:pPr>
            <a:r>
              <a:rPr lang="en-US" sz="2800" b="1" dirty="0">
                <a:solidFill>
                  <a:schemeClr val="accent1"/>
                </a:solidFill>
              </a:rPr>
              <a:t>78 vs. 39 %</a:t>
            </a:r>
            <a:endParaRPr lang="en-US" sz="2800" dirty="0"/>
          </a:p>
        </p:txBody>
      </p:sp>
      <p:sp>
        <p:nvSpPr>
          <p:cNvPr id="19" name="Text 16"/>
          <p:cNvSpPr txBox="1"/>
          <p:nvPr/>
        </p:nvSpPr>
        <p:spPr>
          <a:xfrm>
            <a:off x="9189720" y="4617720"/>
            <a:ext cx="2286000" cy="1005840"/>
          </a:xfrm>
          <a:prstGeom prst="rect">
            <a:avLst/>
          </a:prstGeom>
          <a:noFill/>
          <a:ln/>
        </p:spPr>
        <p:txBody>
          <a:bodyPr wrap="square" lIns="0" tIns="0" rIns="0" bIns="0" rtlCol="0" anchor="t"/>
          <a:lstStyle/>
          <a:p>
            <a:pPr algn="l" indent="0" marL="0">
              <a:buNone/>
            </a:pPr>
            <a:r>
              <a:rPr lang="en-US" sz="1500" dirty="0">
                <a:solidFill>
                  <a:schemeClr val="tx1"/>
                </a:solidFill>
              </a:rPr>
              <a:t>Abdeckung: öffentlich-rechtliche vs. private Hochschulen</a:t>
            </a:r>
            <a:endParaRPr lang="en-US" sz="1500" dirty="0"/>
          </a:p>
        </p:txBody>
      </p:sp>
      <p:sp>
        <p:nvSpPr>
          <p:cNvPr id="20" name="Text 17"/>
          <p:cNvSpPr txBox="1"/>
          <p:nvPr/>
        </p:nvSpPr>
        <p:spPr>
          <a:xfrm>
            <a:off x="548640" y="5897880"/>
            <a:ext cx="10424160" cy="365760"/>
          </a:xfrm>
          <a:prstGeom prst="rect">
            <a:avLst/>
          </a:prstGeom>
          <a:noFill/>
          <a:ln/>
        </p:spPr>
        <p:txBody>
          <a:bodyPr wrap="square" lIns="0" tIns="0" rIns="0" bIns="0" rtlCol="0" anchor="t"/>
          <a:lstStyle/>
          <a:p>
            <a:pPr algn="l" indent="0" marL="0">
              <a:buNone/>
            </a:pPr>
            <a:r>
              <a:rPr lang="en-US" sz="1300" dirty="0">
                <a:solidFill>
                  <a:schemeClr val="accent4"/>
                </a:solidFill>
              </a:rPr>
              <a:t>Einbettung: Forschungsgruppe KIWIT (BMFTR-gefördert), Forschungsprofil A – Erhebung öffentlich zugänglicher Hochschulinformationen.</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Grenzen offen benannt – und die nächsten Schritte</a:t>
            </a:r>
            <a:endParaRPr lang="en-US" sz="2800" dirty="0"/>
          </a:p>
        </p:txBody>
      </p:sp>
      <p:sp>
        <p:nvSpPr>
          <p:cNvPr id="4" name="Kopf Grenzen"/>
          <p:cNvSpPr/>
          <p:nvPr/>
        </p:nvSpPr>
        <p:spPr>
          <a:xfrm>
            <a:off x="548640" y="1417320"/>
            <a:ext cx="5440680" cy="548640"/>
          </a:xfrm>
          <a:prstGeom prst="rect">
            <a:avLst/>
          </a:prstGeom>
          <a:solidFill>
            <a:schemeClr val="accent2"/>
          </a:solidFill>
          <a:ln w="12700">
            <a:solidFill>
              <a:schemeClr val="accent2"/>
            </a:solidFill>
            <a:prstDash val="solid"/>
          </a:ln>
        </p:spPr>
      </p:sp>
      <p:sp>
        <p:nvSpPr>
          <p:cNvPr id="5" name="Text 2"/>
          <p:cNvSpPr txBox="1"/>
          <p:nvPr/>
        </p:nvSpPr>
        <p:spPr>
          <a:xfrm>
            <a:off x="777240" y="1417320"/>
            <a:ext cx="4937760" cy="548640"/>
          </a:xfrm>
          <a:prstGeom prst="rect">
            <a:avLst/>
          </a:prstGeom>
          <a:noFill/>
          <a:ln/>
        </p:spPr>
        <p:txBody>
          <a:bodyPr wrap="square" lIns="0" tIns="0" rIns="0" bIns="0" rtlCol="0" anchor="ctr"/>
          <a:lstStyle/>
          <a:p>
            <a:pPr algn="l" indent="0" marL="0">
              <a:buNone/>
            </a:pPr>
            <a:r>
              <a:rPr lang="en-US" sz="2000" b="1" dirty="0">
                <a:solidFill>
                  <a:schemeClr val="bg1"/>
                </a:solidFill>
              </a:rPr>
              <a:t>Grenzen</a:t>
            </a:r>
            <a:endParaRPr lang="en-US" sz="2000" dirty="0"/>
          </a:p>
        </p:txBody>
      </p:sp>
      <p:sp>
        <p:nvSpPr>
          <p:cNvPr id="6" name="Liste Grenzen"/>
          <p:cNvSpPr/>
          <p:nvPr/>
        </p:nvSpPr>
        <p:spPr>
          <a:xfrm>
            <a:off x="548640" y="1965960"/>
            <a:ext cx="5440680" cy="3794760"/>
          </a:xfrm>
          <a:prstGeom prst="rect">
            <a:avLst/>
          </a:prstGeom>
          <a:solidFill>
            <a:schemeClr val="bg2"/>
          </a:solidFill>
          <a:ln w="12700">
            <a:solidFill>
              <a:schemeClr val="bg2"/>
            </a:solidFill>
            <a:prstDash val="solid"/>
          </a:ln>
        </p:spPr>
      </p:sp>
      <p:sp>
        <p:nvSpPr>
          <p:cNvPr id="7" name="Text 4"/>
          <p:cNvSpPr txBox="1"/>
          <p:nvPr/>
        </p:nvSpPr>
        <p:spPr>
          <a:xfrm>
            <a:off x="777240" y="2148840"/>
            <a:ext cx="4983480" cy="3520440"/>
          </a:xfrm>
          <a:prstGeom prst="rect">
            <a:avLst/>
          </a:prstGeom>
          <a:noFill/>
          <a:ln/>
        </p:spPr>
        <p:txBody>
          <a:bodyPr wrap="square" lIns="0" tIns="0" rIns="0" bIns="0" rtlCol="0" anchor="t"/>
          <a:lstStyle/>
          <a:p>
            <a:pPr algn="l" marL="342900" indent="-342900">
              <a:spcAft>
                <a:spcPts val="1400"/>
              </a:spcAft>
              <a:buSzPct val="100000"/>
              <a:buChar char="•"/>
            </a:pPr>
            <a:r>
              <a:rPr lang="en-US" sz="1700" dirty="0">
                <a:solidFill>
                  <a:schemeClr val="tx1"/>
                </a:solidFill>
              </a:rPr>
              <a:t>Recall: etwa 40 % des Erwartungswerts (≈ 16.300 von ≈ 40.000 laut Fachschätzung)</a:t>
            </a:r>
            <a:endParaRPr lang="en-US" sz="1700" dirty="0"/>
          </a:p>
          <a:p>
            <a:pPr algn="l" marL="342900" indent="-342900">
              <a:spcAft>
                <a:spcPts val="1400"/>
              </a:spcAft>
              <a:buSzPct val="100000"/>
              <a:buChar char="•"/>
            </a:pPr>
            <a:r>
              <a:rPr lang="en-US" sz="1700" dirty="0">
                <a:solidFill>
                  <a:schemeClr val="tx1"/>
                </a:solidFill>
              </a:rPr>
              <a:t>39 Hochschulen ohne Fund; private und Verwaltungshochschulen schwach abgedeckt</a:t>
            </a:r>
            <a:endParaRPr lang="en-US" sz="1700" dirty="0"/>
          </a:p>
          <a:p>
            <a:pPr algn="l" marL="342900" indent="-342900">
              <a:spcAft>
                <a:spcPts val="1400"/>
              </a:spcAft>
              <a:buSzPct val="100000"/>
              <a:buChar char="•"/>
            </a:pPr>
            <a:r>
              <a:rPr lang="en-US" sz="1700" dirty="0">
                <a:solidFill>
                  <a:schemeClr val="tx1"/>
                </a:solidFill>
              </a:rPr>
              <a:t>Qualität gemessen am Sprachmodell; manuelle Stichprobe klein (20 Dokumente)</a:t>
            </a:r>
            <a:endParaRPr lang="en-US" sz="1700" dirty="0"/>
          </a:p>
          <a:p>
            <a:pPr algn="l" marL="342900" indent="-342900">
              <a:spcAft>
                <a:spcPts val="1400"/>
              </a:spcAft>
              <a:buSzPct val="100000"/>
              <a:buChar char="•"/>
            </a:pPr>
            <a:r>
              <a:rPr lang="en-US" sz="1700" dirty="0">
                <a:solidFill>
                  <a:schemeClr val="tx1"/>
                </a:solidFill>
              </a:rPr>
              <a:t>OCR: hoher Aufwand, kleiner Ertrag (42 zusätzliche Treffer)</a:t>
            </a:r>
            <a:endParaRPr lang="en-US" sz="1700" dirty="0"/>
          </a:p>
        </p:txBody>
      </p:sp>
      <p:sp>
        <p:nvSpPr>
          <p:cNvPr id="8" name="Kopf Schritte"/>
          <p:cNvSpPr/>
          <p:nvPr/>
        </p:nvSpPr>
        <p:spPr>
          <a:xfrm>
            <a:off x="6199632" y="1417320"/>
            <a:ext cx="5440680" cy="548640"/>
          </a:xfrm>
          <a:prstGeom prst="rect">
            <a:avLst/>
          </a:prstGeom>
          <a:solidFill>
            <a:schemeClr val="accent3"/>
          </a:solidFill>
          <a:ln w="12700">
            <a:solidFill>
              <a:schemeClr val="accent3"/>
            </a:solidFill>
            <a:prstDash val="solid"/>
          </a:ln>
        </p:spPr>
      </p:sp>
      <p:sp>
        <p:nvSpPr>
          <p:cNvPr id="9" name="Text 6"/>
          <p:cNvSpPr txBox="1"/>
          <p:nvPr/>
        </p:nvSpPr>
        <p:spPr>
          <a:xfrm>
            <a:off x="6428232" y="1417320"/>
            <a:ext cx="4937760" cy="548640"/>
          </a:xfrm>
          <a:prstGeom prst="rect">
            <a:avLst/>
          </a:prstGeom>
          <a:noFill/>
          <a:ln/>
        </p:spPr>
        <p:txBody>
          <a:bodyPr wrap="square" lIns="0" tIns="0" rIns="0" bIns="0" rtlCol="0" anchor="ctr"/>
          <a:lstStyle/>
          <a:p>
            <a:pPr algn="l" indent="0" marL="0">
              <a:buNone/>
            </a:pPr>
            <a:r>
              <a:rPr lang="en-US" sz="2000" b="1" dirty="0">
                <a:solidFill>
                  <a:schemeClr val="bg1"/>
                </a:solidFill>
              </a:rPr>
              <a:t>Nächste Schritte</a:t>
            </a:r>
            <a:endParaRPr lang="en-US" sz="2000" dirty="0"/>
          </a:p>
        </p:txBody>
      </p:sp>
      <p:sp>
        <p:nvSpPr>
          <p:cNvPr id="10" name="Liste Schritte"/>
          <p:cNvSpPr/>
          <p:nvPr/>
        </p:nvSpPr>
        <p:spPr>
          <a:xfrm>
            <a:off x="6199632" y="1965960"/>
            <a:ext cx="5440680" cy="3794760"/>
          </a:xfrm>
          <a:prstGeom prst="rect">
            <a:avLst/>
          </a:prstGeom>
          <a:solidFill>
            <a:schemeClr val="bg2"/>
          </a:solidFill>
          <a:ln w="12700">
            <a:solidFill>
              <a:schemeClr val="bg2"/>
            </a:solidFill>
            <a:prstDash val="solid"/>
          </a:ln>
        </p:spPr>
      </p:sp>
      <p:sp>
        <p:nvSpPr>
          <p:cNvPr id="11" name="Text 8"/>
          <p:cNvSpPr txBox="1"/>
          <p:nvPr/>
        </p:nvSpPr>
        <p:spPr>
          <a:xfrm>
            <a:off x="6428232" y="2148840"/>
            <a:ext cx="4983480" cy="3520440"/>
          </a:xfrm>
          <a:prstGeom prst="rect">
            <a:avLst/>
          </a:prstGeom>
          <a:noFill/>
          <a:ln/>
        </p:spPr>
        <p:txBody>
          <a:bodyPr wrap="square" lIns="0" tIns="0" rIns="0" bIns="0" rtlCol="0" anchor="t"/>
          <a:lstStyle/>
          <a:p>
            <a:pPr algn="l" marL="342900" indent="-342900">
              <a:spcAft>
                <a:spcPts val="1400"/>
              </a:spcAft>
              <a:buSzPct val="100000"/>
              <a:buChar char="•"/>
            </a:pPr>
            <a:r>
              <a:rPr lang="en-US" sz="1700" b="1" dirty="0">
                <a:solidFill>
                  <a:schemeClr val="tx1"/>
                </a:solidFill>
              </a:rPr>
              <a:t>Bachelorarbeit: </a:t>
            </a:r>
            <a:pPr algn="l" indent="0" marL="0">
              <a:spcAft>
                <a:spcPts val="1400"/>
              </a:spcAft>
              <a:buNone/>
            </a:pPr>
            <a:r>
              <a:rPr lang="en-US" sz="1700" dirty="0">
                <a:solidFill>
                  <a:schemeClr val="tx1"/>
                </a:solidFill>
              </a:rPr>
              <a:t>KI-Richtlinien der Hochschulen mit neuem Extraktionsprofil erheben</a:t>
            </a:r>
            <a:endParaRPr lang="en-US" sz="1700" dirty="0"/>
          </a:p>
          <a:p>
            <a:pPr algn="l" marL="342900" indent="-342900">
              <a:spcAft>
                <a:spcPts val="1400"/>
              </a:spcAft>
              <a:buSzPct val="100000"/>
              <a:buChar char="•"/>
            </a:pPr>
            <a:r>
              <a:rPr lang="en-US" sz="1700" b="1" dirty="0">
                <a:solidFill>
                  <a:schemeClr val="tx1"/>
                </a:solidFill>
              </a:rPr>
              <a:t>Inhalte erschließen: </a:t>
            </a:r>
            <a:pPr algn="l" indent="0" marL="0">
              <a:spcAft>
                <a:spcPts val="1400"/>
              </a:spcAft>
              <a:buNone/>
            </a:pPr>
            <a:r>
              <a:rPr lang="en-US" sz="1700" dirty="0">
                <a:solidFill>
                  <a:schemeClr val="tx1"/>
                </a:solidFill>
              </a:rPr>
              <a:t>Module, ECTS, Lernziele und Prüfungsformen strukturiert auslesen</a:t>
            </a:r>
            <a:endParaRPr lang="en-US" sz="1700" dirty="0"/>
          </a:p>
          <a:p>
            <a:pPr algn="l" marL="342900" indent="-342900">
              <a:spcAft>
                <a:spcPts val="1400"/>
              </a:spcAft>
              <a:buSzPct val="100000"/>
              <a:buChar char="•"/>
            </a:pPr>
            <a:r>
              <a:rPr lang="en-US" sz="1700" b="1" dirty="0">
                <a:solidFill>
                  <a:schemeClr val="tx1"/>
                </a:solidFill>
              </a:rPr>
              <a:t>Recall verbessern: </a:t>
            </a:r>
            <a:pPr algn="l" indent="0" marL="0">
              <a:spcAft>
                <a:spcPts val="1400"/>
              </a:spcAft>
              <a:buNone/>
            </a:pPr>
            <a:r>
              <a:rPr lang="en-US" sz="1700" dirty="0">
                <a:solidFill>
                  <a:schemeClr val="tx1"/>
                </a:solidFill>
              </a:rPr>
              <a:t>JavaScript-Portale, Nachtraining mit 34.000 Urteilen, höhere Schwelle</a:t>
            </a:r>
            <a:endParaRPr lang="en-US" sz="1700" dirty="0"/>
          </a:p>
          <a:p>
            <a:pPr algn="l" marL="342900" indent="-342900">
              <a:spcAft>
                <a:spcPts val="1400"/>
              </a:spcAft>
              <a:buSzPct val="100000"/>
              <a:buChar char="•"/>
            </a:pPr>
            <a:r>
              <a:rPr lang="en-US" sz="1700" b="1" dirty="0">
                <a:solidFill>
                  <a:schemeClr val="tx1"/>
                </a:solidFill>
              </a:rPr>
              <a:t>Betrieb: </a:t>
            </a:r>
            <a:pPr algn="l" indent="0" marL="0">
              <a:spcAft>
                <a:spcPts val="1400"/>
              </a:spcAft>
              <a:buNone/>
            </a:pPr>
            <a:r>
              <a:rPr lang="en-US" sz="1700" dirty="0">
                <a:solidFill>
                  <a:schemeClr val="tx1"/>
                </a:solidFill>
              </a:rPr>
              <a:t>Webapp nur bei Bedarf, Datensatz für Folgeprojekte bereitstellen</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Fazit: Aus einem Prototyp wurde eine Forschungsinfrastruktur</a:t>
            </a:r>
            <a:endParaRPr lang="en-US" sz="2800" dirty="0"/>
          </a:p>
        </p:txBody>
      </p:sp>
      <p:sp>
        <p:nvSpPr>
          <p:cNvPr id="4" name="Fazit 1"/>
          <p:cNvSpPr/>
          <p:nvPr/>
        </p:nvSpPr>
        <p:spPr>
          <a:xfrm>
            <a:off x="548640" y="1417320"/>
            <a:ext cx="3520440" cy="3291840"/>
          </a:xfrm>
          <a:prstGeom prst="rect">
            <a:avLst/>
          </a:prstGeom>
          <a:solidFill>
            <a:schemeClr val="bg2"/>
          </a:solidFill>
          <a:ln w="12700">
            <a:solidFill>
              <a:schemeClr val="bg2"/>
            </a:solidFill>
            <a:prstDash val="solid"/>
          </a:ln>
        </p:spPr>
      </p:sp>
      <p:sp>
        <p:nvSpPr>
          <p:cNvPr id="5" name="Text 2"/>
          <p:cNvSpPr txBox="1"/>
          <p:nvPr/>
        </p:nvSpPr>
        <p:spPr>
          <a:xfrm>
            <a:off x="822960" y="1600200"/>
            <a:ext cx="914400" cy="731520"/>
          </a:xfrm>
          <a:prstGeom prst="rect">
            <a:avLst/>
          </a:prstGeom>
          <a:noFill/>
          <a:ln/>
        </p:spPr>
        <p:txBody>
          <a:bodyPr wrap="square" lIns="0" tIns="0" rIns="0" bIns="0" rtlCol="0" anchor="t"/>
          <a:lstStyle/>
          <a:p>
            <a:pPr algn="l" indent="0" marL="0">
              <a:buNone/>
            </a:pPr>
            <a:r>
              <a:rPr lang="en-US" sz="4000" b="1" dirty="0">
                <a:solidFill>
                  <a:schemeClr val="accent1"/>
                </a:solidFill>
              </a:rPr>
              <a:t>1</a:t>
            </a:r>
            <a:endParaRPr lang="en-US" sz="4000" dirty="0"/>
          </a:p>
        </p:txBody>
      </p:sp>
      <p:sp>
        <p:nvSpPr>
          <p:cNvPr id="6" name="Text 3"/>
          <p:cNvSpPr txBox="1"/>
          <p:nvPr/>
        </p:nvSpPr>
        <p:spPr>
          <a:xfrm>
            <a:off x="822960" y="2423160"/>
            <a:ext cx="2971800" cy="457200"/>
          </a:xfrm>
          <a:prstGeom prst="rect">
            <a:avLst/>
          </a:prstGeom>
          <a:noFill/>
          <a:ln/>
        </p:spPr>
        <p:txBody>
          <a:bodyPr wrap="square" lIns="0" tIns="0" rIns="0" bIns="0" rtlCol="0" anchor="t"/>
          <a:lstStyle/>
          <a:p>
            <a:pPr algn="l" indent="0" marL="0">
              <a:buNone/>
            </a:pPr>
            <a:r>
              <a:rPr lang="en-US" sz="2000" b="1" dirty="0">
                <a:solidFill>
                  <a:schemeClr val="tx2"/>
                </a:solidFill>
              </a:rPr>
              <a:t>Plattform statt Skript</a:t>
            </a:r>
            <a:endParaRPr lang="en-US" sz="2000" dirty="0"/>
          </a:p>
        </p:txBody>
      </p:sp>
      <p:sp>
        <p:nvSpPr>
          <p:cNvPr id="7" name="Text 4"/>
          <p:cNvSpPr txBox="1"/>
          <p:nvPr/>
        </p:nvSpPr>
        <p:spPr>
          <a:xfrm>
            <a:off x="822960" y="2971800"/>
            <a:ext cx="2971800" cy="1645920"/>
          </a:xfrm>
          <a:prstGeom prst="rect">
            <a:avLst/>
          </a:prstGeom>
          <a:noFill/>
          <a:ln/>
        </p:spPr>
        <p:txBody>
          <a:bodyPr wrap="square" lIns="0" tIns="0" rIns="0" bIns="0" rtlCol="0" anchor="t"/>
          <a:lstStyle/>
          <a:p>
            <a:pPr algn="l" indent="0" marL="0">
              <a:buNone/>
            </a:pPr>
            <a:r>
              <a:rPr lang="en-US" sz="1700" dirty="0">
                <a:solidFill>
                  <a:schemeClr val="tx1"/>
                </a:solidFill>
              </a:rPr>
              <a:t>404 Hochschulen, 164.396 PDFs, ≈ 18.600 geprüfte Modulhandbücher – für 155 $ Cloud-Kosten.</a:t>
            </a:r>
            <a:endParaRPr lang="en-US" sz="1700" dirty="0"/>
          </a:p>
        </p:txBody>
      </p:sp>
      <p:sp>
        <p:nvSpPr>
          <p:cNvPr id="8" name="Fazit 2"/>
          <p:cNvSpPr/>
          <p:nvPr/>
        </p:nvSpPr>
        <p:spPr>
          <a:xfrm>
            <a:off x="4334256" y="1417320"/>
            <a:ext cx="3520440" cy="3291840"/>
          </a:xfrm>
          <a:prstGeom prst="rect">
            <a:avLst/>
          </a:prstGeom>
          <a:solidFill>
            <a:schemeClr val="bg2"/>
          </a:solidFill>
          <a:ln w="12700">
            <a:solidFill>
              <a:schemeClr val="bg2"/>
            </a:solidFill>
            <a:prstDash val="solid"/>
          </a:ln>
        </p:spPr>
      </p:sp>
      <p:sp>
        <p:nvSpPr>
          <p:cNvPr id="9" name="Text 6"/>
          <p:cNvSpPr txBox="1"/>
          <p:nvPr/>
        </p:nvSpPr>
        <p:spPr>
          <a:xfrm>
            <a:off x="4608576" y="1600200"/>
            <a:ext cx="914400" cy="731520"/>
          </a:xfrm>
          <a:prstGeom prst="rect">
            <a:avLst/>
          </a:prstGeom>
          <a:noFill/>
          <a:ln/>
        </p:spPr>
        <p:txBody>
          <a:bodyPr wrap="square" lIns="0" tIns="0" rIns="0" bIns="0" rtlCol="0" anchor="t"/>
          <a:lstStyle/>
          <a:p>
            <a:pPr algn="l" indent="0" marL="0">
              <a:buNone/>
            </a:pPr>
            <a:r>
              <a:rPr lang="en-US" sz="4000" b="1" dirty="0">
                <a:solidFill>
                  <a:schemeClr val="accent1"/>
                </a:solidFill>
              </a:rPr>
              <a:t>2</a:t>
            </a:r>
            <a:endParaRPr lang="en-US" sz="4000" dirty="0"/>
          </a:p>
        </p:txBody>
      </p:sp>
      <p:sp>
        <p:nvSpPr>
          <p:cNvPr id="10" name="Text 7"/>
          <p:cNvSpPr txBox="1"/>
          <p:nvPr/>
        </p:nvSpPr>
        <p:spPr>
          <a:xfrm>
            <a:off x="4608576" y="2423160"/>
            <a:ext cx="2971800" cy="457200"/>
          </a:xfrm>
          <a:prstGeom prst="rect">
            <a:avLst/>
          </a:prstGeom>
          <a:noFill/>
          <a:ln/>
        </p:spPr>
        <p:txBody>
          <a:bodyPr wrap="square" lIns="0" tIns="0" rIns="0" bIns="0" rtlCol="0" anchor="t"/>
          <a:lstStyle/>
          <a:p>
            <a:pPr algn="l" indent="0" marL="0">
              <a:buNone/>
            </a:pPr>
            <a:r>
              <a:rPr lang="en-US" sz="2000" b="1" dirty="0">
                <a:solidFill>
                  <a:schemeClr val="tx2"/>
                </a:solidFill>
              </a:rPr>
              <a:t>Zwei Stufen wirken</a:t>
            </a:r>
            <a:endParaRPr lang="en-US" sz="2000" dirty="0"/>
          </a:p>
        </p:txBody>
      </p:sp>
      <p:sp>
        <p:nvSpPr>
          <p:cNvPr id="11" name="Text 8"/>
          <p:cNvSpPr txBox="1"/>
          <p:nvPr/>
        </p:nvSpPr>
        <p:spPr>
          <a:xfrm>
            <a:off x="4608576" y="2971800"/>
            <a:ext cx="2971800" cy="1645920"/>
          </a:xfrm>
          <a:prstGeom prst="rect">
            <a:avLst/>
          </a:prstGeom>
          <a:noFill/>
          <a:ln/>
        </p:spPr>
        <p:txBody>
          <a:bodyPr wrap="square" lIns="0" tIns="0" rIns="0" bIns="0" rtlCol="0" anchor="t"/>
          <a:lstStyle/>
          <a:p>
            <a:pPr algn="l" indent="0" marL="0">
              <a:buNone/>
            </a:pPr>
            <a:r>
              <a:rPr lang="en-US" sz="1700" dirty="0">
                <a:solidFill>
                  <a:schemeClr val="tx1"/>
                </a:solidFill>
              </a:rPr>
              <a:t>Training ist nicht Praxis: ML-Modell plus Sprachmodell hebt die Precision von 25–82 % auf ≈ 98 %.</a:t>
            </a:r>
            <a:endParaRPr lang="en-US" sz="1700" dirty="0"/>
          </a:p>
        </p:txBody>
      </p:sp>
      <p:sp>
        <p:nvSpPr>
          <p:cNvPr id="12" name="Fazit 3"/>
          <p:cNvSpPr/>
          <p:nvPr/>
        </p:nvSpPr>
        <p:spPr>
          <a:xfrm>
            <a:off x="8119872" y="1417320"/>
            <a:ext cx="3520440" cy="3291840"/>
          </a:xfrm>
          <a:prstGeom prst="rect">
            <a:avLst/>
          </a:prstGeom>
          <a:solidFill>
            <a:schemeClr val="bg2"/>
          </a:solidFill>
          <a:ln w="12700">
            <a:solidFill>
              <a:schemeClr val="bg2"/>
            </a:solidFill>
            <a:prstDash val="solid"/>
          </a:ln>
        </p:spPr>
      </p:sp>
      <p:sp>
        <p:nvSpPr>
          <p:cNvPr id="13" name="Text 10"/>
          <p:cNvSpPr txBox="1"/>
          <p:nvPr/>
        </p:nvSpPr>
        <p:spPr>
          <a:xfrm>
            <a:off x="8394192" y="1600200"/>
            <a:ext cx="914400" cy="731520"/>
          </a:xfrm>
          <a:prstGeom prst="rect">
            <a:avLst/>
          </a:prstGeom>
          <a:noFill/>
          <a:ln/>
        </p:spPr>
        <p:txBody>
          <a:bodyPr wrap="square" lIns="0" tIns="0" rIns="0" bIns="0" rtlCol="0" anchor="t"/>
          <a:lstStyle/>
          <a:p>
            <a:pPr algn="l" indent="0" marL="0">
              <a:buNone/>
            </a:pPr>
            <a:r>
              <a:rPr lang="en-US" sz="4000" b="1" dirty="0">
                <a:solidFill>
                  <a:schemeClr val="accent1"/>
                </a:solidFill>
              </a:rPr>
              <a:t>3</a:t>
            </a:r>
            <a:endParaRPr lang="en-US" sz="4000" dirty="0"/>
          </a:p>
        </p:txBody>
      </p:sp>
      <p:sp>
        <p:nvSpPr>
          <p:cNvPr id="14" name="Text 11"/>
          <p:cNvSpPr txBox="1"/>
          <p:nvPr/>
        </p:nvSpPr>
        <p:spPr>
          <a:xfrm>
            <a:off x="8394192" y="2423160"/>
            <a:ext cx="2971800" cy="457200"/>
          </a:xfrm>
          <a:prstGeom prst="rect">
            <a:avLst/>
          </a:prstGeom>
          <a:noFill/>
          <a:ln/>
        </p:spPr>
        <p:txBody>
          <a:bodyPr wrap="square" lIns="0" tIns="0" rIns="0" bIns="0" rtlCol="0" anchor="t"/>
          <a:lstStyle/>
          <a:p>
            <a:pPr algn="l" indent="0" marL="0">
              <a:buNone/>
            </a:pPr>
            <a:r>
              <a:rPr lang="en-US" sz="2000" b="1" dirty="0">
                <a:solidFill>
                  <a:schemeClr val="tx2"/>
                </a:solidFill>
              </a:rPr>
              <a:t>Wiederverwendbar</a:t>
            </a:r>
            <a:endParaRPr lang="en-US" sz="2000" dirty="0"/>
          </a:p>
        </p:txBody>
      </p:sp>
      <p:sp>
        <p:nvSpPr>
          <p:cNvPr id="15" name="Text 12"/>
          <p:cNvSpPr txBox="1"/>
          <p:nvPr/>
        </p:nvSpPr>
        <p:spPr>
          <a:xfrm>
            <a:off x="8394192" y="2971800"/>
            <a:ext cx="2971800" cy="1645920"/>
          </a:xfrm>
          <a:prstGeom prst="rect">
            <a:avLst/>
          </a:prstGeom>
          <a:noFill/>
          <a:ln/>
        </p:spPr>
        <p:txBody>
          <a:bodyPr wrap="square" lIns="0" tIns="0" rIns="0" bIns="0" rtlCol="0" anchor="t"/>
          <a:lstStyle/>
          <a:p>
            <a:pPr algn="l" indent="0" marL="0">
              <a:buNone/>
            </a:pPr>
            <a:r>
              <a:rPr lang="en-US" sz="1700" dirty="0">
                <a:solidFill>
                  <a:schemeClr val="tx1"/>
                </a:solidFill>
              </a:rPr>
              <a:t>Datenbasis und Plattform tragen Forschung, Lehre und Folgeprojekte – KI-Richtlinien sind der nächste Anwendungsfall.</a:t>
            </a:r>
            <a:endParaRPr lang="en-US" sz="1700" dirty="0"/>
          </a:p>
        </p:txBody>
      </p:sp>
      <p:sp>
        <p:nvSpPr>
          <p:cNvPr id="16" name="Text 13"/>
          <p:cNvSpPr txBox="1"/>
          <p:nvPr/>
        </p:nvSpPr>
        <p:spPr>
          <a:xfrm>
            <a:off x="548640" y="5166360"/>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Vielen Dank – wir freuen uns auf Ihre Fragen.</a:t>
            </a: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lIns="0" tIns="0" rIns="0" bIns="0" rtlCol="0" anchor="b"/>
          <a:lstStyle/>
          <a:p>
            <a:pPr algn="l" indent="0" marL="0">
              <a:buNone/>
            </a:pPr>
            <a:r>
              <a:rPr lang="en-US" sz="4000" b="1" dirty="0">
                <a:solidFill>
                  <a:schemeClr val="bg1"/>
                </a:solidFill>
              </a:rPr>
              <a:t>Anhang / Backup</a:t>
            </a:r>
            <a:endParaRPr lang="en-US" sz="4000" dirty="0"/>
          </a:p>
        </p:txBody>
      </p:sp>
      <p:sp>
        <p:nvSpPr>
          <p:cNvPr id="3" name="Text 0"/>
          <p:cNvSpPr/>
          <p:nvPr>
            <p:ph idx="101" type="body" hasCustomPrompt="1"/>
          </p:nvPr>
        </p:nvSpPr>
        <p:spPr>
          <a:xfrm>
            <a:off x="731520" y="3977640"/>
            <a:ext cx="10698480" cy="1371600"/>
          </a:xfrm>
          <a:prstGeom prst="rect">
            <a:avLst/>
          </a:prstGeom>
          <a:noFill/>
          <a:ln/>
        </p:spPr>
        <p:txBody>
          <a:bodyPr wrap="square" lIns="0" tIns="0" rIns="0" bIns="0" rtlCol="0" anchor="t"/>
          <a:lstStyle/>
          <a:p>
            <a:pPr algn="l" indent="0" marL="0">
              <a:buNone/>
            </a:pPr>
            <a:r>
              <a:rPr lang="en-US" sz="2000" dirty="0">
                <a:solidFill>
                  <a:schemeClr val="bg2"/>
                </a:solidFill>
              </a:rPr>
              <a:t>Gesamtarchitektur · Manifest und Metadaten · ML-Modell · Sprachmodell-Stufe · Modularität · Discovery · Recht und Betrieb · Evaluation · FAQ · Fehlerarten · Abdeckung · Kosten · Projektverlauf · Glossar</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Gesamtarchitektur (vereinfacht)</a:t>
            </a:r>
            <a:endParaRPr lang="en-US" sz="2800" dirty="0"/>
          </a:p>
        </p:txBody>
      </p:sp>
      <p:sp>
        <p:nvSpPr>
          <p:cNvPr id="4" name="Lane Steuerung · EC2 (immer an)"/>
          <p:cNvSpPr/>
          <p:nvPr/>
        </p:nvSpPr>
        <p:spPr>
          <a:xfrm>
            <a:off x="457200" y="1280160"/>
            <a:ext cx="3200400" cy="3291840"/>
          </a:xfrm>
          <a:prstGeom prst="rect">
            <a:avLst/>
          </a:prstGeom>
          <a:solidFill>
            <a:schemeClr val="bg2"/>
          </a:solidFill>
          <a:ln w="12700">
            <a:solidFill>
              <a:schemeClr val="bg2"/>
            </a:solidFill>
            <a:prstDash val="solid"/>
          </a:ln>
        </p:spPr>
      </p:sp>
      <p:sp>
        <p:nvSpPr>
          <p:cNvPr id="5" name="Text 2"/>
          <p:cNvSpPr txBox="1"/>
          <p:nvPr/>
        </p:nvSpPr>
        <p:spPr>
          <a:xfrm>
            <a:off x="640080" y="1353312"/>
            <a:ext cx="2834640" cy="320040"/>
          </a:xfrm>
          <a:prstGeom prst="rect">
            <a:avLst/>
          </a:prstGeom>
          <a:noFill/>
          <a:ln/>
        </p:spPr>
        <p:txBody>
          <a:bodyPr wrap="square" lIns="0" tIns="0" rIns="0" bIns="0" rtlCol="0" anchor="t"/>
          <a:lstStyle/>
          <a:p>
            <a:pPr algn="l" indent="0" marL="0">
              <a:buNone/>
            </a:pPr>
            <a:r>
              <a:rPr lang="en-US" sz="1400" b="1" dirty="0">
                <a:solidFill>
                  <a:schemeClr val="tx2"/>
                </a:solidFill>
              </a:rPr>
              <a:t>Steuerung · EC2 (immer an)</a:t>
            </a:r>
            <a:endParaRPr lang="en-US" sz="1400" dirty="0"/>
          </a:p>
        </p:txBody>
      </p:sp>
      <p:sp>
        <p:nvSpPr>
          <p:cNvPr id="6" name="Lane Last · nur bei Bedarf (AWS)"/>
          <p:cNvSpPr/>
          <p:nvPr/>
        </p:nvSpPr>
        <p:spPr>
          <a:xfrm>
            <a:off x="4206240" y="1280160"/>
            <a:ext cx="3657600" cy="3154680"/>
          </a:xfrm>
          <a:prstGeom prst="rect">
            <a:avLst/>
          </a:prstGeom>
          <a:solidFill>
            <a:schemeClr val="bg2"/>
          </a:solidFill>
          <a:ln w="12700">
            <a:solidFill>
              <a:schemeClr val="bg2"/>
            </a:solidFill>
            <a:prstDash val="solid"/>
          </a:ln>
        </p:spPr>
      </p:sp>
      <p:sp>
        <p:nvSpPr>
          <p:cNvPr id="7" name="Text 4"/>
          <p:cNvSpPr txBox="1"/>
          <p:nvPr/>
        </p:nvSpPr>
        <p:spPr>
          <a:xfrm>
            <a:off x="4389120" y="1353312"/>
            <a:ext cx="3291840" cy="320040"/>
          </a:xfrm>
          <a:prstGeom prst="rect">
            <a:avLst/>
          </a:prstGeom>
          <a:noFill/>
          <a:ln/>
        </p:spPr>
        <p:txBody>
          <a:bodyPr wrap="square" lIns="0" tIns="0" rIns="0" bIns="0" rtlCol="0" anchor="t"/>
          <a:lstStyle/>
          <a:p>
            <a:pPr algn="l" indent="0" marL="0">
              <a:buNone/>
            </a:pPr>
            <a:r>
              <a:rPr lang="en-US" sz="1400" b="1" dirty="0">
                <a:solidFill>
                  <a:schemeClr val="tx2"/>
                </a:solidFill>
              </a:rPr>
              <a:t>Last · nur bei Bedarf (AWS)</a:t>
            </a:r>
            <a:endParaRPr lang="en-US" sz="1400" dirty="0"/>
          </a:p>
        </p:txBody>
      </p:sp>
      <p:sp>
        <p:nvSpPr>
          <p:cNvPr id="8" name="Lane Zustand · geteilt"/>
          <p:cNvSpPr/>
          <p:nvPr/>
        </p:nvSpPr>
        <p:spPr>
          <a:xfrm>
            <a:off x="8412480" y="1280160"/>
            <a:ext cx="3319272" cy="2423160"/>
          </a:xfrm>
          <a:prstGeom prst="rect">
            <a:avLst/>
          </a:prstGeom>
          <a:solidFill>
            <a:schemeClr val="accent5"/>
          </a:solidFill>
          <a:ln w="12700">
            <a:solidFill>
              <a:schemeClr val="accent5"/>
            </a:solidFill>
            <a:prstDash val="solid"/>
          </a:ln>
        </p:spPr>
      </p:sp>
      <p:sp>
        <p:nvSpPr>
          <p:cNvPr id="9" name="Text 6"/>
          <p:cNvSpPr txBox="1"/>
          <p:nvPr/>
        </p:nvSpPr>
        <p:spPr>
          <a:xfrm>
            <a:off x="8595360" y="1353312"/>
            <a:ext cx="2953512" cy="320040"/>
          </a:xfrm>
          <a:prstGeom prst="rect">
            <a:avLst/>
          </a:prstGeom>
          <a:noFill/>
          <a:ln/>
        </p:spPr>
        <p:txBody>
          <a:bodyPr wrap="square" lIns="0" tIns="0" rIns="0" bIns="0" rtlCol="0" anchor="t"/>
          <a:lstStyle/>
          <a:p>
            <a:pPr algn="l" indent="0" marL="0">
              <a:buNone/>
            </a:pPr>
            <a:r>
              <a:rPr lang="en-US" sz="1400" b="1" dirty="0">
                <a:solidFill>
                  <a:schemeClr val="tx2"/>
                </a:solidFill>
              </a:rPr>
              <a:t>Zustand · geteilt</a:t>
            </a:r>
            <a:endParaRPr lang="en-US" sz="1400" dirty="0"/>
          </a:p>
        </p:txBody>
      </p:sp>
      <p:sp>
        <p:nvSpPr>
          <p:cNvPr id="10" name="Lane Nachbearbeitung · Batch"/>
          <p:cNvSpPr/>
          <p:nvPr/>
        </p:nvSpPr>
        <p:spPr>
          <a:xfrm>
            <a:off x="8412480" y="3931920"/>
            <a:ext cx="3319272" cy="1645920"/>
          </a:xfrm>
          <a:prstGeom prst="rect">
            <a:avLst/>
          </a:prstGeom>
          <a:solidFill>
            <a:schemeClr val="bg2"/>
          </a:solidFill>
          <a:ln w="12700">
            <a:solidFill>
              <a:schemeClr val="bg2"/>
            </a:solidFill>
            <a:prstDash val="solid"/>
          </a:ln>
        </p:spPr>
      </p:sp>
      <p:sp>
        <p:nvSpPr>
          <p:cNvPr id="11" name="Text 8"/>
          <p:cNvSpPr txBox="1"/>
          <p:nvPr/>
        </p:nvSpPr>
        <p:spPr>
          <a:xfrm>
            <a:off x="8595360" y="4005072"/>
            <a:ext cx="2953512" cy="320040"/>
          </a:xfrm>
          <a:prstGeom prst="rect">
            <a:avLst/>
          </a:prstGeom>
          <a:noFill/>
          <a:ln/>
        </p:spPr>
        <p:txBody>
          <a:bodyPr wrap="square" lIns="0" tIns="0" rIns="0" bIns="0" rtlCol="0" anchor="t"/>
          <a:lstStyle/>
          <a:p>
            <a:pPr algn="l" indent="0" marL="0">
              <a:buNone/>
            </a:pPr>
            <a:r>
              <a:rPr lang="en-US" sz="1400" b="1" dirty="0">
                <a:solidFill>
                  <a:schemeClr val="tx2"/>
                </a:solidFill>
              </a:rPr>
              <a:t>Nachbearbeitung · Batch</a:t>
            </a:r>
            <a:endParaRPr lang="en-US" sz="1400" dirty="0"/>
          </a:p>
        </p:txBody>
      </p:sp>
      <p:sp>
        <p:nvSpPr>
          <p:cNvPr id="12" name="Knoten Nutzer im Browser"/>
          <p:cNvSpPr/>
          <p:nvPr/>
        </p:nvSpPr>
        <p:spPr>
          <a:xfrm>
            <a:off x="640080" y="1737360"/>
            <a:ext cx="2834640" cy="502920"/>
          </a:xfrm>
          <a:prstGeom prst="rect">
            <a:avLst/>
          </a:prstGeom>
          <a:solidFill>
            <a:schemeClr val="bg1"/>
          </a:solidFill>
          <a:ln w="12700">
            <a:solidFill>
              <a:schemeClr val="bg1"/>
            </a:solidFill>
            <a:prstDash val="solid"/>
          </a:ln>
        </p:spPr>
      </p:sp>
      <p:sp>
        <p:nvSpPr>
          <p:cNvPr id="13" name="Text 10"/>
          <p:cNvSpPr txBox="1"/>
          <p:nvPr/>
        </p:nvSpPr>
        <p:spPr>
          <a:xfrm>
            <a:off x="731520" y="1737360"/>
            <a:ext cx="2651760" cy="502920"/>
          </a:xfrm>
          <a:prstGeom prst="rect">
            <a:avLst/>
          </a:prstGeom>
          <a:noFill/>
          <a:ln/>
        </p:spPr>
        <p:txBody>
          <a:bodyPr wrap="square" lIns="0" tIns="0" rIns="0" bIns="0" rtlCol="0" anchor="ctr"/>
          <a:lstStyle/>
          <a:p>
            <a:pPr algn="ctr" indent="0" marL="0">
              <a:buNone/>
            </a:pPr>
            <a:r>
              <a:rPr lang="en-US" sz="1400" dirty="0">
                <a:solidFill>
                  <a:schemeClr val="tx1"/>
                </a:solidFill>
              </a:rPr>
              <a:t>Nutzer im Browser</a:t>
            </a:r>
            <a:endParaRPr lang="en-US" sz="1400" dirty="0"/>
          </a:p>
        </p:txBody>
      </p:sp>
      <p:sp>
        <p:nvSpPr>
          <p:cNvPr id="14" name="Knoten Webapp (FastAPI)"/>
          <p:cNvSpPr/>
          <p:nvPr/>
        </p:nvSpPr>
        <p:spPr>
          <a:xfrm>
            <a:off x="640080" y="2468880"/>
            <a:ext cx="2834640" cy="685800"/>
          </a:xfrm>
          <a:prstGeom prst="rect">
            <a:avLst/>
          </a:prstGeom>
          <a:solidFill>
            <a:schemeClr val="accent1"/>
          </a:solidFill>
          <a:ln w="12700">
            <a:solidFill>
              <a:schemeClr val="accent1"/>
            </a:solidFill>
            <a:prstDash val="solid"/>
          </a:ln>
        </p:spPr>
      </p:sp>
      <p:sp>
        <p:nvSpPr>
          <p:cNvPr id="15" name="Text 12"/>
          <p:cNvSpPr txBox="1"/>
          <p:nvPr/>
        </p:nvSpPr>
        <p:spPr>
          <a:xfrm>
            <a:off x="731520" y="2468880"/>
            <a:ext cx="2651760" cy="685800"/>
          </a:xfrm>
          <a:prstGeom prst="rect">
            <a:avLst/>
          </a:prstGeom>
          <a:noFill/>
          <a:ln/>
        </p:spPr>
        <p:txBody>
          <a:bodyPr wrap="square" lIns="0" tIns="0" rIns="0" bIns="0" rtlCol="0" anchor="ctr"/>
          <a:lstStyle/>
          <a:p>
            <a:pPr algn="ctr" indent="0" marL="0">
              <a:buNone/>
            </a:pPr>
            <a:r>
              <a:rPr lang="en-US" sz="1400" b="1" dirty="0">
                <a:solidFill>
                  <a:schemeClr val="bg1"/>
                </a:solidFill>
              </a:rPr>
              <a:t>Webapp (FastAPI)</a:t>
            </a:r>
            <a:endParaRPr lang="en-US" sz="1400" dirty="0"/>
          </a:p>
          <a:p>
            <a:pPr algn="ctr" indent="0" marL="0">
              <a:buNone/>
            </a:pPr>
            <a:r>
              <a:rPr lang="en-US" sz="1400" b="1" dirty="0">
                <a:solidFill>
                  <a:schemeClr val="bg1"/>
                </a:solidFill>
              </a:rPr>
              <a:t>HTTPS über Caddy</a:t>
            </a:r>
            <a:endParaRPr lang="en-US" sz="1400" dirty="0"/>
          </a:p>
        </p:txBody>
      </p:sp>
      <p:sp>
        <p:nvSpPr>
          <p:cNvPr id="16" name="Knoten SQLite: Nutzer, Rollen, Modelle"/>
          <p:cNvSpPr/>
          <p:nvPr/>
        </p:nvSpPr>
        <p:spPr>
          <a:xfrm>
            <a:off x="640080" y="3383280"/>
            <a:ext cx="2834640" cy="502920"/>
          </a:xfrm>
          <a:prstGeom prst="rect">
            <a:avLst/>
          </a:prstGeom>
          <a:solidFill>
            <a:schemeClr val="bg1"/>
          </a:solidFill>
          <a:ln w="12700">
            <a:solidFill>
              <a:schemeClr val="bg1"/>
            </a:solidFill>
            <a:prstDash val="solid"/>
          </a:ln>
        </p:spPr>
      </p:sp>
      <p:sp>
        <p:nvSpPr>
          <p:cNvPr id="17" name="Text 14"/>
          <p:cNvSpPr txBox="1"/>
          <p:nvPr/>
        </p:nvSpPr>
        <p:spPr>
          <a:xfrm>
            <a:off x="731520" y="3383280"/>
            <a:ext cx="2651760" cy="502920"/>
          </a:xfrm>
          <a:prstGeom prst="rect">
            <a:avLst/>
          </a:prstGeom>
          <a:noFill/>
          <a:ln/>
        </p:spPr>
        <p:txBody>
          <a:bodyPr wrap="square" lIns="0" tIns="0" rIns="0" bIns="0" rtlCol="0" anchor="ctr"/>
          <a:lstStyle/>
          <a:p>
            <a:pPr algn="ctr" indent="0" marL="0">
              <a:buNone/>
            </a:pPr>
            <a:r>
              <a:rPr lang="en-US" sz="1400" dirty="0">
                <a:solidFill>
                  <a:schemeClr val="tx1"/>
                </a:solidFill>
              </a:rPr>
              <a:t>SQLite: Nutzer, Rollen, Modelle</a:t>
            </a:r>
            <a:endParaRPr lang="en-US" sz="1400" dirty="0"/>
          </a:p>
        </p:txBody>
      </p:sp>
      <p:sp>
        <p:nvSpPr>
          <p:cNvPr id="18" name="Knoten Review-Oberfläche"/>
          <p:cNvSpPr/>
          <p:nvPr/>
        </p:nvSpPr>
        <p:spPr>
          <a:xfrm>
            <a:off x="640080" y="3977640"/>
            <a:ext cx="2834640" cy="502920"/>
          </a:xfrm>
          <a:prstGeom prst="rect">
            <a:avLst/>
          </a:prstGeom>
          <a:solidFill>
            <a:schemeClr val="bg1"/>
          </a:solidFill>
          <a:ln w="12700">
            <a:solidFill>
              <a:schemeClr val="bg1"/>
            </a:solidFill>
            <a:prstDash val="solid"/>
          </a:ln>
        </p:spPr>
      </p:sp>
      <p:sp>
        <p:nvSpPr>
          <p:cNvPr id="19" name="Text 16"/>
          <p:cNvSpPr txBox="1"/>
          <p:nvPr/>
        </p:nvSpPr>
        <p:spPr>
          <a:xfrm>
            <a:off x="731520" y="3977640"/>
            <a:ext cx="2651760" cy="502920"/>
          </a:xfrm>
          <a:prstGeom prst="rect">
            <a:avLst/>
          </a:prstGeom>
          <a:noFill/>
          <a:ln/>
        </p:spPr>
        <p:txBody>
          <a:bodyPr wrap="square" lIns="0" tIns="0" rIns="0" bIns="0" rtlCol="0" anchor="ctr"/>
          <a:lstStyle/>
          <a:p>
            <a:pPr algn="ctr" indent="0" marL="0">
              <a:buNone/>
            </a:pPr>
            <a:r>
              <a:rPr lang="en-US" sz="1400" dirty="0">
                <a:solidFill>
                  <a:schemeClr val="tx1"/>
                </a:solidFill>
              </a:rPr>
              <a:t>Review-Oberfläche</a:t>
            </a:r>
            <a:endParaRPr lang="en-US" sz="1400" dirty="0"/>
          </a:p>
        </p:txBody>
      </p:sp>
      <p:sp>
        <p:nvSpPr>
          <p:cNvPr id="20" name="Pfeil"/>
          <p:cNvSpPr/>
          <p:nvPr/>
        </p:nvSpPr>
        <p:spPr>
          <a:xfrm>
            <a:off x="2057400" y="2240280"/>
            <a:ext cx="0" cy="228600"/>
          </a:xfrm>
          <a:prstGeom prst="line">
            <a:avLst/>
          </a:prstGeom>
          <a:noFill/>
          <a:ln w="25400">
            <a:solidFill>
              <a:schemeClr val="accent4"/>
            </a:solidFill>
            <a:prstDash val="solid"/>
            <a:tailEnd type="triangle"/>
          </a:ln>
        </p:spPr>
      </p:sp>
      <p:sp>
        <p:nvSpPr>
          <p:cNvPr id="21" name="Pfeil"/>
          <p:cNvSpPr/>
          <p:nvPr/>
        </p:nvSpPr>
        <p:spPr>
          <a:xfrm>
            <a:off x="2057400" y="3154680"/>
            <a:ext cx="0" cy="228600"/>
          </a:xfrm>
          <a:prstGeom prst="line">
            <a:avLst/>
          </a:prstGeom>
          <a:noFill/>
          <a:ln w="25400">
            <a:solidFill>
              <a:schemeClr val="accent4"/>
            </a:solidFill>
            <a:prstDash val="solid"/>
            <a:tailEnd type="triangle"/>
          </a:ln>
        </p:spPr>
      </p:sp>
      <p:sp>
        <p:nvSpPr>
          <p:cNvPr id="22" name="Knoten Routing nach Anzahl der URLs"/>
          <p:cNvSpPr/>
          <p:nvPr/>
        </p:nvSpPr>
        <p:spPr>
          <a:xfrm>
            <a:off x="4389120" y="1737360"/>
            <a:ext cx="3291840" cy="548640"/>
          </a:xfrm>
          <a:prstGeom prst="rect">
            <a:avLst/>
          </a:prstGeom>
          <a:solidFill>
            <a:schemeClr val="bg1"/>
          </a:solidFill>
          <a:ln w="12700">
            <a:solidFill>
              <a:schemeClr val="bg1"/>
            </a:solidFill>
            <a:prstDash val="solid"/>
          </a:ln>
        </p:spPr>
      </p:sp>
      <p:sp>
        <p:nvSpPr>
          <p:cNvPr id="23" name="Text 20"/>
          <p:cNvSpPr txBox="1"/>
          <p:nvPr/>
        </p:nvSpPr>
        <p:spPr>
          <a:xfrm>
            <a:off x="4480560" y="1737360"/>
            <a:ext cx="3108960" cy="548640"/>
          </a:xfrm>
          <a:prstGeom prst="rect">
            <a:avLst/>
          </a:prstGeom>
          <a:noFill/>
          <a:ln/>
        </p:spPr>
        <p:txBody>
          <a:bodyPr wrap="square" lIns="0" tIns="0" rIns="0" bIns="0" rtlCol="0" anchor="ctr"/>
          <a:lstStyle/>
          <a:p>
            <a:pPr algn="ctr" indent="0" marL="0">
              <a:buNone/>
            </a:pPr>
            <a:r>
              <a:rPr lang="en-US" sz="1400" dirty="0">
                <a:solidFill>
                  <a:schemeClr val="tx1"/>
                </a:solidFill>
              </a:rPr>
              <a:t>Routing nach Anzahl der URLs</a:t>
            </a:r>
            <a:endParaRPr lang="en-US" sz="1400" dirty="0"/>
          </a:p>
        </p:txBody>
      </p:sp>
      <p:sp>
        <p:nvSpPr>
          <p:cNvPr id="24" name="Knoten Lambda"/>
          <p:cNvSpPr/>
          <p:nvPr/>
        </p:nvSpPr>
        <p:spPr>
          <a:xfrm>
            <a:off x="4389120" y="2560320"/>
            <a:ext cx="1600200" cy="731520"/>
          </a:xfrm>
          <a:prstGeom prst="rect">
            <a:avLst/>
          </a:prstGeom>
          <a:solidFill>
            <a:schemeClr val="bg1"/>
          </a:solidFill>
          <a:ln w="12700">
            <a:solidFill>
              <a:schemeClr val="bg1"/>
            </a:solidFill>
            <a:prstDash val="solid"/>
          </a:ln>
        </p:spPr>
      </p:sp>
      <p:sp>
        <p:nvSpPr>
          <p:cNvPr id="25" name="Text 22"/>
          <p:cNvSpPr txBox="1"/>
          <p:nvPr/>
        </p:nvSpPr>
        <p:spPr>
          <a:xfrm>
            <a:off x="4480560" y="2560320"/>
            <a:ext cx="1417320" cy="731520"/>
          </a:xfrm>
          <a:prstGeom prst="rect">
            <a:avLst/>
          </a:prstGeom>
          <a:noFill/>
          <a:ln/>
        </p:spPr>
        <p:txBody>
          <a:bodyPr wrap="square" lIns="0" tIns="0" rIns="0" bIns="0" rtlCol="0" anchor="ctr"/>
          <a:lstStyle/>
          <a:p>
            <a:pPr algn="ctr" indent="0" marL="0">
              <a:buNone/>
            </a:pPr>
            <a:r>
              <a:rPr lang="en-US" sz="1400" dirty="0">
                <a:solidFill>
                  <a:schemeClr val="tx1"/>
                </a:solidFill>
              </a:rPr>
              <a:t>Lambda</a:t>
            </a:r>
            <a:endParaRPr lang="en-US" sz="1400" dirty="0"/>
          </a:p>
          <a:p>
            <a:pPr algn="ctr" indent="0" marL="0">
              <a:buNone/>
            </a:pPr>
            <a:r>
              <a:rPr lang="en-US" sz="1400" dirty="0">
                <a:solidFill>
                  <a:schemeClr val="tx1"/>
                </a:solidFill>
              </a:rPr>
              <a:t>≤ 10 URLs</a:t>
            </a:r>
            <a:endParaRPr lang="en-US" sz="1400" dirty="0"/>
          </a:p>
        </p:txBody>
      </p:sp>
      <p:sp>
        <p:nvSpPr>
          <p:cNvPr id="26" name="Knoten Fargate"/>
          <p:cNvSpPr/>
          <p:nvPr/>
        </p:nvSpPr>
        <p:spPr>
          <a:xfrm>
            <a:off x="6080760" y="2560320"/>
            <a:ext cx="1600200" cy="731520"/>
          </a:xfrm>
          <a:prstGeom prst="rect">
            <a:avLst/>
          </a:prstGeom>
          <a:solidFill>
            <a:schemeClr val="bg1"/>
          </a:solidFill>
          <a:ln w="12700">
            <a:solidFill>
              <a:schemeClr val="bg1"/>
            </a:solidFill>
            <a:prstDash val="solid"/>
          </a:ln>
        </p:spPr>
      </p:sp>
      <p:sp>
        <p:nvSpPr>
          <p:cNvPr id="27" name="Text 24"/>
          <p:cNvSpPr txBox="1"/>
          <p:nvPr/>
        </p:nvSpPr>
        <p:spPr>
          <a:xfrm>
            <a:off x="6172200" y="2560320"/>
            <a:ext cx="1417320" cy="731520"/>
          </a:xfrm>
          <a:prstGeom prst="rect">
            <a:avLst/>
          </a:prstGeom>
          <a:noFill/>
          <a:ln/>
        </p:spPr>
        <p:txBody>
          <a:bodyPr wrap="square" lIns="0" tIns="0" rIns="0" bIns="0" rtlCol="0" anchor="ctr"/>
          <a:lstStyle/>
          <a:p>
            <a:pPr algn="ctr" indent="0" marL="0">
              <a:buNone/>
            </a:pPr>
            <a:r>
              <a:rPr lang="en-US" sz="1400" dirty="0">
                <a:solidFill>
                  <a:schemeClr val="tx1"/>
                </a:solidFill>
              </a:rPr>
              <a:t>Fargate</a:t>
            </a:r>
            <a:endParaRPr lang="en-US" sz="1400" dirty="0"/>
          </a:p>
          <a:p>
            <a:pPr algn="ctr" indent="0" marL="0">
              <a:buNone/>
            </a:pPr>
            <a:r>
              <a:rPr lang="en-US" sz="1400" dirty="0">
                <a:solidFill>
                  <a:schemeClr val="tx1"/>
                </a:solidFill>
              </a:rPr>
              <a:t>Bulk-Läufe</a:t>
            </a:r>
            <a:endParaRPr lang="en-US" sz="1400" dirty="0"/>
          </a:p>
        </p:txBody>
      </p:sp>
      <p:sp>
        <p:nvSpPr>
          <p:cNvPr id="28" name="Knoten Crawler (Profil) →"/>
          <p:cNvSpPr/>
          <p:nvPr/>
        </p:nvSpPr>
        <p:spPr>
          <a:xfrm>
            <a:off x="4389120" y="3566160"/>
            <a:ext cx="3291840" cy="731520"/>
          </a:xfrm>
          <a:prstGeom prst="rect">
            <a:avLst/>
          </a:prstGeom>
          <a:solidFill>
            <a:schemeClr val="accent1"/>
          </a:solidFill>
          <a:ln w="12700">
            <a:solidFill>
              <a:schemeClr val="accent1"/>
            </a:solidFill>
            <a:prstDash val="solid"/>
          </a:ln>
        </p:spPr>
      </p:sp>
      <p:sp>
        <p:nvSpPr>
          <p:cNvPr id="29" name="Text 26"/>
          <p:cNvSpPr txBox="1"/>
          <p:nvPr/>
        </p:nvSpPr>
        <p:spPr>
          <a:xfrm>
            <a:off x="4480560" y="3566160"/>
            <a:ext cx="3108960" cy="731520"/>
          </a:xfrm>
          <a:prstGeom prst="rect">
            <a:avLst/>
          </a:prstGeom>
          <a:noFill/>
          <a:ln/>
        </p:spPr>
        <p:txBody>
          <a:bodyPr wrap="square" lIns="0" tIns="0" rIns="0" bIns="0" rtlCol="0" anchor="ctr"/>
          <a:lstStyle/>
          <a:p>
            <a:pPr algn="ctr" indent="0" marL="0">
              <a:buNone/>
            </a:pPr>
            <a:r>
              <a:rPr lang="en-US" sz="1400" b="1" dirty="0">
                <a:solidFill>
                  <a:schemeClr val="bg1"/>
                </a:solidFill>
              </a:rPr>
              <a:t>Crawler (Profil) →</a:t>
            </a:r>
            <a:endParaRPr lang="en-US" sz="1400" dirty="0"/>
          </a:p>
          <a:p>
            <a:pPr algn="ctr" indent="0" marL="0">
              <a:buNone/>
            </a:pPr>
            <a:r>
              <a:rPr lang="en-US" sz="1400" b="1" dirty="0">
                <a:solidFill>
                  <a:schemeClr val="bg1"/>
                </a:solidFill>
              </a:rPr>
              <a:t>ML-Klassifikation</a:t>
            </a:r>
            <a:endParaRPr lang="en-US" sz="1400" dirty="0"/>
          </a:p>
        </p:txBody>
      </p:sp>
      <p:sp>
        <p:nvSpPr>
          <p:cNvPr id="30" name="Pfeil"/>
          <p:cNvSpPr/>
          <p:nvPr/>
        </p:nvSpPr>
        <p:spPr>
          <a:xfrm>
            <a:off x="6035040" y="2286000"/>
            <a:ext cx="0" cy="274320"/>
          </a:xfrm>
          <a:prstGeom prst="line">
            <a:avLst/>
          </a:prstGeom>
          <a:noFill/>
          <a:ln w="25400">
            <a:solidFill>
              <a:schemeClr val="accent4"/>
            </a:solidFill>
            <a:prstDash val="solid"/>
            <a:tailEnd type="triangle"/>
          </a:ln>
        </p:spPr>
      </p:sp>
      <p:sp>
        <p:nvSpPr>
          <p:cNvPr id="31" name="Pfeil"/>
          <p:cNvSpPr/>
          <p:nvPr/>
        </p:nvSpPr>
        <p:spPr>
          <a:xfrm>
            <a:off x="6035040" y="3291840"/>
            <a:ext cx="0" cy="274320"/>
          </a:xfrm>
          <a:prstGeom prst="line">
            <a:avLst/>
          </a:prstGeom>
          <a:noFill/>
          <a:ln w="25400">
            <a:solidFill>
              <a:schemeClr val="accent4"/>
            </a:solidFill>
            <a:prstDash val="solid"/>
            <a:tailEnd type="triangle"/>
          </a:ln>
        </p:spPr>
      </p:sp>
      <p:sp>
        <p:nvSpPr>
          <p:cNvPr id="32" name="Knoten S3: PDFs, Manifeste,"/>
          <p:cNvSpPr/>
          <p:nvPr/>
        </p:nvSpPr>
        <p:spPr>
          <a:xfrm>
            <a:off x="8595360" y="1737360"/>
            <a:ext cx="2953512" cy="822960"/>
          </a:xfrm>
          <a:prstGeom prst="rect">
            <a:avLst/>
          </a:prstGeom>
          <a:solidFill>
            <a:schemeClr val="bg1"/>
          </a:solidFill>
          <a:ln w="12700">
            <a:solidFill>
              <a:schemeClr val="bg1"/>
            </a:solidFill>
            <a:prstDash val="solid"/>
          </a:ln>
        </p:spPr>
      </p:sp>
      <p:sp>
        <p:nvSpPr>
          <p:cNvPr id="33" name="Text 30"/>
          <p:cNvSpPr txBox="1"/>
          <p:nvPr/>
        </p:nvSpPr>
        <p:spPr>
          <a:xfrm>
            <a:off x="8686800" y="1737360"/>
            <a:ext cx="2770632" cy="822960"/>
          </a:xfrm>
          <a:prstGeom prst="rect">
            <a:avLst/>
          </a:prstGeom>
          <a:noFill/>
          <a:ln/>
        </p:spPr>
        <p:txBody>
          <a:bodyPr wrap="square" lIns="0" tIns="0" rIns="0" bIns="0" rtlCol="0" anchor="ctr"/>
          <a:lstStyle/>
          <a:p>
            <a:pPr algn="ctr" indent="0" marL="0">
              <a:buNone/>
            </a:pPr>
            <a:r>
              <a:rPr lang="en-US" sz="1400" dirty="0">
                <a:solidFill>
                  <a:schemeClr val="tx1"/>
                </a:solidFill>
              </a:rPr>
              <a:t>S3: PDFs, Manifeste,</a:t>
            </a:r>
            <a:endParaRPr lang="en-US" sz="1400" dirty="0"/>
          </a:p>
          <a:p>
            <a:pPr algn="ctr" indent="0" marL="0">
              <a:buNone/>
            </a:pPr>
            <a:r>
              <a:rPr lang="en-US" sz="1400" dirty="0">
                <a:solidFill>
                  <a:schemeClr val="tx1"/>
                </a:solidFill>
              </a:rPr>
              <a:t>Feedback (154 GB)</a:t>
            </a:r>
            <a:endParaRPr lang="en-US" sz="1400" dirty="0"/>
          </a:p>
        </p:txBody>
      </p:sp>
      <p:sp>
        <p:nvSpPr>
          <p:cNvPr id="34" name="Knoten DynamoDB:"/>
          <p:cNvSpPr/>
          <p:nvPr/>
        </p:nvSpPr>
        <p:spPr>
          <a:xfrm>
            <a:off x="8595360" y="2697480"/>
            <a:ext cx="2953512" cy="731520"/>
          </a:xfrm>
          <a:prstGeom prst="rect">
            <a:avLst/>
          </a:prstGeom>
          <a:solidFill>
            <a:schemeClr val="bg1"/>
          </a:solidFill>
          <a:ln w="12700">
            <a:solidFill>
              <a:schemeClr val="bg1"/>
            </a:solidFill>
            <a:prstDash val="solid"/>
          </a:ln>
        </p:spPr>
      </p:sp>
      <p:sp>
        <p:nvSpPr>
          <p:cNvPr id="35" name="Text 32"/>
          <p:cNvSpPr txBox="1"/>
          <p:nvPr/>
        </p:nvSpPr>
        <p:spPr>
          <a:xfrm>
            <a:off x="8686800" y="2697480"/>
            <a:ext cx="2770632" cy="731520"/>
          </a:xfrm>
          <a:prstGeom prst="rect">
            <a:avLst/>
          </a:prstGeom>
          <a:noFill/>
          <a:ln/>
        </p:spPr>
        <p:txBody>
          <a:bodyPr wrap="square" lIns="0" tIns="0" rIns="0" bIns="0" rtlCol="0" anchor="ctr"/>
          <a:lstStyle/>
          <a:p>
            <a:pPr algn="ctr" indent="0" marL="0">
              <a:buNone/>
            </a:pPr>
            <a:r>
              <a:rPr lang="en-US" sz="1400" dirty="0">
                <a:solidFill>
                  <a:schemeClr val="tx1"/>
                </a:solidFill>
              </a:rPr>
              <a:t>DynamoDB:</a:t>
            </a:r>
            <a:endParaRPr lang="en-US" sz="1400" dirty="0"/>
          </a:p>
          <a:p>
            <a:pPr algn="ctr" indent="0" marL="0">
              <a:buNone/>
            </a:pPr>
            <a:r>
              <a:rPr lang="en-US" sz="1400" dirty="0">
                <a:solidFill>
                  <a:schemeClr val="tx1"/>
                </a:solidFill>
              </a:rPr>
              <a:t>besuchte URLs</a:t>
            </a:r>
            <a:endParaRPr lang="en-US" sz="1400" dirty="0"/>
          </a:p>
        </p:txBody>
      </p:sp>
      <p:sp>
        <p:nvSpPr>
          <p:cNvPr id="36" name="Knoten LLM-Prüfung (Bedrock)"/>
          <p:cNvSpPr/>
          <p:nvPr/>
        </p:nvSpPr>
        <p:spPr>
          <a:xfrm>
            <a:off x="8595360" y="4343400"/>
            <a:ext cx="2953512" cy="548640"/>
          </a:xfrm>
          <a:prstGeom prst="rect">
            <a:avLst/>
          </a:prstGeom>
          <a:solidFill>
            <a:schemeClr val="bg1"/>
          </a:solidFill>
          <a:ln w="12700">
            <a:solidFill>
              <a:schemeClr val="bg1"/>
            </a:solidFill>
            <a:prstDash val="solid"/>
          </a:ln>
        </p:spPr>
      </p:sp>
      <p:sp>
        <p:nvSpPr>
          <p:cNvPr id="37" name="Text 34"/>
          <p:cNvSpPr txBox="1"/>
          <p:nvPr/>
        </p:nvSpPr>
        <p:spPr>
          <a:xfrm>
            <a:off x="8686800" y="4343400"/>
            <a:ext cx="2770632" cy="548640"/>
          </a:xfrm>
          <a:prstGeom prst="rect">
            <a:avLst/>
          </a:prstGeom>
          <a:noFill/>
          <a:ln/>
        </p:spPr>
        <p:txBody>
          <a:bodyPr wrap="square" lIns="0" tIns="0" rIns="0" bIns="0" rtlCol="0" anchor="ctr"/>
          <a:lstStyle/>
          <a:p>
            <a:pPr algn="ctr" indent="0" marL="0">
              <a:buNone/>
            </a:pPr>
            <a:r>
              <a:rPr lang="en-US" sz="1400" dirty="0">
                <a:solidFill>
                  <a:schemeClr val="tx1"/>
                </a:solidFill>
              </a:rPr>
              <a:t>LLM-Prüfung (Bedrock)</a:t>
            </a:r>
            <a:endParaRPr lang="en-US" sz="1400" dirty="0"/>
          </a:p>
        </p:txBody>
      </p:sp>
      <p:sp>
        <p:nvSpPr>
          <p:cNvPr id="38" name="Knoten OCR · Auswertung · Nachtraining"/>
          <p:cNvSpPr/>
          <p:nvPr/>
        </p:nvSpPr>
        <p:spPr>
          <a:xfrm>
            <a:off x="8595360" y="4937760"/>
            <a:ext cx="2953512" cy="502920"/>
          </a:xfrm>
          <a:prstGeom prst="rect">
            <a:avLst/>
          </a:prstGeom>
          <a:solidFill>
            <a:schemeClr val="bg1"/>
          </a:solidFill>
          <a:ln w="12700">
            <a:solidFill>
              <a:schemeClr val="bg1"/>
            </a:solidFill>
            <a:prstDash val="solid"/>
          </a:ln>
        </p:spPr>
      </p:sp>
      <p:sp>
        <p:nvSpPr>
          <p:cNvPr id="39" name="Text 36"/>
          <p:cNvSpPr txBox="1"/>
          <p:nvPr/>
        </p:nvSpPr>
        <p:spPr>
          <a:xfrm>
            <a:off x="8686800" y="4937760"/>
            <a:ext cx="2770632" cy="502920"/>
          </a:xfrm>
          <a:prstGeom prst="rect">
            <a:avLst/>
          </a:prstGeom>
          <a:noFill/>
          <a:ln/>
        </p:spPr>
        <p:txBody>
          <a:bodyPr wrap="square" lIns="0" tIns="0" rIns="0" bIns="0" rtlCol="0" anchor="ctr"/>
          <a:lstStyle/>
          <a:p>
            <a:pPr algn="ctr" indent="0" marL="0">
              <a:buNone/>
            </a:pPr>
            <a:r>
              <a:rPr lang="en-US" sz="1400" dirty="0">
                <a:solidFill>
                  <a:schemeClr val="tx1"/>
                </a:solidFill>
              </a:rPr>
              <a:t>OCR · Auswertung · Nachtraining</a:t>
            </a:r>
            <a:endParaRPr lang="en-US" sz="1400" dirty="0"/>
          </a:p>
        </p:txBody>
      </p:sp>
      <p:sp>
        <p:nvSpPr>
          <p:cNvPr id="40" name="Knoten Hochschulwebseiten ·"/>
          <p:cNvSpPr/>
          <p:nvPr/>
        </p:nvSpPr>
        <p:spPr>
          <a:xfrm>
            <a:off x="4389120" y="4846320"/>
            <a:ext cx="3291840" cy="731520"/>
          </a:xfrm>
          <a:prstGeom prst="rect">
            <a:avLst/>
          </a:prstGeom>
          <a:solidFill>
            <a:schemeClr val="accent4"/>
          </a:solidFill>
          <a:ln w="12700">
            <a:solidFill>
              <a:schemeClr val="accent4"/>
            </a:solidFill>
            <a:prstDash val="solid"/>
          </a:ln>
        </p:spPr>
      </p:sp>
      <p:sp>
        <p:nvSpPr>
          <p:cNvPr id="41" name="Text 38"/>
          <p:cNvSpPr txBox="1"/>
          <p:nvPr/>
        </p:nvSpPr>
        <p:spPr>
          <a:xfrm>
            <a:off x="4480560" y="4846320"/>
            <a:ext cx="3108960" cy="731520"/>
          </a:xfrm>
          <a:prstGeom prst="rect">
            <a:avLst/>
          </a:prstGeom>
          <a:noFill/>
          <a:ln/>
        </p:spPr>
        <p:txBody>
          <a:bodyPr wrap="square" lIns="0" tIns="0" rIns="0" bIns="0" rtlCol="0" anchor="ctr"/>
          <a:lstStyle/>
          <a:p>
            <a:pPr algn="ctr" indent="0" marL="0">
              <a:buNone/>
            </a:pPr>
            <a:r>
              <a:rPr lang="en-US" sz="1400" b="1" dirty="0">
                <a:solidFill>
                  <a:schemeClr val="bg1"/>
                </a:solidFill>
              </a:rPr>
              <a:t>Hochschulwebseiten ·</a:t>
            </a:r>
            <a:endParaRPr lang="en-US" sz="1400" dirty="0"/>
          </a:p>
          <a:p>
            <a:pPr algn="ctr" indent="0" marL="0">
              <a:buNone/>
            </a:pPr>
            <a:r>
              <a:rPr lang="en-US" sz="1400" b="1" dirty="0">
                <a:solidFill>
                  <a:schemeClr val="bg1"/>
                </a:solidFill>
              </a:rPr>
              <a:t>Discovery (Serper u. a.)</a:t>
            </a:r>
            <a:endParaRPr lang="en-US" sz="1400" dirty="0"/>
          </a:p>
        </p:txBody>
      </p:sp>
      <p:sp>
        <p:nvSpPr>
          <p:cNvPr id="42" name="Pfeil"/>
          <p:cNvSpPr/>
          <p:nvPr/>
        </p:nvSpPr>
        <p:spPr>
          <a:xfrm>
            <a:off x="6035040" y="4434840"/>
            <a:ext cx="0" cy="411480"/>
          </a:xfrm>
          <a:prstGeom prst="line">
            <a:avLst/>
          </a:prstGeom>
          <a:noFill/>
          <a:ln w="25400">
            <a:solidFill>
              <a:schemeClr val="accent4"/>
            </a:solidFill>
            <a:prstDash val="solid"/>
            <a:headEnd type="triangle"/>
          </a:ln>
        </p:spPr>
      </p:sp>
      <p:sp>
        <p:nvSpPr>
          <p:cNvPr id="43" name="Knoten CI/CD: GitHub Actions →"/>
          <p:cNvSpPr/>
          <p:nvPr/>
        </p:nvSpPr>
        <p:spPr>
          <a:xfrm>
            <a:off x="640080" y="4846320"/>
            <a:ext cx="2834640" cy="731520"/>
          </a:xfrm>
          <a:prstGeom prst="rect">
            <a:avLst/>
          </a:prstGeom>
          <a:solidFill>
            <a:schemeClr val="accent4"/>
          </a:solidFill>
          <a:ln w="12700">
            <a:solidFill>
              <a:schemeClr val="accent4"/>
            </a:solidFill>
            <a:prstDash val="solid"/>
          </a:ln>
        </p:spPr>
      </p:sp>
      <p:sp>
        <p:nvSpPr>
          <p:cNvPr id="44" name="Text 41"/>
          <p:cNvSpPr txBox="1"/>
          <p:nvPr/>
        </p:nvSpPr>
        <p:spPr>
          <a:xfrm>
            <a:off x="731520" y="4846320"/>
            <a:ext cx="2651760" cy="731520"/>
          </a:xfrm>
          <a:prstGeom prst="rect">
            <a:avLst/>
          </a:prstGeom>
          <a:noFill/>
          <a:ln/>
        </p:spPr>
        <p:txBody>
          <a:bodyPr wrap="square" lIns="0" tIns="0" rIns="0" bIns="0" rtlCol="0" anchor="ctr"/>
          <a:lstStyle/>
          <a:p>
            <a:pPr algn="ctr" indent="0" marL="0">
              <a:buNone/>
            </a:pPr>
            <a:r>
              <a:rPr lang="en-US" sz="1400" b="1" dirty="0">
                <a:solidFill>
                  <a:schemeClr val="bg1"/>
                </a:solidFill>
              </a:rPr>
              <a:t>CI/CD: GitHub Actions →</a:t>
            </a:r>
            <a:endParaRPr lang="en-US" sz="1400" dirty="0"/>
          </a:p>
          <a:p>
            <a:pPr algn="ctr" indent="0" marL="0">
              <a:buNone/>
            </a:pPr>
            <a:r>
              <a:rPr lang="en-US" sz="1400" b="1" dirty="0">
                <a:solidFill>
                  <a:schemeClr val="bg1"/>
                </a:solidFill>
              </a:rPr>
              <a:t>Image → Lambda/Fargate</a:t>
            </a:r>
            <a:endParaRPr lang="en-US" sz="1400" dirty="0"/>
          </a:p>
        </p:txBody>
      </p:sp>
      <p:sp>
        <p:nvSpPr>
          <p:cNvPr id="45" name="Pfeil"/>
          <p:cNvSpPr/>
          <p:nvPr/>
        </p:nvSpPr>
        <p:spPr>
          <a:xfrm>
            <a:off x="3675888" y="2834640"/>
            <a:ext cx="512064" cy="0"/>
          </a:xfrm>
          <a:prstGeom prst="line">
            <a:avLst/>
          </a:prstGeom>
          <a:noFill/>
          <a:ln w="31750">
            <a:solidFill>
              <a:schemeClr val="accent4"/>
            </a:solidFill>
            <a:prstDash val="solid"/>
            <a:tailEnd type="triangle"/>
          </a:ln>
        </p:spPr>
      </p:sp>
      <p:sp>
        <p:nvSpPr>
          <p:cNvPr id="46" name="Schritt 1"/>
          <p:cNvSpPr/>
          <p:nvPr/>
        </p:nvSpPr>
        <p:spPr>
          <a:xfrm>
            <a:off x="3776472" y="2450592"/>
            <a:ext cx="310896" cy="310896"/>
          </a:xfrm>
          <a:prstGeom prst="ellipse">
            <a:avLst/>
          </a:prstGeom>
          <a:solidFill>
            <a:schemeClr val="accent2"/>
          </a:solidFill>
          <a:ln w="12700">
            <a:solidFill>
              <a:schemeClr val="accent2"/>
            </a:solidFill>
            <a:prstDash val="solid"/>
          </a:ln>
        </p:spPr>
      </p:sp>
      <p:sp>
        <p:nvSpPr>
          <p:cNvPr id="47" name="Text 44"/>
          <p:cNvSpPr txBox="1"/>
          <p:nvPr/>
        </p:nvSpPr>
        <p:spPr>
          <a:xfrm>
            <a:off x="3776472" y="2450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8" name="Pfeil"/>
          <p:cNvSpPr/>
          <p:nvPr/>
        </p:nvSpPr>
        <p:spPr>
          <a:xfrm>
            <a:off x="7882128" y="2834640"/>
            <a:ext cx="512064" cy="0"/>
          </a:xfrm>
          <a:prstGeom prst="line">
            <a:avLst/>
          </a:prstGeom>
          <a:noFill/>
          <a:ln w="31750">
            <a:solidFill>
              <a:schemeClr val="accent4"/>
            </a:solidFill>
            <a:prstDash val="solid"/>
            <a:tailEnd type="triangle"/>
          </a:ln>
        </p:spPr>
      </p:sp>
      <p:sp>
        <p:nvSpPr>
          <p:cNvPr id="49" name="Schritt 2"/>
          <p:cNvSpPr/>
          <p:nvPr/>
        </p:nvSpPr>
        <p:spPr>
          <a:xfrm>
            <a:off x="7982712" y="2450592"/>
            <a:ext cx="310896" cy="310896"/>
          </a:xfrm>
          <a:prstGeom prst="ellipse">
            <a:avLst/>
          </a:prstGeom>
          <a:solidFill>
            <a:schemeClr val="accent2"/>
          </a:solidFill>
          <a:ln w="12700">
            <a:solidFill>
              <a:schemeClr val="accent2"/>
            </a:solidFill>
            <a:prstDash val="solid"/>
          </a:ln>
        </p:spPr>
      </p:sp>
      <p:sp>
        <p:nvSpPr>
          <p:cNvPr id="50" name="Text 47"/>
          <p:cNvSpPr txBox="1"/>
          <p:nvPr/>
        </p:nvSpPr>
        <p:spPr>
          <a:xfrm>
            <a:off x="7982712" y="2450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51" name="Pfeil"/>
          <p:cNvSpPr/>
          <p:nvPr/>
        </p:nvSpPr>
        <p:spPr>
          <a:xfrm>
            <a:off x="10058400" y="3703320"/>
            <a:ext cx="0" cy="228600"/>
          </a:xfrm>
          <a:prstGeom prst="line">
            <a:avLst/>
          </a:prstGeom>
          <a:noFill/>
          <a:ln w="25400">
            <a:solidFill>
              <a:schemeClr val="accent4"/>
            </a:solidFill>
            <a:prstDash val="solid"/>
            <a:tailEnd type="triangle"/>
          </a:ln>
        </p:spPr>
      </p:sp>
      <p:sp>
        <p:nvSpPr>
          <p:cNvPr id="52" name="Schritt 3"/>
          <p:cNvSpPr/>
          <p:nvPr/>
        </p:nvSpPr>
        <p:spPr>
          <a:xfrm>
            <a:off x="10131552" y="3657600"/>
            <a:ext cx="310896" cy="310896"/>
          </a:xfrm>
          <a:prstGeom prst="ellipse">
            <a:avLst/>
          </a:prstGeom>
          <a:solidFill>
            <a:schemeClr val="accent2"/>
          </a:solidFill>
          <a:ln w="12700">
            <a:solidFill>
              <a:schemeClr val="accent2"/>
            </a:solidFill>
            <a:prstDash val="solid"/>
          </a:ln>
        </p:spPr>
      </p:sp>
      <p:sp>
        <p:nvSpPr>
          <p:cNvPr id="53" name="Text 50"/>
          <p:cNvSpPr txBox="1"/>
          <p:nvPr/>
        </p:nvSpPr>
        <p:spPr>
          <a:xfrm>
            <a:off x="10131552" y="36576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4" name="Text 51"/>
          <p:cNvSpPr txBox="1"/>
          <p:nvPr/>
        </p:nvSpPr>
        <p:spPr>
          <a:xfrm>
            <a:off x="548640" y="5852160"/>
            <a:ext cx="11091672" cy="365760"/>
          </a:xfrm>
          <a:prstGeom prst="rect">
            <a:avLst/>
          </a:prstGeom>
          <a:noFill/>
          <a:ln/>
        </p:spPr>
        <p:txBody>
          <a:bodyPr wrap="square" lIns="0" tIns="0" rIns="0" bIns="0" rtlCol="0" anchor="t"/>
          <a:lstStyle/>
          <a:p>
            <a:pPr algn="l" indent="0" marL="0">
              <a:buNone/>
            </a:pPr>
            <a:r>
              <a:rPr lang="en-US" sz="1400" b="1" dirty="0">
                <a:solidFill>
                  <a:schemeClr val="accent2"/>
                </a:solidFill>
              </a:rPr>
              <a:t>1 </a:t>
            </a:r>
            <a:pPr algn="l" indent="0" marL="0">
              <a:buNone/>
            </a:pPr>
            <a:r>
              <a:rPr lang="en-US" sz="1400" dirty="0">
                <a:solidFill>
                  <a:schemeClr val="tx1"/>
                </a:solidFill>
              </a:rPr>
              <a:t>Auftrag starten    </a:t>
            </a:r>
            <a:pPr algn="l" indent="0" marL="0">
              <a:buNone/>
            </a:pPr>
            <a:r>
              <a:rPr lang="en-US" sz="1400" b="1" dirty="0">
                <a:solidFill>
                  <a:schemeClr val="accent2"/>
                </a:solidFill>
              </a:rPr>
              <a:t>2 </a:t>
            </a:r>
            <a:pPr algn="l" indent="0" marL="0">
              <a:buNone/>
            </a:pPr>
            <a:r>
              <a:rPr lang="en-US" sz="1400" dirty="0">
                <a:solidFill>
                  <a:schemeClr val="tx1"/>
                </a:solidFill>
              </a:rPr>
              <a:t>Crawlen, klassifizieren, speichern (Webapp liest Ergebnisse aus S3)    </a:t>
            </a:r>
            <a:pPr algn="l" indent="0" marL="0">
              <a:buNone/>
            </a:pPr>
            <a:r>
              <a:rPr lang="en-US" sz="1400" b="1" dirty="0">
                <a:solidFill>
                  <a:schemeClr val="accent2"/>
                </a:solidFill>
              </a:rPr>
              <a:t>3 </a:t>
            </a:r>
            <a:pPr algn="l" indent="0" marL="0">
              <a:buNone/>
            </a:pPr>
            <a:r>
              <a:rPr lang="en-US" sz="1400" dirty="0">
                <a:solidFill>
                  <a:schemeClr val="tx1"/>
                </a:solidFill>
              </a:rPr>
              <a:t>Prüfung und Nachtraining</a:t>
            </a:r>
            <a:endParaRPr lang="en-US" sz="1400" dirty="0"/>
          </a:p>
        </p:txBody>
      </p:sp>
      <p:sp>
        <p:nvSpPr>
          <p:cNvPr id="55" name="Text 52"/>
          <p:cNvSpPr txBox="1"/>
          <p:nvPr/>
        </p:nvSpPr>
        <p:spPr>
          <a:xfrm>
            <a:off x="548640" y="6172200"/>
            <a:ext cx="10058400" cy="228600"/>
          </a:xfrm>
          <a:prstGeom prst="rect">
            <a:avLst/>
          </a:prstGeom>
          <a:noFill/>
          <a:ln/>
        </p:spPr>
        <p:txBody>
          <a:bodyPr wrap="square" lIns="0" tIns="0" rIns="0" bIns="0" rtlCol="0" anchor="t"/>
          <a:lstStyle/>
          <a:p>
            <a:pPr algn="l" indent="0" marL="0">
              <a:buNone/>
            </a:pPr>
            <a:r>
              <a:rPr lang="en-US" sz="1100" dirty="0">
                <a:solidFill>
                  <a:schemeClr val="accent4"/>
                </a:solidFill>
              </a:rPr>
              <a:t>Vereinfachte Darstellung; vollständiges Diagramm im Projektbericht, Kapitel 4.</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Was pro Dokument gespeichert wird (Manifest und Metadaten)</a:t>
            </a:r>
            <a:endParaRPr lang="en-US" sz="2800" dirty="0"/>
          </a:p>
        </p:txBody>
      </p:sp>
      <p:graphicFrame>
        <p:nvGraphicFramePr>
          <p:cNvPr id="21" name="Tabelle Manifest"/>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1463040"/>
                <a:gridCol w="3931920"/>
              </a:tblGrid>
              <a:tr h="411480">
                <a:tc>
                  <a:txBody>
                    <a:bodyPr/>
                    <a:lstStyle/>
                    <a:p>
                      <a:pPr indent="0" marL="0">
                        <a:buNone/>
                      </a:pPr>
                      <a:r>
                        <a:rPr lang="en-US" sz="1400" b="1" dirty="0">
                          <a:solidFill>
                            <a:schemeClr val="bg1"/>
                          </a:solidFill>
                        </a:rPr>
                        <a:t>Gruppe</a:t>
                      </a:r>
                      <a:endParaRPr lang="en-US" sz="14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Felder</a:t>
                      </a:r>
                      <a:endParaRPr lang="en-US" sz="14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685800">
                <a:tc>
                  <a:txBody>
                    <a:bodyPr/>
                    <a:lstStyle/>
                    <a:p>
                      <a:pPr indent="0" marL="0">
                        <a:buNone/>
                      </a:pPr>
                      <a:r>
                        <a:rPr lang="en-US" sz="1300" b="1" dirty="0">
                          <a:solidFill>
                            <a:srgbClr val="000000"/>
                          </a:solidFill>
                        </a:rPr>
                        <a:t>Herkunft</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url, source_page, hostname, filename, file_type, crawled_at, job_id</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Ablage</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s3_key (scraped/&lt;Host&gt;/&lt;job_id&gt;/&lt;Datei&gt;)</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868680">
                <a:tc>
                  <a:txBody>
                    <a:bodyPr/>
                    <a:lstStyle/>
                    <a:p>
                      <a:pPr indent="0" marL="0">
                        <a:buNone/>
                      </a:pPr>
                      <a:r>
                        <a:rPr lang="en-US" sz="1300" b="1" dirty="0">
                          <a:solidFill>
                            <a:srgbClr val="000000"/>
                          </a:solidFill>
                        </a:rPr>
                        <a:t>ML-Stufe</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module_handbook_score, decision, is_module_handbook, extraction_status, model_version</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685800">
                <a:tc>
                  <a:txBody>
                    <a:bodyPr/>
                    <a:lstStyle/>
                    <a:p>
                      <a:pPr indent="0" marL="0">
                        <a:buNone/>
                      </a:pPr>
                      <a:r>
                        <a:rPr lang="en-US" sz="1300" b="1" dirty="0">
                          <a:solidFill>
                            <a:srgbClr val="000000"/>
                          </a:solidFill>
                        </a:rPr>
                        <a:t>Sprachmodell</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llm_is_match, llm_confidence, llm_reason, llm_model, llm_spec</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Auswertung</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tier (Endstatus), source_run (Lauf)</a:t>
                      </a:r>
                      <a:endParaRPr lang="en-US" sz="1300" dirty="0"/>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Hochschul-Metadaten"/>
          <p:cNvSpPr/>
          <p:nvPr/>
        </p:nvSpPr>
        <p:spPr>
          <a:xfrm>
            <a:off x="548640" y="5257800"/>
            <a:ext cx="5394960" cy="1005840"/>
          </a:xfrm>
          <a:prstGeom prst="rect">
            <a:avLst/>
          </a:prstGeom>
          <a:solidFill>
            <a:schemeClr val="bg2"/>
          </a:solidFill>
          <a:ln w="12700">
            <a:solidFill>
              <a:schemeClr val="bg2"/>
            </a:solidFill>
            <a:prstDash val="solid"/>
          </a:ln>
        </p:spPr>
      </p:sp>
      <p:sp>
        <p:nvSpPr>
          <p:cNvPr id="6" name="Text 2"/>
          <p:cNvSpPr txBox="1"/>
          <p:nvPr/>
        </p:nvSpPr>
        <p:spPr>
          <a:xfrm>
            <a:off x="731520" y="5303520"/>
            <a:ext cx="5029200" cy="914400"/>
          </a:xfrm>
          <a:prstGeom prst="rect">
            <a:avLst/>
          </a:prstGeom>
          <a:noFill/>
          <a:ln/>
        </p:spPr>
        <p:txBody>
          <a:bodyPr wrap="square" lIns="0" tIns="0" rIns="0" bIns="0" rtlCol="0" anchor="ctr"/>
          <a:lstStyle/>
          <a:p>
            <a:pPr algn="l" indent="0" marL="0">
              <a:buNone/>
            </a:pPr>
            <a:r>
              <a:rPr lang="en-US" sz="1300" b="1" dirty="0">
                <a:solidFill>
                  <a:schemeClr val="tx2"/>
                </a:solidFill>
              </a:rPr>
              <a:t>Hochschul-Metadaten </a:t>
            </a:r>
            <a:endParaRPr lang="en-US" sz="1300" dirty="0"/>
          </a:p>
          <a:p>
            <a:pPr algn="l" indent="0" marL="0">
              <a:buNone/>
            </a:pPr>
            <a:r>
              <a:rPr lang="en-US" sz="1300" dirty="0">
                <a:solidFill>
                  <a:schemeClr val="tx1"/>
                </a:solidFill>
              </a:rPr>
              <a:t>Name, Typ, Trägerschaft, Bundesland, Studierende, Gründungsjahr, Domain – Zuordnung über die Domain.</a:t>
            </a:r>
            <a:endParaRPr lang="en-US" sz="1300" dirty="0"/>
          </a:p>
        </p:txBody>
      </p:sp>
      <p:sp>
        <p:nvSpPr>
          <p:cNvPr id="7" name="Beispiel"/>
          <p:cNvSpPr/>
          <p:nvPr/>
        </p:nvSpPr>
        <p:spPr>
          <a:xfrm>
            <a:off x="6199632" y="1371600"/>
            <a:ext cx="5440680" cy="4892040"/>
          </a:xfrm>
          <a:prstGeom prst="rect">
            <a:avLst/>
          </a:prstGeom>
          <a:solidFill>
            <a:schemeClr val="bg2"/>
          </a:solidFill>
          <a:ln w="12700">
            <a:solidFill>
              <a:schemeClr val="bg2"/>
            </a:solidFill>
            <a:prstDash val="solid"/>
          </a:ln>
        </p:spPr>
      </p:sp>
      <p:sp>
        <p:nvSpPr>
          <p:cNvPr id="8" name="Text 4"/>
          <p:cNvSpPr txBox="1"/>
          <p:nvPr/>
        </p:nvSpPr>
        <p:spPr>
          <a:xfrm>
            <a:off x="6400800" y="1508760"/>
            <a:ext cx="5029200" cy="365760"/>
          </a:xfrm>
          <a:prstGeom prst="rect">
            <a:avLst/>
          </a:prstGeom>
          <a:noFill/>
          <a:ln/>
        </p:spPr>
        <p:txBody>
          <a:bodyPr wrap="square" lIns="0" tIns="0" rIns="0" bIns="0" rtlCol="0" anchor="t"/>
          <a:lstStyle/>
          <a:p>
            <a:pPr algn="l" indent="0" marL="0">
              <a:buNone/>
            </a:pPr>
            <a:r>
              <a:rPr lang="en-US" sz="1600" b="1" dirty="0">
                <a:solidFill>
                  <a:schemeClr val="tx2"/>
                </a:solidFill>
              </a:rPr>
              <a:t>Beispiel: ein Manifest-Eintrag (gekürzt)</a:t>
            </a:r>
            <a:endParaRPr lang="en-US" sz="1600" dirty="0"/>
          </a:p>
        </p:txBody>
      </p:sp>
      <p:sp>
        <p:nvSpPr>
          <p:cNvPr id="9" name="Text 5"/>
          <p:cNvSpPr txBox="1"/>
          <p:nvPr/>
        </p:nvSpPr>
        <p:spPr>
          <a:xfrm>
            <a:off x="6400800" y="1965960"/>
            <a:ext cx="5029200" cy="4206240"/>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"url": ".../BSc_Medizinische_Informatik.pdf",</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"source_page": "https://mhb.uni-augsburg.de/...",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"file_type": "pdf",</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"crawled_at": "2026-09-16T14:54:20Z",</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"module_handbook_score": 0.9392,</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"decision": "automatic_positive",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"llm_is_match": true,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"llm_confidence": 0.98,</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"llm_reason": "German university</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Modulhandbuch for B.Sc. ... with</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ECTS, learning outcomes, exam forms",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"llm_model": "claude-haiku-4-5",</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"tier": "llm_confirmed"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Das ML-Modell – wie es funktioniert</a:t>
            </a:r>
            <a:endParaRPr lang="en-US" sz="2800" dirty="0"/>
          </a:p>
        </p:txBody>
      </p:sp>
      <p:sp>
        <p:nvSpPr>
          <p:cNvPr id="4" name="Modell 1"/>
          <p:cNvSpPr/>
          <p:nvPr/>
        </p:nvSpPr>
        <p:spPr>
          <a:xfrm>
            <a:off x="548640" y="1371600"/>
            <a:ext cx="2606040" cy="2148840"/>
          </a:xfrm>
          <a:prstGeom prst="rect">
            <a:avLst/>
          </a:prstGeom>
          <a:solidFill>
            <a:schemeClr val="bg2"/>
          </a:solidFill>
          <a:ln w="12700">
            <a:solidFill>
              <a:schemeClr val="bg2"/>
            </a:solidFill>
            <a:prstDash val="solid"/>
          </a:ln>
        </p:spPr>
      </p:sp>
      <p:sp>
        <p:nvSpPr>
          <p:cNvPr id="5" name="Text 2"/>
          <p:cNvSpPr txBox="1"/>
          <p:nvPr/>
        </p:nvSpPr>
        <p:spPr>
          <a:xfrm>
            <a:off x="731520" y="1481328"/>
            <a:ext cx="2240280" cy="365760"/>
          </a:xfrm>
          <a:prstGeom prst="rect">
            <a:avLst/>
          </a:prstGeom>
          <a:noFill/>
          <a:ln/>
        </p:spPr>
        <p:txBody>
          <a:bodyPr wrap="square" lIns="0" tIns="0" rIns="0" bIns="0" rtlCol="0" anchor="t"/>
          <a:lstStyle/>
          <a:p>
            <a:pPr algn="l" indent="0" marL="0">
              <a:buNone/>
            </a:pPr>
            <a:r>
              <a:rPr lang="en-US" sz="1600" b="1" dirty="0">
                <a:solidFill>
                  <a:schemeClr val="accent1"/>
                </a:solidFill>
              </a:rPr>
              <a:t>1 · Text</a:t>
            </a:r>
            <a:endParaRPr lang="en-US" sz="1600" dirty="0"/>
          </a:p>
        </p:txBody>
      </p:sp>
      <p:sp>
        <p:nvSpPr>
          <p:cNvPr id="6" name="Text 3"/>
          <p:cNvSpPr txBox="1"/>
          <p:nvPr/>
        </p:nvSpPr>
        <p:spPr>
          <a:xfrm>
            <a:off x="731520" y="1920240"/>
            <a:ext cx="2240280" cy="1554480"/>
          </a:xfrm>
          <a:prstGeom prst="rect">
            <a:avLst/>
          </a:prstGeom>
          <a:noFill/>
          <a:ln/>
        </p:spPr>
        <p:txBody>
          <a:bodyPr wrap="square" lIns="0" tIns="0" rIns="0" bIns="0" rtlCol="0" anchor="t"/>
          <a:lstStyle/>
          <a:p>
            <a:pPr algn="l" indent="0" marL="0">
              <a:buNone/>
            </a:pPr>
            <a:r>
              <a:rPr lang="en-US" sz="1400" dirty="0">
                <a:solidFill>
                  <a:schemeClr val="tx1"/>
                </a:solidFill>
              </a:rPr>
              <a:t>PDF → Text (bis 400.000 Zeichen). Scans werden markiert, nie still als negativ gewertet.</a:t>
            </a:r>
            <a:endParaRPr lang="en-US" sz="1400" dirty="0"/>
          </a:p>
        </p:txBody>
      </p:sp>
      <p:sp>
        <p:nvSpPr>
          <p:cNvPr id="7" name="Pfeil"/>
          <p:cNvSpPr/>
          <p:nvPr/>
        </p:nvSpPr>
        <p:spPr>
          <a:xfrm>
            <a:off x="3172968" y="2286000"/>
            <a:ext cx="182880" cy="320040"/>
          </a:xfrm>
          <a:prstGeom prst="rightArrow">
            <a:avLst/>
          </a:prstGeom>
          <a:solidFill>
            <a:schemeClr val="accent4"/>
          </a:solidFill>
          <a:ln w="12700">
            <a:solidFill>
              <a:schemeClr val="accent4"/>
            </a:solidFill>
            <a:prstDash val="solid"/>
          </a:ln>
        </p:spPr>
      </p:sp>
      <p:sp>
        <p:nvSpPr>
          <p:cNvPr id="8" name="Modell 2"/>
          <p:cNvSpPr/>
          <p:nvPr/>
        </p:nvSpPr>
        <p:spPr>
          <a:xfrm>
            <a:off x="3364992" y="1371600"/>
            <a:ext cx="2606040" cy="2148840"/>
          </a:xfrm>
          <a:prstGeom prst="rect">
            <a:avLst/>
          </a:prstGeom>
          <a:solidFill>
            <a:schemeClr val="bg2"/>
          </a:solidFill>
          <a:ln w="12700">
            <a:solidFill>
              <a:schemeClr val="bg2"/>
            </a:solidFill>
            <a:prstDash val="solid"/>
          </a:ln>
        </p:spPr>
      </p:sp>
      <p:sp>
        <p:nvSpPr>
          <p:cNvPr id="9" name="Text 6"/>
          <p:cNvSpPr txBox="1"/>
          <p:nvPr/>
        </p:nvSpPr>
        <p:spPr>
          <a:xfrm>
            <a:off x="3547872" y="1481328"/>
            <a:ext cx="2240280" cy="365760"/>
          </a:xfrm>
          <a:prstGeom prst="rect">
            <a:avLst/>
          </a:prstGeom>
          <a:noFill/>
          <a:ln/>
        </p:spPr>
        <p:txBody>
          <a:bodyPr wrap="square" lIns="0" tIns="0" rIns="0" bIns="0" rtlCol="0" anchor="t"/>
          <a:lstStyle/>
          <a:p>
            <a:pPr algn="l" indent="0" marL="0">
              <a:buNone/>
            </a:pPr>
            <a:r>
              <a:rPr lang="en-US" sz="1600" b="1" dirty="0">
                <a:solidFill>
                  <a:schemeClr val="accent1"/>
                </a:solidFill>
              </a:rPr>
              <a:t>2 · TF-IDF</a:t>
            </a:r>
            <a:endParaRPr lang="en-US" sz="1600" dirty="0"/>
          </a:p>
        </p:txBody>
      </p:sp>
      <p:sp>
        <p:nvSpPr>
          <p:cNvPr id="10" name="Text 7"/>
          <p:cNvSpPr txBox="1"/>
          <p:nvPr/>
        </p:nvSpPr>
        <p:spPr>
          <a:xfrm>
            <a:off x="3547872" y="1920240"/>
            <a:ext cx="2240280" cy="1554480"/>
          </a:xfrm>
          <a:prstGeom prst="rect">
            <a:avLst/>
          </a:prstGeom>
          <a:noFill/>
          <a:ln/>
        </p:spPr>
        <p:txBody>
          <a:bodyPr wrap="square" lIns="0" tIns="0" rIns="0" bIns="0" rtlCol="0" anchor="t"/>
          <a:lstStyle/>
          <a:p>
            <a:pPr algn="l" indent="0" marL="0">
              <a:buNone/>
            </a:pPr>
            <a:r>
              <a:rPr lang="en-US" sz="1400" dirty="0">
                <a:solidFill>
                  <a:schemeClr val="tx1"/>
                </a:solidFill>
              </a:rPr>
              <a:t>Wörter (1–2) und Zeichenfolgen (3–5) werden zu Zahlen; seltene, aber typische Wörter zählen viel.</a:t>
            </a:r>
            <a:endParaRPr lang="en-US" sz="1400" dirty="0"/>
          </a:p>
        </p:txBody>
      </p:sp>
      <p:sp>
        <p:nvSpPr>
          <p:cNvPr id="11" name="Pfeil"/>
          <p:cNvSpPr/>
          <p:nvPr/>
        </p:nvSpPr>
        <p:spPr>
          <a:xfrm>
            <a:off x="5989320" y="2286000"/>
            <a:ext cx="182880" cy="320040"/>
          </a:xfrm>
          <a:prstGeom prst="rightArrow">
            <a:avLst/>
          </a:prstGeom>
          <a:solidFill>
            <a:schemeClr val="accent4"/>
          </a:solidFill>
          <a:ln w="12700">
            <a:solidFill>
              <a:schemeClr val="accent4"/>
            </a:solidFill>
            <a:prstDash val="solid"/>
          </a:ln>
        </p:spPr>
      </p:sp>
      <p:sp>
        <p:nvSpPr>
          <p:cNvPr id="12" name="Modell 3"/>
          <p:cNvSpPr/>
          <p:nvPr/>
        </p:nvSpPr>
        <p:spPr>
          <a:xfrm>
            <a:off x="6181344" y="1371600"/>
            <a:ext cx="2606040" cy="2148840"/>
          </a:xfrm>
          <a:prstGeom prst="rect">
            <a:avLst/>
          </a:prstGeom>
          <a:solidFill>
            <a:schemeClr val="bg2"/>
          </a:solidFill>
          <a:ln w="12700">
            <a:solidFill>
              <a:schemeClr val="bg2"/>
            </a:solidFill>
            <a:prstDash val="solid"/>
          </a:ln>
        </p:spPr>
      </p:sp>
      <p:sp>
        <p:nvSpPr>
          <p:cNvPr id="13" name="Text 10"/>
          <p:cNvSpPr txBox="1"/>
          <p:nvPr/>
        </p:nvSpPr>
        <p:spPr>
          <a:xfrm>
            <a:off x="6364224" y="1481328"/>
            <a:ext cx="2240280" cy="365760"/>
          </a:xfrm>
          <a:prstGeom prst="rect">
            <a:avLst/>
          </a:prstGeom>
          <a:noFill/>
          <a:ln/>
        </p:spPr>
        <p:txBody>
          <a:bodyPr wrap="square" lIns="0" tIns="0" rIns="0" bIns="0" rtlCol="0" anchor="t"/>
          <a:lstStyle/>
          <a:p>
            <a:pPr algn="l" indent="0" marL="0">
              <a:buNone/>
            </a:pPr>
            <a:r>
              <a:rPr lang="en-US" sz="1600" b="1" dirty="0">
                <a:solidFill>
                  <a:schemeClr val="accent1"/>
                </a:solidFill>
              </a:rPr>
              <a:t>3 · Logistische Regression</a:t>
            </a:r>
            <a:endParaRPr lang="en-US" sz="1600" dirty="0"/>
          </a:p>
        </p:txBody>
      </p:sp>
      <p:sp>
        <p:nvSpPr>
          <p:cNvPr id="14" name="Text 11"/>
          <p:cNvSpPr txBox="1"/>
          <p:nvPr/>
        </p:nvSpPr>
        <p:spPr>
          <a:xfrm>
            <a:off x="6364224" y="1920240"/>
            <a:ext cx="2240280" cy="1554480"/>
          </a:xfrm>
          <a:prstGeom prst="rect">
            <a:avLst/>
          </a:prstGeom>
          <a:noFill/>
          <a:ln/>
        </p:spPr>
        <p:txBody>
          <a:bodyPr wrap="square" lIns="0" tIns="0" rIns="0" bIns="0" rtlCol="0" anchor="t"/>
          <a:lstStyle/>
          <a:p>
            <a:pPr algn="l" indent="0" marL="0">
              <a:buNone/>
            </a:pPr>
            <a:r>
              <a:rPr lang="en-US" sz="1400" dirty="0">
                <a:solidFill>
                  <a:schemeClr val="tx1"/>
                </a:solidFill>
              </a:rPr>
              <a:t>Lineares Modell mit ausgeglichenen Klassen; schnell und erklärbar.</a:t>
            </a:r>
            <a:endParaRPr lang="en-US" sz="1400" dirty="0"/>
          </a:p>
        </p:txBody>
      </p:sp>
      <p:sp>
        <p:nvSpPr>
          <p:cNvPr id="15" name="Pfeil"/>
          <p:cNvSpPr/>
          <p:nvPr/>
        </p:nvSpPr>
        <p:spPr>
          <a:xfrm>
            <a:off x="8805672" y="2286000"/>
            <a:ext cx="182880" cy="320040"/>
          </a:xfrm>
          <a:prstGeom prst="rightArrow">
            <a:avLst/>
          </a:prstGeom>
          <a:solidFill>
            <a:schemeClr val="accent4"/>
          </a:solidFill>
          <a:ln w="12700">
            <a:solidFill>
              <a:schemeClr val="accent4"/>
            </a:solidFill>
            <a:prstDash val="solid"/>
          </a:ln>
        </p:spPr>
      </p:sp>
      <p:sp>
        <p:nvSpPr>
          <p:cNvPr id="16" name="Modell 4"/>
          <p:cNvSpPr/>
          <p:nvPr/>
        </p:nvSpPr>
        <p:spPr>
          <a:xfrm>
            <a:off x="8997696" y="1371600"/>
            <a:ext cx="2606040" cy="2148840"/>
          </a:xfrm>
          <a:prstGeom prst="rect">
            <a:avLst/>
          </a:prstGeom>
          <a:solidFill>
            <a:schemeClr val="bg2"/>
          </a:solidFill>
          <a:ln w="12700">
            <a:solidFill>
              <a:schemeClr val="bg2"/>
            </a:solidFill>
            <a:prstDash val="solid"/>
          </a:ln>
        </p:spPr>
      </p:sp>
      <p:sp>
        <p:nvSpPr>
          <p:cNvPr id="17" name="Text 14"/>
          <p:cNvSpPr txBox="1"/>
          <p:nvPr/>
        </p:nvSpPr>
        <p:spPr>
          <a:xfrm>
            <a:off x="9180576" y="1481328"/>
            <a:ext cx="2240280" cy="365760"/>
          </a:xfrm>
          <a:prstGeom prst="rect">
            <a:avLst/>
          </a:prstGeom>
          <a:noFill/>
          <a:ln/>
        </p:spPr>
        <p:txBody>
          <a:bodyPr wrap="square" lIns="0" tIns="0" rIns="0" bIns="0" rtlCol="0" anchor="t"/>
          <a:lstStyle/>
          <a:p>
            <a:pPr algn="l" indent="0" marL="0">
              <a:buNone/>
            </a:pPr>
            <a:r>
              <a:rPr lang="en-US" sz="1600" b="1" dirty="0">
                <a:solidFill>
                  <a:schemeClr val="accent1"/>
                </a:solidFill>
              </a:rPr>
              <a:t>4 · Score 0–1</a:t>
            </a:r>
            <a:endParaRPr lang="en-US" sz="1600" dirty="0"/>
          </a:p>
        </p:txBody>
      </p:sp>
      <p:sp>
        <p:nvSpPr>
          <p:cNvPr id="18" name="Text 15"/>
          <p:cNvSpPr txBox="1"/>
          <p:nvPr/>
        </p:nvSpPr>
        <p:spPr>
          <a:xfrm>
            <a:off x="9180576" y="1920240"/>
            <a:ext cx="2240280" cy="1554480"/>
          </a:xfrm>
          <a:prstGeom prst="rect">
            <a:avLst/>
          </a:prstGeom>
          <a:noFill/>
          <a:ln/>
        </p:spPr>
        <p:txBody>
          <a:bodyPr wrap="square" lIns="0" tIns="0" rIns="0" bIns="0" rtlCol="0" anchor="t"/>
          <a:lstStyle/>
          <a:p>
            <a:pPr algn="l" indent="0" marL="0">
              <a:buNone/>
            </a:pPr>
            <a:r>
              <a:rPr lang="en-US" sz="1400" dirty="0">
                <a:solidFill>
                  <a:schemeClr val="tx1"/>
                </a:solidFill>
              </a:rPr>
              <a:t>Wie ähnlich ist das Dokument einem Modulhandbuch?</a:t>
            </a:r>
            <a:endParaRPr lang="en-US" sz="1400" dirty="0"/>
          </a:p>
        </p:txBody>
      </p:sp>
      <p:sp>
        <p:nvSpPr>
          <p:cNvPr id="19" name="Text 16"/>
          <p:cNvSpPr txBox="1"/>
          <p:nvPr/>
        </p:nvSpPr>
        <p:spPr>
          <a:xfrm>
            <a:off x="548640" y="3703320"/>
            <a:ext cx="11091672" cy="320040"/>
          </a:xfrm>
          <a:prstGeom prst="rect">
            <a:avLst/>
          </a:prstGeom>
          <a:noFill/>
          <a:ln/>
        </p:spPr>
        <p:txBody>
          <a:bodyPr wrap="square" lIns="0" tIns="0" rIns="0" bIns="0" rtlCol="0" anchor="t"/>
          <a:lstStyle/>
          <a:p>
            <a:pPr algn="l" indent="0" marL="0">
              <a:buNone/>
            </a:pPr>
            <a:r>
              <a:rPr lang="en-US" sz="1600" b="1" dirty="0">
                <a:solidFill>
                  <a:schemeClr val="tx2"/>
                </a:solidFill>
              </a:rPr>
              <a:t>Dreiteilige Entscheidung statt Ja/Nein</a:t>
            </a:r>
            <a:endParaRPr lang="en-US" sz="1600" dirty="0"/>
          </a:p>
        </p:txBody>
      </p:sp>
      <p:sp>
        <p:nvSpPr>
          <p:cNvPr id="20" name="Entscheidung 1"/>
          <p:cNvSpPr/>
          <p:nvPr/>
        </p:nvSpPr>
        <p:spPr>
          <a:xfrm>
            <a:off x="548640" y="4114800"/>
            <a:ext cx="3593592" cy="914400"/>
          </a:xfrm>
          <a:prstGeom prst="rect">
            <a:avLst/>
          </a:prstGeom>
          <a:solidFill>
            <a:schemeClr val="bg2"/>
          </a:solidFill>
          <a:ln w="12700">
            <a:solidFill>
              <a:schemeClr val="bg2"/>
            </a:solidFill>
            <a:prstDash val="solid"/>
          </a:ln>
        </p:spPr>
      </p:sp>
      <p:sp>
        <p:nvSpPr>
          <p:cNvPr id="21" name="Text 18"/>
          <p:cNvSpPr txBox="1"/>
          <p:nvPr/>
        </p:nvSpPr>
        <p:spPr>
          <a:xfrm>
            <a:off x="731520" y="4114800"/>
            <a:ext cx="3200400" cy="914400"/>
          </a:xfrm>
          <a:prstGeom prst="rect">
            <a:avLst/>
          </a:prstGeom>
          <a:noFill/>
          <a:ln/>
        </p:spPr>
        <p:txBody>
          <a:bodyPr wrap="square" lIns="0" tIns="0" rIns="0" bIns="0" rtlCol="0" anchor="ctr"/>
          <a:lstStyle/>
          <a:p>
            <a:pPr algn="l" indent="0" marL="0">
              <a:buNone/>
            </a:pPr>
            <a:r>
              <a:rPr lang="en-US" sz="1400" b="1" dirty="0">
                <a:solidFill>
                  <a:schemeClr val="tx1"/>
                </a:solidFill>
              </a:rPr>
              <a:t>Score ≤ untere Schwelle</a:t>
            </a:r>
            <a:endParaRPr lang="en-US" sz="1400" dirty="0"/>
          </a:p>
          <a:p>
            <a:pPr algn="l" indent="0" marL="0">
              <a:buNone/>
            </a:pPr>
            <a:r>
              <a:rPr lang="en-US" sz="1400" dirty="0">
                <a:solidFill>
                  <a:schemeClr val="tx1"/>
                </a:solidFill>
              </a:rPr>
              <a:t>automatisch negativ – verworfen</a:t>
            </a:r>
            <a:endParaRPr lang="en-US" sz="1400" dirty="0"/>
          </a:p>
        </p:txBody>
      </p:sp>
      <p:sp>
        <p:nvSpPr>
          <p:cNvPr id="22" name="Entscheidung 2"/>
          <p:cNvSpPr/>
          <p:nvPr/>
        </p:nvSpPr>
        <p:spPr>
          <a:xfrm>
            <a:off x="4297680" y="4114800"/>
            <a:ext cx="3593592" cy="914400"/>
          </a:xfrm>
          <a:prstGeom prst="rect">
            <a:avLst/>
          </a:prstGeom>
          <a:solidFill>
            <a:schemeClr val="accent5"/>
          </a:solidFill>
          <a:ln w="12700">
            <a:solidFill>
              <a:schemeClr val="accent5"/>
            </a:solidFill>
            <a:prstDash val="solid"/>
          </a:ln>
        </p:spPr>
      </p:sp>
      <p:sp>
        <p:nvSpPr>
          <p:cNvPr id="23" name="Text 20"/>
          <p:cNvSpPr txBox="1"/>
          <p:nvPr/>
        </p:nvSpPr>
        <p:spPr>
          <a:xfrm>
            <a:off x="4480560" y="4114800"/>
            <a:ext cx="3200400" cy="914400"/>
          </a:xfrm>
          <a:prstGeom prst="rect">
            <a:avLst/>
          </a:prstGeom>
          <a:noFill/>
          <a:ln/>
        </p:spPr>
        <p:txBody>
          <a:bodyPr wrap="square" lIns="0" tIns="0" rIns="0" bIns="0" rtlCol="0" anchor="ctr"/>
          <a:lstStyle/>
          <a:p>
            <a:pPr algn="l" indent="0" marL="0">
              <a:buNone/>
            </a:pPr>
            <a:r>
              <a:rPr lang="en-US" sz="1400" b="1" dirty="0">
                <a:solidFill>
                  <a:schemeClr val="tx1"/>
                </a:solidFill>
              </a:rPr>
              <a:t>dazwischen</a:t>
            </a:r>
            <a:endParaRPr lang="en-US" sz="1400" dirty="0"/>
          </a:p>
          <a:p>
            <a:pPr algn="l" indent="0" marL="0">
              <a:buNone/>
            </a:pPr>
            <a:r>
              <a:rPr lang="en-US" sz="1400" dirty="0">
                <a:solidFill>
                  <a:schemeClr val="tx1"/>
                </a:solidFill>
              </a:rPr>
              <a:t>unsicher – Sprachmodell bzw. Review</a:t>
            </a:r>
            <a:endParaRPr lang="en-US" sz="1400" dirty="0"/>
          </a:p>
        </p:txBody>
      </p:sp>
      <p:sp>
        <p:nvSpPr>
          <p:cNvPr id="24" name="Entscheidung 3"/>
          <p:cNvSpPr/>
          <p:nvPr/>
        </p:nvSpPr>
        <p:spPr>
          <a:xfrm>
            <a:off x="8046720" y="4114800"/>
            <a:ext cx="3593592" cy="914400"/>
          </a:xfrm>
          <a:prstGeom prst="rect">
            <a:avLst/>
          </a:prstGeom>
          <a:solidFill>
            <a:schemeClr val="accent1"/>
          </a:solidFill>
          <a:ln w="12700">
            <a:solidFill>
              <a:schemeClr val="accent1"/>
            </a:solidFill>
            <a:prstDash val="solid"/>
          </a:ln>
        </p:spPr>
      </p:sp>
      <p:sp>
        <p:nvSpPr>
          <p:cNvPr id="25" name="Text 22"/>
          <p:cNvSpPr txBox="1"/>
          <p:nvPr/>
        </p:nvSpPr>
        <p:spPr>
          <a:xfrm>
            <a:off x="8229600" y="4114800"/>
            <a:ext cx="3200400" cy="914400"/>
          </a:xfrm>
          <a:prstGeom prst="rect">
            <a:avLst/>
          </a:prstGeom>
          <a:noFill/>
          <a:ln/>
        </p:spPr>
        <p:txBody>
          <a:bodyPr wrap="square" lIns="0" tIns="0" rIns="0" bIns="0" rtlCol="0" anchor="ctr"/>
          <a:lstStyle/>
          <a:p>
            <a:pPr algn="l" indent="0" marL="0">
              <a:buNone/>
            </a:pPr>
            <a:r>
              <a:rPr lang="en-US" sz="1400" b="1" dirty="0">
                <a:solidFill>
                  <a:schemeClr val="bg1"/>
                </a:solidFill>
              </a:rPr>
              <a:t>Score ≥ obere Schwelle</a:t>
            </a:r>
            <a:endParaRPr lang="en-US" sz="1400" dirty="0"/>
          </a:p>
          <a:p>
            <a:pPr algn="l" indent="0" marL="0">
              <a:buNone/>
            </a:pPr>
            <a:r>
              <a:rPr lang="en-US" sz="1400" dirty="0">
                <a:solidFill>
                  <a:schemeClr val="bg1"/>
                </a:solidFill>
              </a:rPr>
              <a:t>automatisch positiv – übernommen</a:t>
            </a:r>
            <a:endParaRPr lang="en-US" sz="1400" dirty="0"/>
          </a:p>
        </p:txBody>
      </p:sp>
      <p:sp>
        <p:nvSpPr>
          <p:cNvPr id="26" name="Text 23"/>
          <p:cNvSpPr txBox="1"/>
          <p:nvPr/>
        </p:nvSpPr>
        <p:spPr>
          <a:xfrm>
            <a:off x="548640" y="5257800"/>
            <a:ext cx="11091672" cy="914400"/>
          </a:xfrm>
          <a:prstGeom prst="rect">
            <a:avLst/>
          </a:prstGeom>
          <a:noFill/>
          <a:ln/>
        </p:spPr>
        <p:txBody>
          <a:bodyPr wrap="square" lIns="0" tIns="0" rIns="0" bIns="0" rtlCol="0" anchor="t"/>
          <a:lstStyle/>
          <a:p>
            <a:pPr algn="l" indent="0" marL="0">
              <a:buNone/>
            </a:pPr>
            <a:r>
              <a:rPr lang="en-US" sz="1400" dirty="0">
                <a:solidFill>
                  <a:schemeClr val="tx1"/>
                </a:solidFill>
              </a:rPr>
              <a:t>Schwellen werden aus den Trainingsdaten abgeleitet (Recall-Ziel 95 %), nicht fest auf 0,5 gesetzt; für den Live-Crawl wird 0,8 empfohlen. Bewusst kein Transformer: schnell auf CPU (165.000 PDFs in Stunden), erklärbar, ehrlich evaluierbar.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Training und Evaluation des ML-Modells</a:t>
            </a:r>
            <a:endParaRPr lang="en-US" sz="2800" dirty="0"/>
          </a:p>
        </p:txBody>
      </p:sp>
      <p:sp>
        <p:nvSpPr>
          <p:cNvPr id="4" name="Training Text"/>
          <p:cNvSpPr/>
          <p:nvPr/>
        </p:nvSpPr>
        <p:spPr>
          <a:xfrm>
            <a:off x="548640" y="1371600"/>
            <a:ext cx="5577840" cy="4846320"/>
          </a:xfrm>
          <a:prstGeom prst="rect">
            <a:avLst/>
          </a:prstGeom>
          <a:solidFill>
            <a:schemeClr val="bg2"/>
          </a:solidFill>
          <a:ln w="12700">
            <a:solidFill>
              <a:schemeClr val="bg2"/>
            </a:solidFill>
            <a:prstDash val="solid"/>
          </a:ln>
        </p:spPr>
      </p:sp>
      <p:sp>
        <p:nvSpPr>
          <p:cNvPr id="5" name="Text 2"/>
          <p:cNvSpPr txBox="1"/>
          <p:nvPr/>
        </p:nvSpPr>
        <p:spPr>
          <a:xfrm>
            <a:off x="777240" y="1508760"/>
            <a:ext cx="5120640" cy="45720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Daten: erst 202 Dokumente (21 Hochschulen), später 2.695 Dokumente (269 Hochschulen); Duplikate per Text-Hash entfernt</a:t>
            </a:r>
            <a:endParaRPr lang="en-US" sz="1400" dirty="0"/>
          </a:p>
          <a:p>
            <a:pPr algn="l" marL="342900" indent="-342900">
              <a:spcAft>
                <a:spcPts val="800"/>
              </a:spcAft>
              <a:buSzPct val="100000"/>
              <a:buChar char="•"/>
            </a:pPr>
            <a:r>
              <a:rPr lang="en-US" sz="1400" dirty="0">
                <a:solidFill>
                  <a:schemeClr val="tx1"/>
                </a:solidFill>
              </a:rPr>
              <a:t>Split: 5-fach, gruppiert nach Hochschule – keine Hochschule in Training und Test (misst Generalisierung auf unbekannte Hochschulen)</a:t>
            </a:r>
            <a:endParaRPr lang="en-US" sz="1400" dirty="0"/>
          </a:p>
          <a:p>
            <a:pPr algn="l" marL="342900" indent="-342900">
              <a:spcAft>
                <a:spcPts val="800"/>
              </a:spcAft>
              <a:buSzPct val="100000"/>
              <a:buChar char="•"/>
            </a:pPr>
            <a:r>
              <a:rPr lang="en-US" sz="1400" dirty="0">
                <a:solidFill>
                  <a:schemeClr val="tx1"/>
                </a:solidFill>
              </a:rPr>
              <a:t>Schwellen aus den Daten: untere für 95 % Recall, obere für 95 % Precision</a:t>
            </a:r>
            <a:endParaRPr lang="en-US" sz="1400" dirty="0"/>
          </a:p>
          <a:p>
            <a:pPr algn="l" marL="342900" indent="-342900">
              <a:spcAft>
                <a:spcPts val="800"/>
              </a:spcAft>
              <a:buSzPct val="100000"/>
              <a:buChar char="•"/>
            </a:pPr>
            <a:r>
              <a:rPr lang="en-US" sz="1400" dirty="0">
                <a:solidFill>
                  <a:schemeClr val="tx1"/>
                </a:solidFill>
              </a:rPr>
              <a:t>Leakage-Check: Inhalt allein vs. Inhalt + Dateiname/Titel – fast gleich (PR-AUC 0,957 / 0,960), daher schlankes Modell</a:t>
            </a:r>
            <a:endParaRPr lang="en-US" sz="1400" dirty="0"/>
          </a:p>
          <a:p>
            <a:pPr algn="l" marL="342900" indent="-342900">
              <a:spcAft>
                <a:spcPts val="800"/>
              </a:spcAft>
              <a:buSzPct val="100000"/>
              <a:buChar char="•"/>
            </a:pPr>
            <a:r>
              <a:rPr lang="en-US" sz="1400" dirty="0">
                <a:solidFill>
                  <a:schemeClr val="tx1"/>
                </a:solidFill>
              </a:rPr>
              <a:t>Erste Baseline: Recall 95,5 %, Precision 87,1 % bei Ziel-Recall</a:t>
            </a:r>
            <a:endParaRPr lang="en-US" sz="1400" dirty="0"/>
          </a:p>
          <a:p>
            <a:pPr algn="l" marL="342900" indent="-342900">
              <a:spcAft>
                <a:spcPts val="800"/>
              </a:spcAft>
              <a:buSzPct val="100000"/>
              <a:buChar char="•"/>
            </a:pPr>
            <a:r>
              <a:rPr lang="en-US" sz="1400" dirty="0">
                <a:solidFill>
                  <a:schemeClr val="tx1"/>
                </a:solidFill>
              </a:rPr>
              <a:t>Human-in-the-Loop: Review-Verdikte fließen ins Trainingsset, Modell wird neu trainiert</a:t>
            </a:r>
            <a:endParaRPr lang="en-US" sz="1400" dirty="0"/>
          </a:p>
        </p:txBody>
      </p:sp>
      <p:sp>
        <p:nvSpPr>
          <p:cNvPr id="6" name="Text 3"/>
          <p:cNvSpPr txBox="1"/>
          <p:nvPr/>
        </p:nvSpPr>
        <p:spPr>
          <a:xfrm>
            <a:off x="6400800" y="1371600"/>
            <a:ext cx="5239512" cy="502920"/>
          </a:xfrm>
          <a:prstGeom prst="rect">
            <a:avLst/>
          </a:prstGeom>
          <a:noFill/>
          <a:ln/>
        </p:spPr>
        <p:txBody>
          <a:bodyPr wrap="square" lIns="0" tIns="0" rIns="0" bIns="0" rtlCol="0" anchor="t"/>
          <a:lstStyle/>
          <a:p>
            <a:pPr algn="l" indent="0" marL="0">
              <a:buNone/>
            </a:pPr>
            <a:r>
              <a:rPr lang="en-US" sz="1500" b="1" dirty="0">
                <a:solidFill>
                  <a:schemeClr val="tx2"/>
                </a:solidFill>
              </a:rPr>
              <a:t>Praxis: Anteil vom Sprachmodell bestätigter Treffer je Score-Bereich</a:t>
            </a:r>
            <a:endParaRPr lang="en-US" sz="1500" dirty="0"/>
          </a:p>
        </p:txBody>
      </p:sp>
      <p:graphicFrame>
        <p:nvGraphicFramePr>
          <p:cNvPr id="7" name="Chart 0" descr=""/>
          <p:cNvGraphicFramePr/>
          <p:nvPr/>
        </p:nvGraphicFramePr>
        <p:xfrm>
          <a:off x="6400800" y="1920240"/>
          <a:ext cx="5239512" cy="374904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6400800" y="5760720"/>
            <a:ext cx="5239512" cy="457200"/>
          </a:xfrm>
          <a:prstGeom prst="rect">
            <a:avLst/>
          </a:prstGeom>
          <a:noFill/>
          <a:ln/>
        </p:spPr>
        <p:txBody>
          <a:bodyPr wrap="square" lIns="0" tIns="0" rIns="0" bIns="0" rtlCol="0" anchor="t"/>
          <a:lstStyle/>
          <a:p>
            <a:pPr algn="l" indent="0" marL="0">
              <a:buNone/>
            </a:pPr>
            <a:r>
              <a:rPr lang="en-US" sz="1300" dirty="0">
                <a:solidFill>
                  <a:schemeClr val="accent4"/>
                </a:solidFill>
              </a:rPr>
              <a:t>Je höher der Score, desto verlässlicher – aber erst ab 0,9 wirklich hoch.</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Zweite Stufe – Prüfung durch das Sprachmodell</a:t>
            </a:r>
            <a:endParaRPr lang="en-US" sz="2800" dirty="0"/>
          </a:p>
        </p:txBody>
      </p:sp>
      <p:sp>
        <p:nvSpPr>
          <p:cNvPr id="4" name="Spec"/>
          <p:cNvSpPr/>
          <p:nvPr/>
        </p:nvSpPr>
        <p:spPr>
          <a:xfrm>
            <a:off x="548640" y="1371600"/>
            <a:ext cx="5852160" cy="2743200"/>
          </a:xfrm>
          <a:prstGeom prst="rect">
            <a:avLst/>
          </a:prstGeom>
          <a:solidFill>
            <a:schemeClr val="bg2"/>
          </a:solidFill>
          <a:ln w="12700">
            <a:solidFill>
              <a:schemeClr val="bg2"/>
            </a:solidFill>
            <a:prstDash val="solid"/>
          </a:ln>
        </p:spPr>
      </p:sp>
      <p:sp>
        <p:nvSpPr>
          <p:cNvPr id="5" name="Text 2"/>
          <p:cNvSpPr txBox="1"/>
          <p:nvPr/>
        </p:nvSpPr>
        <p:spPr>
          <a:xfrm>
            <a:off x="777240" y="1481328"/>
            <a:ext cx="5394960" cy="365760"/>
          </a:xfrm>
          <a:prstGeom prst="rect">
            <a:avLst/>
          </a:prstGeom>
          <a:noFill/>
          <a:ln/>
        </p:spPr>
        <p:txBody>
          <a:bodyPr wrap="square" lIns="0" tIns="0" rIns="0" bIns="0" rtlCol="0" anchor="t"/>
          <a:lstStyle/>
          <a:p>
            <a:pPr algn="l" indent="0" marL="0">
              <a:buNone/>
            </a:pPr>
            <a:r>
              <a:rPr lang="en-US" sz="1600" b="1" dirty="0">
                <a:solidFill>
                  <a:schemeClr val="tx2"/>
                </a:solidFill>
              </a:rPr>
              <a:t>Die Spec: Definition und Gegenbeispiele als Daten</a:t>
            </a:r>
            <a:endParaRPr lang="en-US" sz="1600" dirty="0"/>
          </a:p>
        </p:txBody>
      </p:sp>
      <p:sp>
        <p:nvSpPr>
          <p:cNvPr id="6" name="Text 3"/>
          <p:cNvSpPr txBox="1"/>
          <p:nvPr/>
        </p:nvSpPr>
        <p:spPr>
          <a:xfrm>
            <a:off x="777240" y="1920240"/>
            <a:ext cx="5394960" cy="2103120"/>
          </a:xfrm>
          <a:prstGeom prst="rect">
            <a:avLst/>
          </a:prstGeom>
          <a:noFill/>
          <a:ln/>
        </p:spPr>
        <p:txBody>
          <a:bodyPr wrap="square" lIns="0" tIns="0" rIns="0" bIns="0" rtlCol="0" anchor="t"/>
          <a:lstStyle/>
          <a:p>
            <a:pPr algn="l" indent="0" marL="0">
              <a:spcAft>
                <a:spcPts val="800"/>
              </a:spcAft>
              <a:buNone/>
            </a:pPr>
            <a:r>
              <a:rPr lang="en-US" sz="1400" b="1" dirty="0">
                <a:solidFill>
                  <a:schemeClr val="tx1"/>
                </a:solidFill>
              </a:rPr>
              <a:t>Match: </a:t>
            </a:r>
            <a:pPr algn="l" indent="0" marL="0">
              <a:spcAft>
                <a:spcPts val="800"/>
              </a:spcAft>
              <a:buNone/>
            </a:pPr>
            <a:r>
              <a:rPr lang="en-US" sz="1400" dirty="0">
                <a:solidFill>
                  <a:schemeClr val="tx1"/>
                </a:solidFill>
              </a:rPr>
              <a:t>systematisches Modulhandbuch eines Studiengangs – je Modul Lernergebnisse, Inhalte, ECTS/SWS, Prüfungsform.</a:t>
            </a:r>
            <a:endParaRPr lang="en-US" sz="1400" dirty="0"/>
          </a:p>
          <a:p>
            <a:pPr algn="l" indent="0" marL="0">
              <a:spcAft>
                <a:spcPts val="800"/>
              </a:spcAft>
              <a:buNone/>
            </a:pPr>
            <a:r>
              <a:rPr lang="en-US" sz="1400" b="1" dirty="0">
                <a:solidFill>
                  <a:schemeClr val="tx1"/>
                </a:solidFill>
              </a:rPr>
              <a:t>Kein Match: </a:t>
            </a:r>
            <a:pPr algn="l" indent="0" marL="0">
              <a:spcAft>
                <a:spcPts val="800"/>
              </a:spcAft>
              <a:buNone/>
            </a:pPr>
            <a:r>
              <a:rPr lang="en-US" sz="1400" dirty="0">
                <a:solidFill>
                  <a:schemeClr val="tx1"/>
                </a:solidFill>
              </a:rPr>
              <a:t>Prüfungs-/Studienordnung, einzelnes Modulblatt, Vorlesungsverzeichnis, Flyer, Antrag, allgemeine Studieninfo.</a:t>
            </a:r>
            <a:endParaRPr lang="en-US" sz="1400" dirty="0"/>
          </a:p>
          <a:p>
            <a:pPr algn="l" indent="0" marL="0">
              <a:spcAft>
                <a:spcPts val="800"/>
              </a:spcAft>
              <a:buNone/>
            </a:pPr>
            <a:r>
              <a:rPr lang="en-US" sz="1400" b="1" dirty="0">
                <a:solidFill>
                  <a:schemeClr val="tx1"/>
                </a:solidFill>
              </a:rPr>
              <a:t>Antwort: </a:t>
            </a:r>
            <a:pPr algn="l" indent="0" marL="0">
              <a:spcAft>
                <a:spcPts val="800"/>
              </a:spcAft>
              <a:buNone/>
            </a:pPr>
            <a:r>
              <a:rPr lang="en-US" sz="1400" dirty="0">
                <a:solidFill>
                  <a:schemeClr val="tx1"/>
                </a:solidFill>
              </a:rPr>
              <a:t>{"is_match": true|false, "confidence": 0–1, "reason": "≤ 12 Wörter"}</a:t>
            </a:r>
            <a:endParaRPr lang="en-US" sz="1400" dirty="0"/>
          </a:p>
        </p:txBody>
      </p:sp>
      <p:sp>
        <p:nvSpPr>
          <p:cNvPr id="7" name="Grenzen"/>
          <p:cNvSpPr/>
          <p:nvPr/>
        </p:nvSpPr>
        <p:spPr>
          <a:xfrm>
            <a:off x="548640" y="4297680"/>
            <a:ext cx="5852160" cy="1920240"/>
          </a:xfrm>
          <a:prstGeom prst="rect">
            <a:avLst/>
          </a:prstGeom>
          <a:solidFill>
            <a:schemeClr val="bg2"/>
          </a:solidFill>
          <a:ln w="12700">
            <a:solidFill>
              <a:schemeClr val="bg2"/>
            </a:solidFill>
            <a:prstDash val="solid"/>
          </a:ln>
        </p:spPr>
      </p:sp>
      <p:sp>
        <p:nvSpPr>
          <p:cNvPr id="8" name="Text 5"/>
          <p:cNvSpPr txBox="1"/>
          <p:nvPr/>
        </p:nvSpPr>
        <p:spPr>
          <a:xfrm>
            <a:off x="777240" y="4389120"/>
            <a:ext cx="5394960" cy="1783080"/>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Grenzen</a:t>
            </a:r>
            <a:endParaRPr lang="en-US" sz="1400" dirty="0"/>
          </a:p>
          <a:p>
            <a:pPr algn="l" indent="0" marL="0">
              <a:spcAft>
                <a:spcPts val="600"/>
              </a:spcAft>
              <a:buNone/>
            </a:pPr>
            <a:r>
              <a:rPr lang="en-US" sz="1400" dirty="0">
                <a:solidFill>
                  <a:schemeClr val="tx1"/>
                </a:solidFill>
              </a:rPr>
              <a:t>Nur die ersten 8.000 Zeichen werden gesehen: Studienordnungen mit Modulbeschreibungen werden manchmal verworfen. Manuelle Stichprobe: 17 von 20 Urteilen stimmen überein (85 %, kleine Stichprobe).</a:t>
            </a:r>
            <a:endParaRPr lang="en-US" sz="1400" dirty="0"/>
          </a:p>
        </p:txBody>
      </p:sp>
      <p:sp>
        <p:nvSpPr>
          <p:cNvPr id="9" name="Zahl 1"/>
          <p:cNvSpPr/>
          <p:nvPr/>
        </p:nvSpPr>
        <p:spPr>
          <a:xfrm>
            <a:off x="6675120" y="1371600"/>
            <a:ext cx="2423160" cy="2286000"/>
          </a:xfrm>
          <a:prstGeom prst="rect">
            <a:avLst/>
          </a:prstGeom>
          <a:solidFill>
            <a:schemeClr val="bg2"/>
          </a:solidFill>
          <a:ln w="12700">
            <a:solidFill>
              <a:schemeClr val="bg2"/>
            </a:solidFill>
            <a:prstDash val="solid"/>
          </a:ln>
        </p:spPr>
      </p:sp>
      <p:sp>
        <p:nvSpPr>
          <p:cNvPr id="10" name="Text 7"/>
          <p:cNvSpPr txBox="1"/>
          <p:nvPr/>
        </p:nvSpPr>
        <p:spPr>
          <a:xfrm>
            <a:off x="6812280" y="1554480"/>
            <a:ext cx="2148840" cy="731520"/>
          </a:xfrm>
          <a:prstGeom prst="rect">
            <a:avLst/>
          </a:prstGeom>
          <a:noFill/>
          <a:ln/>
        </p:spPr>
        <p:txBody>
          <a:bodyPr wrap="square" lIns="0" tIns="0" rIns="0" bIns="0" rtlCol="0" anchor="ctr"/>
          <a:lstStyle/>
          <a:p>
            <a:pPr algn="l" indent="0" marL="0">
              <a:buNone/>
            </a:pPr>
            <a:r>
              <a:rPr lang="en-US" sz="3000" b="1" dirty="0">
                <a:solidFill>
                  <a:schemeClr val="accent1"/>
                </a:solidFill>
              </a:rPr>
              <a:t>34.141</a:t>
            </a:r>
            <a:endParaRPr lang="en-US" sz="3000" dirty="0"/>
          </a:p>
        </p:txBody>
      </p:sp>
      <p:sp>
        <p:nvSpPr>
          <p:cNvPr id="11" name="Text 8"/>
          <p:cNvSpPr txBox="1"/>
          <p:nvPr/>
        </p:nvSpPr>
        <p:spPr>
          <a:xfrm>
            <a:off x="6812280" y="2377440"/>
            <a:ext cx="2148840" cy="1188720"/>
          </a:xfrm>
          <a:prstGeom prst="rect">
            <a:avLst/>
          </a:prstGeom>
          <a:noFill/>
          <a:ln/>
        </p:spPr>
        <p:txBody>
          <a:bodyPr wrap="square" lIns="0" tIns="0" rIns="0" bIns="0" rtlCol="0" anchor="t"/>
          <a:lstStyle/>
          <a:p>
            <a:pPr algn="l" indent="0" marL="0">
              <a:buNone/>
            </a:pPr>
            <a:r>
              <a:rPr lang="en-US" sz="1400" dirty="0">
                <a:solidFill>
                  <a:schemeClr val="tx1"/>
                </a:solidFill>
              </a:rPr>
              <a:t>Dokumente geprüft</a:t>
            </a:r>
            <a:endParaRPr lang="en-US" sz="1400" dirty="0"/>
          </a:p>
        </p:txBody>
      </p:sp>
      <p:sp>
        <p:nvSpPr>
          <p:cNvPr id="12" name="Zahl 2"/>
          <p:cNvSpPr/>
          <p:nvPr/>
        </p:nvSpPr>
        <p:spPr>
          <a:xfrm>
            <a:off x="9235440" y="1371600"/>
            <a:ext cx="2423160" cy="2286000"/>
          </a:xfrm>
          <a:prstGeom prst="rect">
            <a:avLst/>
          </a:prstGeom>
          <a:solidFill>
            <a:schemeClr val="bg2"/>
          </a:solidFill>
          <a:ln w="12700">
            <a:solidFill>
              <a:schemeClr val="bg2"/>
            </a:solidFill>
            <a:prstDash val="solid"/>
          </a:ln>
        </p:spPr>
      </p:sp>
      <p:sp>
        <p:nvSpPr>
          <p:cNvPr id="13" name="Text 10"/>
          <p:cNvSpPr txBox="1"/>
          <p:nvPr/>
        </p:nvSpPr>
        <p:spPr>
          <a:xfrm>
            <a:off x="9372600" y="1554480"/>
            <a:ext cx="2148840" cy="731520"/>
          </a:xfrm>
          <a:prstGeom prst="rect">
            <a:avLst/>
          </a:prstGeom>
          <a:noFill/>
          <a:ln/>
        </p:spPr>
        <p:txBody>
          <a:bodyPr wrap="square" lIns="0" tIns="0" rIns="0" bIns="0" rtlCol="0" anchor="ctr"/>
          <a:lstStyle/>
          <a:p>
            <a:pPr algn="l" indent="0" marL="0">
              <a:buNone/>
            </a:pPr>
            <a:r>
              <a:rPr lang="en-US" sz="3000" b="1" dirty="0">
                <a:solidFill>
                  <a:schemeClr val="accent1"/>
                </a:solidFill>
              </a:rPr>
              <a:t>≈ 2.300</a:t>
            </a:r>
            <a:endParaRPr lang="en-US" sz="3000" dirty="0"/>
          </a:p>
        </p:txBody>
      </p:sp>
      <p:sp>
        <p:nvSpPr>
          <p:cNvPr id="14" name="Text 11"/>
          <p:cNvSpPr txBox="1"/>
          <p:nvPr/>
        </p:nvSpPr>
        <p:spPr>
          <a:xfrm>
            <a:off x="9372600" y="2377440"/>
            <a:ext cx="2148840" cy="1188720"/>
          </a:xfrm>
          <a:prstGeom prst="rect">
            <a:avLst/>
          </a:prstGeom>
          <a:noFill/>
          <a:ln/>
        </p:spPr>
        <p:txBody>
          <a:bodyPr wrap="square" lIns="0" tIns="0" rIns="0" bIns="0" rtlCol="0" anchor="t"/>
          <a:lstStyle/>
          <a:p>
            <a:pPr algn="l" indent="0" marL="0">
              <a:buNone/>
            </a:pPr>
            <a:r>
              <a:rPr lang="en-US" sz="1400" dirty="0">
                <a:solidFill>
                  <a:schemeClr val="tx1"/>
                </a:solidFill>
              </a:rPr>
              <a:t>Eingabe-Token je Dokument</a:t>
            </a:r>
            <a:endParaRPr lang="en-US" sz="1400" dirty="0"/>
          </a:p>
        </p:txBody>
      </p:sp>
      <p:sp>
        <p:nvSpPr>
          <p:cNvPr id="15" name="Zahl 3"/>
          <p:cNvSpPr/>
          <p:nvPr/>
        </p:nvSpPr>
        <p:spPr>
          <a:xfrm>
            <a:off x="6675120" y="3840480"/>
            <a:ext cx="2423160" cy="2286000"/>
          </a:xfrm>
          <a:prstGeom prst="rect">
            <a:avLst/>
          </a:prstGeom>
          <a:solidFill>
            <a:schemeClr val="bg2"/>
          </a:solidFill>
          <a:ln w="12700">
            <a:solidFill>
              <a:schemeClr val="bg2"/>
            </a:solidFill>
            <a:prstDash val="solid"/>
          </a:ln>
        </p:spPr>
      </p:sp>
      <p:sp>
        <p:nvSpPr>
          <p:cNvPr id="16" name="Text 13"/>
          <p:cNvSpPr txBox="1"/>
          <p:nvPr/>
        </p:nvSpPr>
        <p:spPr>
          <a:xfrm>
            <a:off x="6812280" y="4023360"/>
            <a:ext cx="2148840" cy="731520"/>
          </a:xfrm>
          <a:prstGeom prst="rect">
            <a:avLst/>
          </a:prstGeom>
          <a:noFill/>
          <a:ln/>
        </p:spPr>
        <p:txBody>
          <a:bodyPr wrap="square" lIns="0" tIns="0" rIns="0" bIns="0" rtlCol="0" anchor="ctr"/>
          <a:lstStyle/>
          <a:p>
            <a:pPr algn="l" indent="0" marL="0">
              <a:buNone/>
            </a:pPr>
            <a:r>
              <a:rPr lang="en-US" sz="3000" b="1" dirty="0">
                <a:solidFill>
                  <a:schemeClr val="accent1"/>
                </a:solidFill>
              </a:rPr>
              <a:t>107 $</a:t>
            </a:r>
            <a:endParaRPr lang="en-US" sz="3000" dirty="0"/>
          </a:p>
        </p:txBody>
      </p:sp>
      <p:sp>
        <p:nvSpPr>
          <p:cNvPr id="17" name="Text 14"/>
          <p:cNvSpPr txBox="1"/>
          <p:nvPr/>
        </p:nvSpPr>
        <p:spPr>
          <a:xfrm>
            <a:off x="6812280" y="4846320"/>
            <a:ext cx="2148840" cy="1188720"/>
          </a:xfrm>
          <a:prstGeom prst="rect">
            <a:avLst/>
          </a:prstGeom>
          <a:noFill/>
          <a:ln/>
        </p:spPr>
        <p:txBody>
          <a:bodyPr wrap="square" lIns="0" tIns="0" rIns="0" bIns="0" rtlCol="0" anchor="t"/>
          <a:lstStyle/>
          <a:p>
            <a:pPr algn="l" indent="0" marL="0">
              <a:buNone/>
            </a:pPr>
            <a:r>
              <a:rPr lang="en-US" sz="1400" dirty="0">
                <a:solidFill>
                  <a:schemeClr val="tx1"/>
                </a:solidFill>
              </a:rPr>
              <a:t>≈ 3,10 $ je 1.000 Dokumente</a:t>
            </a:r>
            <a:endParaRPr lang="en-US" sz="1400" dirty="0"/>
          </a:p>
        </p:txBody>
      </p:sp>
      <p:sp>
        <p:nvSpPr>
          <p:cNvPr id="18" name="Zahl 4"/>
          <p:cNvSpPr/>
          <p:nvPr/>
        </p:nvSpPr>
        <p:spPr>
          <a:xfrm>
            <a:off x="9235440" y="3840480"/>
            <a:ext cx="2423160" cy="2286000"/>
          </a:xfrm>
          <a:prstGeom prst="rect">
            <a:avLst/>
          </a:prstGeom>
          <a:solidFill>
            <a:schemeClr val="bg2"/>
          </a:solidFill>
          <a:ln w="12700">
            <a:solidFill>
              <a:schemeClr val="bg2"/>
            </a:solidFill>
            <a:prstDash val="solid"/>
          </a:ln>
        </p:spPr>
      </p:sp>
      <p:sp>
        <p:nvSpPr>
          <p:cNvPr id="19" name="Text 16"/>
          <p:cNvSpPr txBox="1"/>
          <p:nvPr/>
        </p:nvSpPr>
        <p:spPr>
          <a:xfrm>
            <a:off x="9372600" y="4023360"/>
            <a:ext cx="2148840" cy="731520"/>
          </a:xfrm>
          <a:prstGeom prst="rect">
            <a:avLst/>
          </a:prstGeom>
          <a:noFill/>
          <a:ln/>
        </p:spPr>
        <p:txBody>
          <a:bodyPr wrap="square" lIns="0" tIns="0" rIns="0" bIns="0" rtlCol="0" anchor="ctr"/>
          <a:lstStyle/>
          <a:p>
            <a:pPr algn="l" indent="0" marL="0">
              <a:buNone/>
            </a:pPr>
            <a:r>
              <a:rPr lang="en-US" sz="3000" b="1" dirty="0">
                <a:solidFill>
                  <a:schemeClr val="accent1"/>
                </a:solidFill>
              </a:rPr>
              <a:t>≈ 500 $</a:t>
            </a:r>
            <a:endParaRPr lang="en-US" sz="3000" dirty="0"/>
          </a:p>
        </p:txBody>
      </p:sp>
      <p:sp>
        <p:nvSpPr>
          <p:cNvPr id="20" name="Text 17"/>
          <p:cNvSpPr txBox="1"/>
          <p:nvPr/>
        </p:nvSpPr>
        <p:spPr>
          <a:xfrm>
            <a:off x="9372600" y="4846320"/>
            <a:ext cx="2148840" cy="1188720"/>
          </a:xfrm>
          <a:prstGeom prst="rect">
            <a:avLst/>
          </a:prstGeom>
          <a:noFill/>
          <a:ln/>
        </p:spPr>
        <p:txBody>
          <a:bodyPr wrap="square" lIns="0" tIns="0" rIns="0" bIns="0" rtlCol="0" anchor="t"/>
          <a:lstStyle/>
          <a:p>
            <a:pPr algn="l" indent="0" marL="0">
              <a:buNone/>
            </a:pPr>
            <a:r>
              <a:rPr lang="en-US" sz="1400" dirty="0">
                <a:solidFill>
                  <a:schemeClr val="tx1"/>
                </a:solidFill>
              </a:rPr>
              <a:t>wenn alle 164.396 Dokumente geprüft würden</a:t>
            </a:r>
            <a:endParaRPr lang="en-US" sz="1400" dirty="0"/>
          </a:p>
        </p:txBody>
      </p:sp>
      <p:sp>
        <p:nvSpPr>
          <p:cNvPr id="21" name="Text 18"/>
          <p:cNvSpPr txBox="1"/>
          <p:nvPr/>
        </p:nvSpPr>
        <p:spPr>
          <a:xfrm>
            <a:off x="6675120" y="5943600"/>
            <a:ext cx="4937760" cy="365760"/>
          </a:xfrm>
          <a:prstGeom prst="rect">
            <a:avLst/>
          </a:prstGeom>
          <a:noFill/>
          <a:ln/>
        </p:spPr>
        <p:txBody>
          <a:bodyPr wrap="square" lIns="0" tIns="0" rIns="0" bIns="0" rtlCol="0" anchor="t"/>
          <a:lstStyle/>
          <a:p>
            <a:pPr algn="l" indent="0" marL="0">
              <a:buNone/>
            </a:pPr>
            <a:r>
              <a:rPr lang="en-US" sz="1200" dirty="0">
                <a:solidFill>
                  <a:schemeClr val="accent4"/>
                </a:solidFill>
              </a:rPr>
              <a:t>Modell: Claude Haiku 4.5 (Amazon Bedrock). Urteil gilt bei Konfidenz ≥ 0,8.</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Modularität – was austauschbar ist</a:t>
            </a:r>
            <a:endParaRPr lang="en-US" sz="2800" dirty="0"/>
          </a:p>
        </p:txBody>
      </p:sp>
      <p:graphicFrame>
        <p:nvGraphicFramePr>
          <p:cNvPr id="25" name="Tabelle Modularität"/>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5120640"/>
                <a:gridCol w="3319272"/>
              </a:tblGrid>
              <a:tr h="411480">
                <a:tc>
                  <a:txBody>
                    <a:bodyPr/>
                    <a:lstStyle/>
                    <a:p>
                      <a:pPr indent="0" marL="0">
                        <a:buNone/>
                      </a:pPr>
                      <a:r>
                        <a:rPr lang="en-US" sz="1400" b="1" dirty="0">
                          <a:solidFill>
                            <a:schemeClr val="bg1"/>
                          </a:solidFill>
                        </a:rPr>
                        <a:t>Baustein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Austauschbar</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Heute</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594360">
                <a:tc>
                  <a:txBody>
                    <a:bodyPr/>
                    <a:lstStyle/>
                    <a:p>
                      <a:pPr indent="0" marL="0">
                        <a:buNone/>
                      </a:pPr>
                      <a:r>
                        <a:rPr lang="en-US" sz="1300" b="1" dirty="0">
                          <a:solidFill>
                            <a:srgbClr val="000000"/>
                          </a:solidFill>
                        </a:rPr>
                        <a:t>Crawl-Engine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nein – generisch: Tiefe, Seitenbudget, robots.txt, Dedup, Parallelität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gleiche Engine für alle Fälle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94360">
                <a:tc>
                  <a:txBody>
                    <a:bodyPr/>
                    <a:lstStyle/>
                    <a:p>
                      <a:pPr indent="0" marL="0">
                        <a:buNone/>
                      </a:pPr>
                      <a:r>
                        <a:rPr lang="en-US" sz="1300" b="1" dirty="0">
                          <a:solidFill>
                            <a:srgbClr val="000000"/>
                          </a:solidFill>
                        </a:rPr>
                        <a:t>Extraction Profile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was folgen, laden und extrahieren (Dokumente, HTML-Inhalt, Felder)</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generic · modulhandbuch · html-content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Discovery</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Suchbegriffe und URL-Stämme je Profil</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Common Crawl, Serper, Firecrawl</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ML-Modell (Stufe 1)</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eigenes Modell aus eigenen Trainingsdaten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TF-IDF + logistische Regression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Sprachmodell-Spec (Stufe 2)</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Prompt als Daten: Definition + Gegenbeispiele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Spec „modulhandbuch“</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94360">
                <a:tc>
                  <a:txBody>
                    <a:bodyPr/>
                    <a:lstStyle/>
                    <a:p>
                      <a:pPr indent="0" marL="0">
                        <a:buNone/>
                      </a:pPr>
                      <a:r>
                        <a:rPr lang="en-US" sz="1300" b="1" dirty="0">
                          <a:solidFill>
                            <a:srgbClr val="000000"/>
                          </a:solidFill>
                        </a:rPr>
                        <a:t>Pipelines</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Ablage (S3/lokal) und Klassifikation als Pipeline-Schritte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Manifest mit Score und Begründung</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Webapp</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Modelle verwalten, Rollen zuordnen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Rolle „Modulhandbuch“</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548640" y="5897880"/>
            <a:ext cx="11091672" cy="365760"/>
          </a:xfrm>
          <a:prstGeom prst="rect">
            <a:avLst/>
          </a:prstGeom>
          <a:noFill/>
          <a:ln/>
        </p:spPr>
        <p:txBody>
          <a:bodyPr wrap="square" lIns="0" tIns="0" rIns="0" bIns="0" rtlCol="0" anchor="t"/>
          <a:lstStyle/>
          <a:p>
            <a:pPr algn="l" indent="0" marL="0">
              <a:buNone/>
            </a:pPr>
            <a:r>
              <a:rPr lang="en-US" sz="1600" b="1" dirty="0">
                <a:solidFill>
                  <a:schemeClr val="tx2"/>
                </a:solidFill>
              </a:rPr>
              <a:t>Ein neuer Dokumenttyp ist Konfiguration plus Daten – kein neuer Crawler.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Neuer Anwendungsfall in vier Schritten (Beispiel: KI-Richtlinien)</a:t>
            </a:r>
            <a:endParaRPr lang="en-US" sz="2800" dirty="0"/>
          </a:p>
        </p:txBody>
      </p:sp>
      <p:sp>
        <p:nvSpPr>
          <p:cNvPr id="4" name="Schritt 1"/>
          <p:cNvSpPr/>
          <p:nvPr/>
        </p:nvSpPr>
        <p:spPr>
          <a:xfrm>
            <a:off x="548640" y="1371600"/>
            <a:ext cx="2651760" cy="3657600"/>
          </a:xfrm>
          <a:prstGeom prst="rect">
            <a:avLst/>
          </a:prstGeom>
          <a:solidFill>
            <a:schemeClr val="bg2"/>
          </a:solidFill>
          <a:ln w="12700">
            <a:solidFill>
              <a:schemeClr val="bg2"/>
            </a:solidFill>
            <a:prstDash val="solid"/>
          </a:ln>
        </p:spPr>
      </p:sp>
      <p:sp>
        <p:nvSpPr>
          <p:cNvPr id="5" name="Text 2"/>
          <p:cNvSpPr txBox="1"/>
          <p:nvPr/>
        </p:nvSpPr>
        <p:spPr>
          <a:xfrm>
            <a:off x="731520" y="1508760"/>
            <a:ext cx="2286000" cy="365760"/>
          </a:xfrm>
          <a:prstGeom prst="rect">
            <a:avLst/>
          </a:prstGeom>
          <a:noFill/>
          <a:ln/>
        </p:spPr>
        <p:txBody>
          <a:bodyPr wrap="square" lIns="0" tIns="0" rIns="0" bIns="0" rtlCol="0" anchor="t"/>
          <a:lstStyle/>
          <a:p>
            <a:pPr algn="l" indent="0" marL="0">
              <a:buNone/>
            </a:pPr>
            <a:r>
              <a:rPr lang="en-US" sz="1600" b="1" dirty="0">
                <a:solidFill>
                  <a:schemeClr val="accent1"/>
                </a:solidFill>
              </a:rPr>
              <a:t>1 · Profil anlegen</a:t>
            </a:r>
            <a:endParaRPr lang="en-US" sz="1600" dirty="0"/>
          </a:p>
        </p:txBody>
      </p:sp>
      <p:sp>
        <p:nvSpPr>
          <p:cNvPr id="6" name="Text 3"/>
          <p:cNvSpPr txBox="1"/>
          <p:nvPr/>
        </p:nvSpPr>
        <p:spPr>
          <a:xfrm>
            <a:off x="731520" y="2011680"/>
            <a:ext cx="2286000" cy="2926080"/>
          </a:xfrm>
          <a:prstGeom prst="rect">
            <a:avLst/>
          </a:prstGeom>
          <a:noFill/>
          <a:ln/>
        </p:spPr>
        <p:txBody>
          <a:bodyPr wrap="square" lIns="0" tIns="0" rIns="0" bIns="0" rtlCol="0" anchor="t"/>
          <a:lstStyle/>
          <a:p>
            <a:pPr algn="l" indent="0" marL="0">
              <a:buNone/>
            </a:pPr>
            <a:r>
              <a:rPr lang="en-US" sz="1400" dirty="0">
                <a:solidFill>
                  <a:schemeClr val="tx1"/>
                </a:solidFill>
              </a:rPr>
              <a:t>Unterklasse von ExtractionProfile: Schlüsselwörter mit Gewichten (z. B. „ki“, „richtlinie“, „generative“), Discovery-Suchbegriffe, Zieldateien (PDF und HTML-Seiten); in der Registry eintragen.</a:t>
            </a:r>
            <a:endParaRPr lang="en-US" sz="1400" dirty="0"/>
          </a:p>
        </p:txBody>
      </p:sp>
      <p:sp>
        <p:nvSpPr>
          <p:cNvPr id="7" name="Schritt 2"/>
          <p:cNvSpPr/>
          <p:nvPr/>
        </p:nvSpPr>
        <p:spPr>
          <a:xfrm>
            <a:off x="3364992" y="1371600"/>
            <a:ext cx="2651760" cy="3657600"/>
          </a:xfrm>
          <a:prstGeom prst="rect">
            <a:avLst/>
          </a:prstGeom>
          <a:solidFill>
            <a:schemeClr val="bg2"/>
          </a:solidFill>
          <a:ln w="12700">
            <a:solidFill>
              <a:schemeClr val="bg2"/>
            </a:solidFill>
            <a:prstDash val="solid"/>
          </a:ln>
        </p:spPr>
      </p:sp>
      <p:sp>
        <p:nvSpPr>
          <p:cNvPr id="8" name="Text 5"/>
          <p:cNvSpPr txBox="1"/>
          <p:nvPr/>
        </p:nvSpPr>
        <p:spPr>
          <a:xfrm>
            <a:off x="3547872" y="1508760"/>
            <a:ext cx="2286000" cy="365760"/>
          </a:xfrm>
          <a:prstGeom prst="rect">
            <a:avLst/>
          </a:prstGeom>
          <a:noFill/>
          <a:ln/>
        </p:spPr>
        <p:txBody>
          <a:bodyPr wrap="square" lIns="0" tIns="0" rIns="0" bIns="0" rtlCol="0" anchor="t"/>
          <a:lstStyle/>
          <a:p>
            <a:pPr algn="l" indent="0" marL="0">
              <a:buNone/>
            </a:pPr>
            <a:r>
              <a:rPr lang="en-US" sz="1600" b="1" dirty="0">
                <a:solidFill>
                  <a:schemeClr val="accent1"/>
                </a:solidFill>
              </a:rPr>
              <a:t>2 · Spec definieren</a:t>
            </a:r>
            <a:endParaRPr lang="en-US" sz="1600" dirty="0"/>
          </a:p>
        </p:txBody>
      </p:sp>
      <p:sp>
        <p:nvSpPr>
          <p:cNvPr id="9" name="Text 6"/>
          <p:cNvSpPr txBox="1"/>
          <p:nvPr/>
        </p:nvSpPr>
        <p:spPr>
          <a:xfrm>
            <a:off x="3547872" y="2011680"/>
            <a:ext cx="2286000" cy="2926080"/>
          </a:xfrm>
          <a:prstGeom prst="rect">
            <a:avLst/>
          </a:prstGeom>
          <a:noFill/>
          <a:ln/>
        </p:spPr>
        <p:txBody>
          <a:bodyPr wrap="square" lIns="0" tIns="0" rIns="0" bIns="0" rtlCol="0" anchor="t"/>
          <a:lstStyle/>
          <a:p>
            <a:pPr algn="l" indent="0" marL="0">
              <a:buNone/>
            </a:pPr>
            <a:r>
              <a:rPr lang="en-US" sz="1400" dirty="0">
                <a:solidFill>
                  <a:schemeClr val="tx1"/>
                </a:solidFill>
              </a:rPr>
              <a:t>Definition: Hochschuldokument mit Regeln zum Umgang mit KI in Studium, Lehre oder Prüfungen. Gegenbeispiele: Pressemeldung, Projektbeschreibung, Veranstaltungshinweis.</a:t>
            </a:r>
            <a:endParaRPr lang="en-US" sz="1400" dirty="0"/>
          </a:p>
        </p:txBody>
      </p:sp>
      <p:sp>
        <p:nvSpPr>
          <p:cNvPr id="10" name="Schritt 3"/>
          <p:cNvSpPr/>
          <p:nvPr/>
        </p:nvSpPr>
        <p:spPr>
          <a:xfrm>
            <a:off x="6181344" y="1371600"/>
            <a:ext cx="2651760" cy="3657600"/>
          </a:xfrm>
          <a:prstGeom prst="rect">
            <a:avLst/>
          </a:prstGeom>
          <a:solidFill>
            <a:schemeClr val="bg2"/>
          </a:solidFill>
          <a:ln w="12700">
            <a:solidFill>
              <a:schemeClr val="bg2"/>
            </a:solidFill>
            <a:prstDash val="solid"/>
          </a:ln>
        </p:spPr>
      </p:sp>
      <p:sp>
        <p:nvSpPr>
          <p:cNvPr id="11" name="Text 8"/>
          <p:cNvSpPr txBox="1"/>
          <p:nvPr/>
        </p:nvSpPr>
        <p:spPr>
          <a:xfrm>
            <a:off x="6364224" y="1508760"/>
            <a:ext cx="2286000" cy="365760"/>
          </a:xfrm>
          <a:prstGeom prst="rect">
            <a:avLst/>
          </a:prstGeom>
          <a:noFill/>
          <a:ln/>
        </p:spPr>
        <p:txBody>
          <a:bodyPr wrap="square" lIns="0" tIns="0" rIns="0" bIns="0" rtlCol="0" anchor="t"/>
          <a:lstStyle/>
          <a:p>
            <a:pPr algn="l" indent="0" marL="0">
              <a:buNone/>
            </a:pPr>
            <a:r>
              <a:rPr lang="en-US" sz="1600" b="1" dirty="0">
                <a:solidFill>
                  <a:schemeClr val="accent1"/>
                </a:solidFill>
              </a:rPr>
              <a:t>3 · Kaltstart</a:t>
            </a:r>
            <a:endParaRPr lang="en-US" sz="1600" dirty="0"/>
          </a:p>
        </p:txBody>
      </p:sp>
      <p:sp>
        <p:nvSpPr>
          <p:cNvPr id="12" name="Text 9"/>
          <p:cNvSpPr txBox="1"/>
          <p:nvPr/>
        </p:nvSpPr>
        <p:spPr>
          <a:xfrm>
            <a:off x="6364224" y="2011680"/>
            <a:ext cx="2286000" cy="2926080"/>
          </a:xfrm>
          <a:prstGeom prst="rect">
            <a:avLst/>
          </a:prstGeom>
          <a:noFill/>
          <a:ln/>
        </p:spPr>
        <p:txBody>
          <a:bodyPr wrap="square" lIns="0" tIns="0" rIns="0" bIns="0" rtlCol="0" anchor="t"/>
          <a:lstStyle/>
          <a:p>
            <a:pPr algn="l" indent="0" marL="0">
              <a:buNone/>
            </a:pPr>
            <a:r>
              <a:rPr lang="en-US" sz="1400" dirty="0">
                <a:solidFill>
                  <a:schemeClr val="tx1"/>
                </a:solidFill>
              </a:rPr>
              <a:t>Ohne Trainingsdaten labelt zuerst das Sprachmodell; Review-Oberfläche korrigiert (Human-in-the-Loop); später ein schnelles ML-Modell trainieren.</a:t>
            </a:r>
            <a:endParaRPr lang="en-US" sz="1400" dirty="0"/>
          </a:p>
        </p:txBody>
      </p:sp>
      <p:sp>
        <p:nvSpPr>
          <p:cNvPr id="13" name="Schritt 4"/>
          <p:cNvSpPr/>
          <p:nvPr/>
        </p:nvSpPr>
        <p:spPr>
          <a:xfrm>
            <a:off x="8997696" y="1371600"/>
            <a:ext cx="2651760" cy="3657600"/>
          </a:xfrm>
          <a:prstGeom prst="rect">
            <a:avLst/>
          </a:prstGeom>
          <a:solidFill>
            <a:schemeClr val="bg2"/>
          </a:solidFill>
          <a:ln w="12700">
            <a:solidFill>
              <a:schemeClr val="bg2"/>
            </a:solidFill>
            <a:prstDash val="solid"/>
          </a:ln>
        </p:spPr>
      </p:sp>
      <p:sp>
        <p:nvSpPr>
          <p:cNvPr id="14" name="Text 11"/>
          <p:cNvSpPr txBox="1"/>
          <p:nvPr/>
        </p:nvSpPr>
        <p:spPr>
          <a:xfrm>
            <a:off x="9180576" y="1508760"/>
            <a:ext cx="2286000" cy="365760"/>
          </a:xfrm>
          <a:prstGeom prst="rect">
            <a:avLst/>
          </a:prstGeom>
          <a:noFill/>
          <a:ln/>
        </p:spPr>
        <p:txBody>
          <a:bodyPr wrap="square" lIns="0" tIns="0" rIns="0" bIns="0" rtlCol="0" anchor="t"/>
          <a:lstStyle/>
          <a:p>
            <a:pPr algn="l" indent="0" marL="0">
              <a:buNone/>
            </a:pPr>
            <a:r>
              <a:rPr lang="en-US" sz="1600" b="1" dirty="0">
                <a:solidFill>
                  <a:schemeClr val="accent1"/>
                </a:solidFill>
              </a:rPr>
              <a:t>4 · Bereitstellen</a:t>
            </a:r>
            <a:endParaRPr lang="en-US" sz="1600" dirty="0"/>
          </a:p>
        </p:txBody>
      </p:sp>
      <p:sp>
        <p:nvSpPr>
          <p:cNvPr id="15" name="Text 12"/>
          <p:cNvSpPr txBox="1"/>
          <p:nvPr/>
        </p:nvSpPr>
        <p:spPr>
          <a:xfrm>
            <a:off x="9180576" y="2011680"/>
            <a:ext cx="2286000" cy="2926080"/>
          </a:xfrm>
          <a:prstGeom prst="rect">
            <a:avLst/>
          </a:prstGeom>
          <a:noFill/>
          <a:ln/>
        </p:spPr>
        <p:txBody>
          <a:bodyPr wrap="square" lIns="0" tIns="0" rIns="0" bIns="0" rtlCol="0" anchor="t"/>
          <a:lstStyle/>
          <a:p>
            <a:pPr algn="l" indent="0" marL="0">
              <a:buNone/>
            </a:pPr>
            <a:r>
              <a:rPr lang="en-US" sz="1400" dirty="0">
                <a:solidFill>
                  <a:schemeClr val="tx1"/>
                </a:solidFill>
              </a:rPr>
              <a:t>Modell und Rolle in der Webapp zuordnen, Hochschulliste hochladen, Lauf starten. Auswertung und Kostenkontrolle laufen unverändert.</a:t>
            </a:r>
            <a:endParaRPr lang="en-US" sz="1400" dirty="0"/>
          </a:p>
        </p:txBody>
      </p:sp>
      <p:sp>
        <p:nvSpPr>
          <p:cNvPr id="16" name="Text 13"/>
          <p:cNvSpPr txBox="1"/>
          <p:nvPr/>
        </p:nvSpPr>
        <p:spPr>
          <a:xfrm>
            <a:off x="548640" y="5257800"/>
            <a:ext cx="11091672" cy="457200"/>
          </a:xfrm>
          <a:prstGeom prst="rect">
            <a:avLst/>
          </a:prstGeom>
          <a:noFill/>
          <a:ln/>
        </p:spPr>
        <p:txBody>
          <a:bodyPr wrap="square" lIns="0" tIns="0" rIns="0" bIns="0" rtlCol="0" anchor="t"/>
          <a:lstStyle/>
          <a:p>
            <a:pPr algn="l" indent="0" marL="0">
              <a:buNone/>
            </a:pPr>
            <a:r>
              <a:rPr lang="en-US" sz="1600" b="1" dirty="0">
                <a:solidFill>
                  <a:schemeClr val="tx2"/>
                </a:solidFill>
              </a:rPr>
              <a:t>Wiederverwendet: Crawler-Engine, Cloud-Betrieb, Hochschulliste (404), Review-Oberfläche, Evaluationsmodul, Kostenkontrolle.</a:t>
            </a:r>
            <a:endParaRPr lang="en-US" sz="1600" dirty="0"/>
          </a:p>
        </p:txBody>
      </p:sp>
      <p:sp>
        <p:nvSpPr>
          <p:cNvPr id="17" name="Text 14"/>
          <p:cNvSpPr txBox="1"/>
          <p:nvPr/>
        </p:nvSpPr>
        <p:spPr>
          <a:xfrm>
            <a:off x="548640" y="5852160"/>
            <a:ext cx="11091672" cy="320040"/>
          </a:xfrm>
          <a:prstGeom prst="rect">
            <a:avLst/>
          </a:prstGeom>
          <a:noFill/>
          <a:ln/>
        </p:spPr>
        <p:txBody>
          <a:bodyPr wrap="square" lIns="0" tIns="0" rIns="0" bIns="0" rtlCol="0" anchor="t"/>
          <a:lstStyle/>
          <a:p>
            <a:pPr algn="l" indent="0" marL="0">
              <a:buNone/>
            </a:pPr>
            <a:r>
              <a:rPr lang="en-US" sz="1200" dirty="0">
                <a:solidFill>
                  <a:schemeClr val="accent4"/>
                </a:solidFill>
              </a:rPr>
              <a:t>Entwurf am Beispiel der Bachelorarbeit; Details abhängig vom Ausgang des Vorschlags.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Maßnahmen gegen Lücken (Discovery und Recall)</a:t>
            </a:r>
            <a:endParaRPr lang="en-US" sz="2800" dirty="0"/>
          </a:p>
        </p:txBody>
      </p:sp>
      <p:graphicFrame>
        <p:nvGraphicFramePr>
          <p:cNvPr id="27" name="Tabelle Recall"/>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200400"/>
                <a:gridCol w="3474720"/>
                <a:gridCol w="4416552"/>
              </a:tblGrid>
              <a:tr h="411480">
                <a:tc>
                  <a:txBody>
                    <a:bodyPr/>
                    <a:lstStyle/>
                    <a:p>
                      <a:pPr indent="0" marL="0">
                        <a:buNone/>
                      </a:pPr>
                      <a:r>
                        <a:rPr lang="en-US" sz="1400" b="1" dirty="0">
                          <a:solidFill>
                            <a:schemeClr val="bg1"/>
                          </a:solidFill>
                        </a:rPr>
                        <a:t>Maßnahme</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Problem</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Wirkung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rgbClr val="000000"/>
                          </a:solidFill>
                        </a:rPr>
                        <a:t>Best-First-Crawl</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kleines Seitenbudget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Handbuch-Seiten werden zuerst geholt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94360">
                <a:tc>
                  <a:txBody>
                    <a:bodyPr/>
                    <a:lstStyle/>
                    <a:p>
                      <a:pPr indent="0" marL="0">
                        <a:buNone/>
                      </a:pPr>
                      <a:r>
                        <a:rPr lang="en-US" sz="1300" b="1" dirty="0">
                          <a:solidFill>
                            <a:srgbClr val="000000"/>
                          </a:solidFill>
                        </a:rPr>
                        <a:t>Sitemaps, Fakultäts-Subdomains</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tief liegende Seiten, getrennte Server</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zusätzliche Einstiege, frisches Tiefenbudget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Common Crawl (kostenlos)</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Hochschulen mit 0 Treffern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in Tests ≈ 60 % der gescheiterten Domains geborgen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94360">
                <a:tc>
                  <a:txBody>
                    <a:bodyPr/>
                    <a:lstStyle/>
                    <a:p>
                      <a:pPr indent="0" marL="0">
                        <a:buNone/>
                      </a:pPr>
                      <a:r>
                        <a:rPr lang="en-US" sz="1300" b="1" dirty="0">
                          <a:solidFill>
                            <a:srgbClr val="000000"/>
                          </a:solidFill>
                        </a:rPr>
                        <a:t>Serper (Google-Suche)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tief liegende, unverlinkte Dateien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13 Handbücher bei 3 Test-Hochschulen mit 0 Treffern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Firecrawl (JS-Rendering)</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JavaScript-Portale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gebaut, noch kein Großeinsatz</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OCR (Tesseract)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gescannte PDFs ohne Text</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3.553 Scans, nur 42 zusätzliche Treffer</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000000"/>
                          </a:solidFill>
                        </a:rPr>
                        <a:t>Seeds-only-Modus</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gezielte Nachsuche</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Nachlauf mit gefundenen URLs (+43 Hochschulen)</a:t>
                      </a:r>
                      <a:endParaRPr lang="en-US" sz="13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548640" y="5852160"/>
            <a:ext cx="11091672" cy="365760"/>
          </a:xfrm>
          <a:prstGeom prst="rect">
            <a:avLst/>
          </a:prstGeom>
          <a:noFill/>
          <a:ln/>
        </p:spPr>
        <p:txBody>
          <a:bodyPr wrap="square" lIns="0" tIns="0" rIns="0" bIns="0" rtlCol="0" anchor="t"/>
          <a:lstStyle/>
          <a:p>
            <a:pPr algn="l" indent="0" marL="0">
              <a:buNone/>
            </a:pPr>
            <a:r>
              <a:rPr lang="en-US" sz="1400" dirty="0">
                <a:solidFill>
                  <a:schemeClr val="accent4"/>
                </a:solidFill>
              </a:rPr>
              <a:t>Ausgangslage: 145 Hochschulen ohne Treffer im ersten Großlauf; heute noch 39 ohne jeden Fund.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Crawl-Regeln, Datenschutz und rechtliche Einordnung</a:t>
            </a:r>
            <a:endParaRPr lang="en-US" sz="2800" dirty="0"/>
          </a:p>
        </p:txBody>
      </p:sp>
      <p:sp>
        <p:nvSpPr>
          <p:cNvPr id="4" name="Höflichkeit"/>
          <p:cNvSpPr/>
          <p:nvPr/>
        </p:nvSpPr>
        <p:spPr>
          <a:xfrm>
            <a:off x="548640" y="1371600"/>
            <a:ext cx="5440680" cy="4846320"/>
          </a:xfrm>
          <a:prstGeom prst="rect">
            <a:avLst/>
          </a:prstGeom>
          <a:solidFill>
            <a:schemeClr val="bg2"/>
          </a:solidFill>
          <a:ln w="12700">
            <a:solidFill>
              <a:schemeClr val="bg2"/>
            </a:solidFill>
            <a:prstDash val="solid"/>
          </a:ln>
        </p:spPr>
      </p:sp>
      <p:sp>
        <p:nvSpPr>
          <p:cNvPr id="5" name="Text 2"/>
          <p:cNvSpPr txBox="1"/>
          <p:nvPr/>
        </p:nvSpPr>
        <p:spPr>
          <a:xfrm>
            <a:off x="777240" y="1508760"/>
            <a:ext cx="4937760" cy="365760"/>
          </a:xfrm>
          <a:prstGeom prst="rect">
            <a:avLst/>
          </a:prstGeom>
          <a:noFill/>
          <a:ln/>
        </p:spPr>
        <p:txBody>
          <a:bodyPr wrap="square" lIns="0" tIns="0" rIns="0" bIns="0" rtlCol="0" anchor="t"/>
          <a:lstStyle/>
          <a:p>
            <a:pPr algn="l" indent="0" marL="0">
              <a:buNone/>
            </a:pPr>
            <a:r>
              <a:rPr lang="en-US" sz="1800" b="1" dirty="0">
                <a:solidFill>
                  <a:schemeClr val="tx2"/>
                </a:solidFill>
              </a:rPr>
              <a:t>Technische Höflichkeit</a:t>
            </a:r>
            <a:endParaRPr lang="en-US" sz="1800" dirty="0"/>
          </a:p>
        </p:txBody>
      </p:sp>
      <p:sp>
        <p:nvSpPr>
          <p:cNvPr id="6" name="Text 3"/>
          <p:cNvSpPr txBox="1"/>
          <p:nvPr/>
        </p:nvSpPr>
        <p:spPr>
          <a:xfrm>
            <a:off x="777240" y="2011680"/>
            <a:ext cx="4937760" cy="402336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chemeClr val="tx1"/>
                </a:solidFill>
              </a:rPr>
              <a:t>robots.txt wird standardmäßig befolgt</a:t>
            </a:r>
            <a:endParaRPr lang="en-US" sz="1500" dirty="0"/>
          </a:p>
          <a:p>
            <a:pPr algn="l" marL="342900" indent="-342900">
              <a:spcAft>
                <a:spcPts val="1000"/>
              </a:spcAft>
              <a:buSzPct val="100000"/>
              <a:buChar char="•"/>
            </a:pPr>
            <a:r>
              <a:rPr lang="en-US" sz="1500" dirty="0">
                <a:solidFill>
                  <a:schemeClr val="tx1"/>
                </a:solidFill>
              </a:rPr>
              <a:t>1 s Verzögerung (zufällig) plus AutoThrottle bis 10 s</a:t>
            </a:r>
            <a:endParaRPr lang="en-US" sz="1500" dirty="0"/>
          </a:p>
          <a:p>
            <a:pPr algn="l" marL="342900" indent="-342900">
              <a:spcAft>
                <a:spcPts val="1000"/>
              </a:spcAft>
              <a:buSzPct val="100000"/>
              <a:buChar char="•"/>
            </a:pPr>
            <a:r>
              <a:rPr lang="en-US" sz="1500" dirty="0">
                <a:solidFill>
                  <a:schemeClr val="tx1"/>
                </a:solidFill>
              </a:rPr>
              <a:t>höchstens 2 parallele Anfragen je Domain</a:t>
            </a:r>
            <a:endParaRPr lang="en-US" sz="1500" dirty="0"/>
          </a:p>
          <a:p>
            <a:pPr algn="l" marL="342900" indent="-342900">
              <a:spcAft>
                <a:spcPts val="1000"/>
              </a:spcAft>
              <a:buSzPct val="100000"/>
              <a:buChar char="•"/>
            </a:pPr>
            <a:r>
              <a:rPr lang="en-US" sz="1500" dirty="0">
                <a:solidFill>
                  <a:schemeClr val="tx1"/>
                </a:solidFill>
              </a:rPr>
              <a:t>bleibt auf der Domain der Hochschule</a:t>
            </a:r>
            <a:endParaRPr lang="en-US" sz="1500" dirty="0"/>
          </a:p>
          <a:p>
            <a:pPr algn="l" marL="342900" indent="-342900">
              <a:spcAft>
                <a:spcPts val="1000"/>
              </a:spcAft>
              <a:buSzPct val="100000"/>
              <a:buChar char="•"/>
            </a:pPr>
            <a:r>
              <a:rPr lang="en-US" sz="1500" dirty="0">
                <a:solidFill>
                  <a:schemeClr val="tx1"/>
                </a:solidFill>
              </a:rPr>
              <a:t>Dateien über 50 MB werden übersprungen</a:t>
            </a:r>
            <a:endParaRPr lang="en-US" sz="1500" dirty="0"/>
          </a:p>
          <a:p>
            <a:pPr algn="l" marL="342900" indent="-342900">
              <a:spcAft>
                <a:spcPts val="1000"/>
              </a:spcAft>
              <a:buSzPct val="100000"/>
              <a:buChar char="•"/>
            </a:pPr>
            <a:r>
              <a:rPr lang="en-US" sz="1500" dirty="0">
                <a:solidFill>
                  <a:schemeClr val="tx1"/>
                </a:solidFill>
              </a:rPr>
              <a:t>bereits besuchte URLs werden nicht erneut geholt</a:t>
            </a:r>
            <a:endParaRPr lang="en-US" sz="1500" dirty="0"/>
          </a:p>
        </p:txBody>
      </p:sp>
      <p:sp>
        <p:nvSpPr>
          <p:cNvPr id="7" name="Offene Punkte"/>
          <p:cNvSpPr/>
          <p:nvPr/>
        </p:nvSpPr>
        <p:spPr>
          <a:xfrm>
            <a:off x="6199632" y="1371600"/>
            <a:ext cx="5440680" cy="4846320"/>
          </a:xfrm>
          <a:prstGeom prst="rect">
            <a:avLst/>
          </a:prstGeom>
          <a:solidFill>
            <a:schemeClr val="bg2"/>
          </a:solidFill>
          <a:ln w="12700">
            <a:solidFill>
              <a:schemeClr val="bg2"/>
            </a:solidFill>
            <a:prstDash val="solid"/>
          </a:ln>
        </p:spPr>
      </p:sp>
      <p:sp>
        <p:nvSpPr>
          <p:cNvPr id="8" name="Text 5"/>
          <p:cNvSpPr txBox="1"/>
          <p:nvPr/>
        </p:nvSpPr>
        <p:spPr>
          <a:xfrm>
            <a:off x="6428232" y="1508760"/>
            <a:ext cx="4937760" cy="365760"/>
          </a:xfrm>
          <a:prstGeom prst="rect">
            <a:avLst/>
          </a:prstGeom>
          <a:noFill/>
          <a:ln/>
        </p:spPr>
        <p:txBody>
          <a:bodyPr wrap="square" lIns="0" tIns="0" rIns="0" bIns="0" rtlCol="0" anchor="t"/>
          <a:lstStyle/>
          <a:p>
            <a:pPr algn="l" indent="0" marL="0">
              <a:buNone/>
            </a:pPr>
            <a:r>
              <a:rPr lang="en-US" sz="1800" b="1" dirty="0">
                <a:solidFill>
                  <a:schemeClr val="accent2"/>
                </a:solidFill>
              </a:rPr>
              <a:t>Offene Punkte (zu klären)</a:t>
            </a:r>
            <a:endParaRPr lang="en-US" sz="1800" dirty="0"/>
          </a:p>
        </p:txBody>
      </p:sp>
      <p:sp>
        <p:nvSpPr>
          <p:cNvPr id="9" name="Text 6"/>
          <p:cNvSpPr txBox="1"/>
          <p:nvPr/>
        </p:nvSpPr>
        <p:spPr>
          <a:xfrm>
            <a:off x="6428232" y="2011680"/>
            <a:ext cx="4937760" cy="402336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chemeClr val="tx1"/>
                </a:solidFill>
              </a:rPr>
              <a:t>Seeds-only-Modus (opt-in) umgeht robots.txt für gezielt gefundene Dokument-URLs – vor Veröffentlichung bewerten</a:t>
            </a:r>
            <a:endParaRPr lang="en-US" sz="1500" dirty="0"/>
          </a:p>
          <a:p>
            <a:pPr algn="l" marL="342900" indent="-342900">
              <a:spcAft>
                <a:spcPts val="1000"/>
              </a:spcAft>
              <a:buSzPct val="100000"/>
              <a:buChar char="•"/>
            </a:pPr>
            <a:r>
              <a:rPr lang="en-US" sz="1500" dirty="0">
                <a:solidFill>
                  <a:schemeClr val="tx1"/>
                </a:solidFill>
              </a:rPr>
              <a:t>Urheberrecht: Text-und-Data-Mining für Forschung (§ 60d UrhG); Weitergabe des Datensatzes klären</a:t>
            </a:r>
            <a:endParaRPr lang="en-US" sz="1500" dirty="0"/>
          </a:p>
          <a:p>
            <a:pPr algn="l" marL="342900" indent="-342900">
              <a:spcAft>
                <a:spcPts val="1000"/>
              </a:spcAft>
              <a:buSzPct val="100000"/>
              <a:buChar char="•"/>
            </a:pPr>
            <a:r>
              <a:rPr lang="en-US" sz="1500" dirty="0">
                <a:solidFill>
                  <a:schemeClr val="tx1"/>
                </a:solidFill>
              </a:rPr>
              <a:t>Datenschutz: Modulhandbücher können Namen von Lehrenden enthalten</a:t>
            </a:r>
            <a:endParaRPr lang="en-US" sz="1500" dirty="0"/>
          </a:p>
          <a:p>
            <a:pPr algn="l" marL="342900" indent="-342900">
              <a:spcAft>
                <a:spcPts val="1000"/>
              </a:spcAft>
              <a:buSzPct val="100000"/>
              <a:buChar char="•"/>
            </a:pPr>
            <a:r>
              <a:rPr lang="en-US" sz="1500" dirty="0">
                <a:solidFill>
                  <a:schemeClr val="tx1"/>
                </a:solidFill>
              </a:rPr>
              <a:t>User-Agent: Platzhalter-URL durch echte Kontaktadresse ersetzen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Betrieb, Sicherheit und Zugriff</a:t>
            </a:r>
            <a:endParaRPr lang="en-US" sz="2800" dirty="0"/>
          </a:p>
        </p:txBody>
      </p:sp>
      <p:sp>
        <p:nvSpPr>
          <p:cNvPr id="4" name="Kopf Zugriff"/>
          <p:cNvSpPr/>
          <p:nvPr/>
        </p:nvSpPr>
        <p:spPr>
          <a:xfrm>
            <a:off x="548640" y="1371600"/>
            <a:ext cx="3566160" cy="502920"/>
          </a:xfrm>
          <a:prstGeom prst="rect">
            <a:avLst/>
          </a:prstGeom>
          <a:solidFill>
            <a:schemeClr val="accent1"/>
          </a:solidFill>
          <a:ln w="12700">
            <a:solidFill>
              <a:schemeClr val="accent1"/>
            </a:solidFill>
            <a:prstDash val="solid"/>
          </a:ln>
        </p:spPr>
      </p:sp>
      <p:sp>
        <p:nvSpPr>
          <p:cNvPr id="5" name="Text 2"/>
          <p:cNvSpPr txBox="1"/>
          <p:nvPr/>
        </p:nvSpPr>
        <p:spPr>
          <a:xfrm>
            <a:off x="777240" y="1371600"/>
            <a:ext cx="3108960" cy="502920"/>
          </a:xfrm>
          <a:prstGeom prst="rect">
            <a:avLst/>
          </a:prstGeom>
          <a:noFill/>
          <a:ln/>
        </p:spPr>
        <p:txBody>
          <a:bodyPr wrap="square" lIns="0" tIns="0" rIns="0" bIns="0" rtlCol="0" anchor="ctr"/>
          <a:lstStyle/>
          <a:p>
            <a:pPr algn="l" indent="0" marL="0">
              <a:buNone/>
            </a:pPr>
            <a:r>
              <a:rPr lang="en-US" sz="1800" b="1" dirty="0">
                <a:solidFill>
                  <a:schemeClr val="bg1"/>
                </a:solidFill>
              </a:rPr>
              <a:t>Zugriff</a:t>
            </a:r>
            <a:endParaRPr lang="en-US" sz="1800" dirty="0"/>
          </a:p>
        </p:txBody>
      </p:sp>
      <p:sp>
        <p:nvSpPr>
          <p:cNvPr id="6" name="Liste Zugriff"/>
          <p:cNvSpPr/>
          <p:nvPr/>
        </p:nvSpPr>
        <p:spPr>
          <a:xfrm>
            <a:off x="548640" y="1874520"/>
            <a:ext cx="3566160" cy="4343400"/>
          </a:xfrm>
          <a:prstGeom prst="rect">
            <a:avLst/>
          </a:prstGeom>
          <a:solidFill>
            <a:schemeClr val="bg2"/>
          </a:solidFill>
          <a:ln w="12700">
            <a:solidFill>
              <a:schemeClr val="bg2"/>
            </a:solidFill>
            <a:prstDash val="solid"/>
          </a:ln>
        </p:spPr>
      </p:sp>
      <p:sp>
        <p:nvSpPr>
          <p:cNvPr id="7" name="Text 4"/>
          <p:cNvSpPr txBox="1"/>
          <p:nvPr/>
        </p:nvSpPr>
        <p:spPr>
          <a:xfrm>
            <a:off x="777240" y="2057400"/>
            <a:ext cx="3108960" cy="402336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chemeClr val="tx1"/>
                </a:solidFill>
              </a:rPr>
              <a:t>Login mit bcrypt-Hashes</a:t>
            </a:r>
            <a:endParaRPr lang="en-US" sz="1500" dirty="0"/>
          </a:p>
          <a:p>
            <a:pPr algn="l" marL="342900" indent="-342900">
              <a:spcAft>
                <a:spcPts val="1200"/>
              </a:spcAft>
              <a:buSzPct val="100000"/>
              <a:buChar char="•"/>
            </a:pPr>
            <a:r>
              <a:rPr lang="en-US" sz="1500" dirty="0">
                <a:solidFill>
                  <a:schemeClr val="tx1"/>
                </a:solidFill>
              </a:rPr>
              <a:t>Session-Token, 12 h gültig</a:t>
            </a:r>
            <a:endParaRPr lang="en-US" sz="1500" dirty="0"/>
          </a:p>
          <a:p>
            <a:pPr algn="l" marL="342900" indent="-342900">
              <a:spcAft>
                <a:spcPts val="1200"/>
              </a:spcAft>
              <a:buSzPct val="100000"/>
              <a:buChar char="•"/>
            </a:pPr>
            <a:r>
              <a:rPr lang="en-US" sz="1500" dirty="0">
                <a:solidFill>
                  <a:schemeClr val="tx1"/>
                </a:solidFill>
              </a:rPr>
              <a:t>Rollen-Matrix: Nutzer ↔ Rolle, KI-Modell ↔ Rolle</a:t>
            </a:r>
            <a:endParaRPr lang="en-US" sz="1500" dirty="0"/>
          </a:p>
          <a:p>
            <a:pPr algn="l" marL="342900" indent="-342900">
              <a:spcAft>
                <a:spcPts val="1200"/>
              </a:spcAft>
              <a:buSzPct val="100000"/>
              <a:buChar char="•"/>
            </a:pPr>
            <a:r>
              <a:rPr lang="en-US" sz="1500" dirty="0">
                <a:solidFill>
                  <a:schemeClr val="tx1"/>
                </a:solidFill>
              </a:rPr>
              <a:t>Modell-Verwaltung nur für Admins</a:t>
            </a:r>
            <a:endParaRPr lang="en-US" sz="1500" dirty="0"/>
          </a:p>
        </p:txBody>
      </p:sp>
      <p:sp>
        <p:nvSpPr>
          <p:cNvPr id="8" name="Kopf Cloud"/>
          <p:cNvSpPr/>
          <p:nvPr/>
        </p:nvSpPr>
        <p:spPr>
          <a:xfrm>
            <a:off x="4311396" y="1371600"/>
            <a:ext cx="3566160" cy="502920"/>
          </a:xfrm>
          <a:prstGeom prst="rect">
            <a:avLst/>
          </a:prstGeom>
          <a:solidFill>
            <a:schemeClr val="accent1"/>
          </a:solidFill>
          <a:ln w="12700">
            <a:solidFill>
              <a:schemeClr val="accent1"/>
            </a:solidFill>
            <a:prstDash val="solid"/>
          </a:ln>
        </p:spPr>
      </p:sp>
      <p:sp>
        <p:nvSpPr>
          <p:cNvPr id="9" name="Text 6"/>
          <p:cNvSpPr txBox="1"/>
          <p:nvPr/>
        </p:nvSpPr>
        <p:spPr>
          <a:xfrm>
            <a:off x="4539996" y="1371600"/>
            <a:ext cx="3108960" cy="502920"/>
          </a:xfrm>
          <a:prstGeom prst="rect">
            <a:avLst/>
          </a:prstGeom>
          <a:noFill/>
          <a:ln/>
        </p:spPr>
        <p:txBody>
          <a:bodyPr wrap="square" lIns="0" tIns="0" rIns="0" bIns="0" rtlCol="0" anchor="ctr"/>
          <a:lstStyle/>
          <a:p>
            <a:pPr algn="l" indent="0" marL="0">
              <a:buNone/>
            </a:pPr>
            <a:r>
              <a:rPr lang="en-US" sz="1800" b="1" dirty="0">
                <a:solidFill>
                  <a:schemeClr val="bg1"/>
                </a:solidFill>
              </a:rPr>
              <a:t>Cloud</a:t>
            </a:r>
            <a:endParaRPr lang="en-US" sz="1800" dirty="0"/>
          </a:p>
        </p:txBody>
      </p:sp>
      <p:sp>
        <p:nvSpPr>
          <p:cNvPr id="10" name="Liste Cloud"/>
          <p:cNvSpPr/>
          <p:nvPr/>
        </p:nvSpPr>
        <p:spPr>
          <a:xfrm>
            <a:off x="4311396" y="1874520"/>
            <a:ext cx="3566160" cy="4343400"/>
          </a:xfrm>
          <a:prstGeom prst="rect">
            <a:avLst/>
          </a:prstGeom>
          <a:solidFill>
            <a:schemeClr val="bg2"/>
          </a:solidFill>
          <a:ln w="12700">
            <a:solidFill>
              <a:schemeClr val="bg2"/>
            </a:solidFill>
            <a:prstDash val="solid"/>
          </a:ln>
        </p:spPr>
      </p:sp>
      <p:sp>
        <p:nvSpPr>
          <p:cNvPr id="11" name="Text 8"/>
          <p:cNvSpPr txBox="1"/>
          <p:nvPr/>
        </p:nvSpPr>
        <p:spPr>
          <a:xfrm>
            <a:off x="4539996" y="2057400"/>
            <a:ext cx="3108960" cy="402336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chemeClr val="tx1"/>
                </a:solidFill>
              </a:rPr>
              <a:t>eigene IAM-Rolle je Dienst</a:t>
            </a:r>
            <a:endParaRPr lang="en-US" sz="1500" dirty="0"/>
          </a:p>
          <a:p>
            <a:pPr algn="l" marL="342900" indent="-342900">
              <a:spcAft>
                <a:spcPts val="1200"/>
              </a:spcAft>
              <a:buSzPct val="100000"/>
              <a:buChar char="•"/>
            </a:pPr>
            <a:r>
              <a:rPr lang="en-US" sz="1500" dirty="0">
                <a:solidFill>
                  <a:schemeClr val="tx1"/>
                </a:solidFill>
              </a:rPr>
              <a:t>Deployment per GitHub OIDC statt Schlüssel</a:t>
            </a:r>
            <a:endParaRPr lang="en-US" sz="1500" dirty="0"/>
          </a:p>
          <a:p>
            <a:pPr algn="l" marL="342900" indent="-342900">
              <a:spcAft>
                <a:spcPts val="1200"/>
              </a:spcAft>
              <a:buSzPct val="100000"/>
              <a:buChar char="•"/>
            </a:pPr>
            <a:r>
              <a:rPr lang="en-US" sz="1500" dirty="0">
                <a:solidFill>
                  <a:schemeClr val="tx1"/>
                </a:solidFill>
              </a:rPr>
              <a:t>Geheimnisse noch in .env → Secrets Manager geplant</a:t>
            </a:r>
            <a:endParaRPr lang="en-US" sz="1500" dirty="0"/>
          </a:p>
          <a:p>
            <a:pPr algn="l" marL="342900" indent="-342900">
              <a:spcAft>
                <a:spcPts val="1200"/>
              </a:spcAft>
              <a:buSzPct val="100000"/>
              <a:buChar char="•"/>
            </a:pPr>
            <a:r>
              <a:rPr lang="en-US" sz="1500" dirty="0">
                <a:solidFill>
                  <a:schemeClr val="tx1"/>
                </a:solidFill>
              </a:rPr>
              <a:t>HTTPS selbstsigniert → echtes Zertifikat geplant</a:t>
            </a:r>
            <a:endParaRPr lang="en-US" sz="1500" dirty="0"/>
          </a:p>
        </p:txBody>
      </p:sp>
      <p:sp>
        <p:nvSpPr>
          <p:cNvPr id="12" name="Kopf Betrieb"/>
          <p:cNvSpPr/>
          <p:nvPr/>
        </p:nvSpPr>
        <p:spPr>
          <a:xfrm>
            <a:off x="8074152" y="1371600"/>
            <a:ext cx="3566160" cy="502920"/>
          </a:xfrm>
          <a:prstGeom prst="rect">
            <a:avLst/>
          </a:prstGeom>
          <a:solidFill>
            <a:schemeClr val="accent1"/>
          </a:solidFill>
          <a:ln w="12700">
            <a:solidFill>
              <a:schemeClr val="accent1"/>
            </a:solidFill>
            <a:prstDash val="solid"/>
          </a:ln>
        </p:spPr>
      </p:sp>
      <p:sp>
        <p:nvSpPr>
          <p:cNvPr id="13" name="Text 10"/>
          <p:cNvSpPr txBox="1"/>
          <p:nvPr/>
        </p:nvSpPr>
        <p:spPr>
          <a:xfrm>
            <a:off x="8302752" y="1371600"/>
            <a:ext cx="3108960" cy="502920"/>
          </a:xfrm>
          <a:prstGeom prst="rect">
            <a:avLst/>
          </a:prstGeom>
          <a:noFill/>
          <a:ln/>
        </p:spPr>
        <p:txBody>
          <a:bodyPr wrap="square" lIns="0" tIns="0" rIns="0" bIns="0" rtlCol="0" anchor="ctr"/>
          <a:lstStyle/>
          <a:p>
            <a:pPr algn="l" indent="0" marL="0">
              <a:buNone/>
            </a:pPr>
            <a:r>
              <a:rPr lang="en-US" sz="1800" b="1" dirty="0">
                <a:solidFill>
                  <a:schemeClr val="bg1"/>
                </a:solidFill>
              </a:rPr>
              <a:t>Betrieb</a:t>
            </a:r>
            <a:endParaRPr lang="en-US" sz="1800" dirty="0"/>
          </a:p>
        </p:txBody>
      </p:sp>
      <p:sp>
        <p:nvSpPr>
          <p:cNvPr id="14" name="Liste Betrieb"/>
          <p:cNvSpPr/>
          <p:nvPr/>
        </p:nvSpPr>
        <p:spPr>
          <a:xfrm>
            <a:off x="8074152" y="1874520"/>
            <a:ext cx="3566160" cy="4343400"/>
          </a:xfrm>
          <a:prstGeom prst="rect">
            <a:avLst/>
          </a:prstGeom>
          <a:solidFill>
            <a:schemeClr val="bg2"/>
          </a:solidFill>
          <a:ln w="12700">
            <a:solidFill>
              <a:schemeClr val="bg2"/>
            </a:solidFill>
            <a:prstDash val="solid"/>
          </a:ln>
        </p:spPr>
      </p:sp>
      <p:sp>
        <p:nvSpPr>
          <p:cNvPr id="15" name="Text 12"/>
          <p:cNvSpPr txBox="1"/>
          <p:nvPr/>
        </p:nvSpPr>
        <p:spPr>
          <a:xfrm>
            <a:off x="8302752" y="2057400"/>
            <a:ext cx="3108960" cy="402336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chemeClr val="tx1"/>
                </a:solidFill>
              </a:rPr>
              <a:t>CI/CD: Push auf main aktualisiert alles</a:t>
            </a:r>
            <a:endParaRPr lang="en-US" sz="1500" dirty="0"/>
          </a:p>
          <a:p>
            <a:pPr algn="l" marL="342900" indent="-342900">
              <a:spcAft>
                <a:spcPts val="1200"/>
              </a:spcAft>
              <a:buSzPct val="100000"/>
              <a:buChar char="•"/>
            </a:pPr>
            <a:r>
              <a:rPr lang="en-US" sz="1500" dirty="0">
                <a:solidFill>
                  <a:schemeClr val="tx1"/>
                </a:solidFill>
              </a:rPr>
              <a:t>Neuaufbau der Umgebung per Skript</a:t>
            </a:r>
            <a:endParaRPr lang="en-US" sz="1500" dirty="0"/>
          </a:p>
          <a:p>
            <a:pPr algn="l" marL="342900" indent="-342900">
              <a:spcAft>
                <a:spcPts val="1200"/>
              </a:spcAft>
              <a:buSzPct val="100000"/>
              <a:buChar char="•"/>
            </a:pPr>
            <a:r>
              <a:rPr lang="en-US" sz="1500" dirty="0">
                <a:solidFill>
                  <a:schemeClr val="tx1"/>
                </a:solidFill>
              </a:rPr>
              <a:t>Webapp ≈ 0,58 $/Tag – nur bei Bedarf wäre günstiger</a:t>
            </a:r>
            <a:endParaRPr lang="en-US" sz="1500" dirty="0"/>
          </a:p>
          <a:p>
            <a:pPr algn="l" marL="342900" indent="-342900">
              <a:spcAft>
                <a:spcPts val="1200"/>
              </a:spcAft>
              <a:buSzPct val="100000"/>
              <a:buChar char="•"/>
            </a:pPr>
            <a:r>
              <a:rPr lang="en-US" sz="1500" dirty="0">
                <a:solidFill>
                  <a:schemeClr val="tx1"/>
                </a:solidFill>
              </a:rPr>
              <a:t>Ausbau: RDS, Auto-Scaling, Tests, Monitoring</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Wie die Qualitätszahlen entstanden sind</a:t>
            </a:r>
            <a:endParaRPr lang="en-US" sz="2800" dirty="0"/>
          </a:p>
        </p:txBody>
      </p:sp>
      <p:graphicFrame>
        <p:nvGraphicFramePr>
          <p:cNvPr id="30" name="Tabelle Evaluation"/>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926080"/>
                <a:gridCol w="4023360"/>
                <a:gridCol w="4142232"/>
              </a:tblGrid>
              <a:tr h="457200">
                <a:tc>
                  <a:txBody>
                    <a:bodyPr/>
                    <a:lstStyle/>
                    <a:p>
                      <a:pPr indent="0" marL="0">
                        <a:buNone/>
                      </a:pPr>
                      <a:r>
                        <a:rPr lang="en-US" sz="1400" b="1" dirty="0">
                          <a:solidFill>
                            <a:schemeClr val="bg1"/>
                          </a:solidFill>
                        </a:rPr>
                        <a:t>Messung</a:t>
                      </a:r>
                      <a:endParaRPr lang="en-US" sz="14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Methode</a:t>
                      </a:r>
                      <a:endParaRPr lang="en-US" sz="14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Ergebnis</a:t>
                      </a:r>
                      <a:endParaRPr lang="en-US" sz="14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rgbClr val="000000"/>
                          </a:solidFill>
                        </a:rPr>
                        <a:t>Training</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5-fach, gruppiert nach Hochschule</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Precision 96,5 %</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Praxis, Score 0,5–0,9</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Sprachmodell prüft ≈ 21.000 Dokumente</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25 % bestätigt</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Pilot, Score ≥ 0,9</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Stichprobe 400 Dokumente</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82,5 % (Intervall 78,5–85,9)</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Unauffällige Hosts</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Stichprobe 225 Dokumente</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94,2 % (Intervall 90,4–96,6)</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Verdächtige Hosts (197)</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alle 6.463 Dokumente geprüft</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68 % bestätigt</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Endliste (erweitert)</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Hochrechnung aus den Zeilen oben</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 18.600 echt von 19.049 (≈ 98 %)</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Sprachmodell vs. Mensch</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20 Dokumente manuell geprüft</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85 % Übereinstimmung (kleine Stichprobe)</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Recall</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grobe Stichprobe bei Score 0,3–0,5</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 383 verpasst bei 18.252 – sehr unsicher</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00000"/>
                          </a:solidFill>
                        </a:rPr>
                        <a:t>Zielwert 40.000</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Fachschätzung</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rPr>
                        <a:t>Größenordnung, keine Messung</a:t>
                      </a:r>
                      <a:endParaRPr lang="en-US" sz="1300" dirty="0"/>
                    </a:p>
                  </a:txBody>
                  <a:tcPr marL="109728" marR="109728"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548640" y="5989320"/>
            <a:ext cx="11091672" cy="365760"/>
          </a:xfrm>
          <a:prstGeom prst="rect">
            <a:avLst/>
          </a:prstGeom>
          <a:noFill/>
          <a:ln/>
        </p:spPr>
        <p:txBody>
          <a:bodyPr wrap="square" lIns="0" tIns="0" rIns="0" bIns="0" rtlCol="0" anchor="t"/>
          <a:lstStyle/>
          <a:p>
            <a:pPr algn="l" indent="0" marL="0">
              <a:buNone/>
            </a:pPr>
            <a:r>
              <a:rPr lang="en-US" sz="1300" b="1" dirty="0">
                <a:solidFill>
                  <a:schemeClr val="tx2"/>
                </a:solidFill>
              </a:rPr>
              <a:t>Alle Precision-Angaben messen die Übereinstimmung mit dem Sprachmodell, nicht mit Menschen. Endlisten: streng (11.771, nur LLM-bestätigt) und erweitert (19.049).</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Häufige Fragen</a:t>
            </a:r>
            <a:endParaRPr lang="en-US" sz="2800" dirty="0"/>
          </a:p>
        </p:txBody>
      </p:sp>
      <p:sp>
        <p:nvSpPr>
          <p:cNvPr id="4" name="FAQ 1"/>
          <p:cNvSpPr/>
          <p:nvPr/>
        </p:nvSpPr>
        <p:spPr>
          <a:xfrm>
            <a:off x="548640" y="1371600"/>
            <a:ext cx="5468112" cy="1508760"/>
          </a:xfrm>
          <a:prstGeom prst="rect">
            <a:avLst/>
          </a:prstGeom>
          <a:solidFill>
            <a:schemeClr val="bg2"/>
          </a:solidFill>
          <a:ln w="12700">
            <a:solidFill>
              <a:schemeClr val="bg2"/>
            </a:solidFill>
            <a:prstDash val="solid"/>
          </a:ln>
        </p:spPr>
      </p:sp>
      <p:sp>
        <p:nvSpPr>
          <p:cNvPr id="5" name="Text 2"/>
          <p:cNvSpPr txBox="1"/>
          <p:nvPr/>
        </p:nvSpPr>
        <p:spPr>
          <a:xfrm>
            <a:off x="731520" y="1463040"/>
            <a:ext cx="5120640" cy="365760"/>
          </a:xfrm>
          <a:prstGeom prst="rect">
            <a:avLst/>
          </a:prstGeom>
          <a:noFill/>
          <a:ln/>
        </p:spPr>
        <p:txBody>
          <a:bodyPr wrap="square" lIns="0" tIns="0" rIns="0" bIns="0" rtlCol="0" anchor="t"/>
          <a:lstStyle/>
          <a:p>
            <a:pPr algn="l" indent="0" marL="0">
              <a:buNone/>
            </a:pPr>
            <a:r>
              <a:rPr lang="en-US" sz="1500" b="1" dirty="0">
                <a:solidFill>
                  <a:schemeClr val="accent1"/>
                </a:solidFill>
              </a:rPr>
              <a:t>Warum nicht alles mit dem Sprachmodell prüfen?</a:t>
            </a:r>
            <a:endParaRPr lang="en-US" sz="1500" dirty="0"/>
          </a:p>
        </p:txBody>
      </p:sp>
      <p:sp>
        <p:nvSpPr>
          <p:cNvPr id="6" name="Text 3"/>
          <p:cNvSpPr txBox="1"/>
          <p:nvPr/>
        </p:nvSpPr>
        <p:spPr>
          <a:xfrm>
            <a:off x="731520" y="1874520"/>
            <a:ext cx="5120640" cy="960120"/>
          </a:xfrm>
          <a:prstGeom prst="rect">
            <a:avLst/>
          </a:prstGeom>
          <a:noFill/>
          <a:ln/>
        </p:spPr>
        <p:txBody>
          <a:bodyPr wrap="square" lIns="0" tIns="0" rIns="0" bIns="0" rtlCol="0" anchor="t"/>
          <a:lstStyle/>
          <a:p>
            <a:pPr algn="l" indent="0" marL="0">
              <a:buNone/>
            </a:pPr>
            <a:r>
              <a:rPr lang="en-US" sz="1400" dirty="0">
                <a:solidFill>
                  <a:schemeClr val="tx1"/>
                </a:solidFill>
              </a:rPr>
              <a:t>Hochgerechnet ≈ 500 $ statt 107 $ und deutlich länger. Zweistufig ist es billiger und schneller.</a:t>
            </a:r>
            <a:endParaRPr lang="en-US" sz="1400" dirty="0"/>
          </a:p>
        </p:txBody>
      </p:sp>
      <p:sp>
        <p:nvSpPr>
          <p:cNvPr id="7" name="FAQ 2"/>
          <p:cNvSpPr/>
          <p:nvPr/>
        </p:nvSpPr>
        <p:spPr>
          <a:xfrm>
            <a:off x="6172200" y="1371600"/>
            <a:ext cx="5468112" cy="1508760"/>
          </a:xfrm>
          <a:prstGeom prst="rect">
            <a:avLst/>
          </a:prstGeom>
          <a:solidFill>
            <a:schemeClr val="bg2"/>
          </a:solidFill>
          <a:ln w="12700">
            <a:solidFill>
              <a:schemeClr val="bg2"/>
            </a:solidFill>
            <a:prstDash val="solid"/>
          </a:ln>
        </p:spPr>
      </p:sp>
      <p:sp>
        <p:nvSpPr>
          <p:cNvPr id="8" name="Text 5"/>
          <p:cNvSpPr txBox="1"/>
          <p:nvPr/>
        </p:nvSpPr>
        <p:spPr>
          <a:xfrm>
            <a:off x="6355080" y="1463040"/>
            <a:ext cx="5120640" cy="365760"/>
          </a:xfrm>
          <a:prstGeom prst="rect">
            <a:avLst/>
          </a:prstGeom>
          <a:noFill/>
          <a:ln/>
        </p:spPr>
        <p:txBody>
          <a:bodyPr wrap="square" lIns="0" tIns="0" rIns="0" bIns="0" rtlCol="0" anchor="t"/>
          <a:lstStyle/>
          <a:p>
            <a:pPr algn="l" indent="0" marL="0">
              <a:buNone/>
            </a:pPr>
            <a:r>
              <a:rPr lang="en-US" sz="1500" b="1" dirty="0">
                <a:solidFill>
                  <a:schemeClr val="accent1"/>
                </a:solidFill>
              </a:rPr>
              <a:t>Warum kein Transformer?</a:t>
            </a:r>
            <a:endParaRPr lang="en-US" sz="1500" dirty="0"/>
          </a:p>
        </p:txBody>
      </p:sp>
      <p:sp>
        <p:nvSpPr>
          <p:cNvPr id="9" name="Text 6"/>
          <p:cNvSpPr txBox="1"/>
          <p:nvPr/>
        </p:nvSpPr>
        <p:spPr>
          <a:xfrm>
            <a:off x="6355080" y="1874520"/>
            <a:ext cx="5120640" cy="960120"/>
          </a:xfrm>
          <a:prstGeom prst="rect">
            <a:avLst/>
          </a:prstGeom>
          <a:noFill/>
          <a:ln/>
        </p:spPr>
        <p:txBody>
          <a:bodyPr wrap="square" lIns="0" tIns="0" rIns="0" bIns="0" rtlCol="0" anchor="t"/>
          <a:lstStyle/>
          <a:p>
            <a:pPr algn="l" indent="0" marL="0">
              <a:buNone/>
            </a:pPr>
            <a:r>
              <a:rPr lang="en-US" sz="1400" dirty="0">
                <a:solidFill>
                  <a:schemeClr val="tx1"/>
                </a:solidFill>
              </a:rPr>
              <a:t>Der Engpass war die Breite der Trainingsdaten, nicht die Modellgröße. TF-IDF ist schnell, erklärbar und ehrlich evaluierbar.</a:t>
            </a:r>
            <a:endParaRPr lang="en-US" sz="1400" dirty="0"/>
          </a:p>
        </p:txBody>
      </p:sp>
      <p:sp>
        <p:nvSpPr>
          <p:cNvPr id="10" name="FAQ 3"/>
          <p:cNvSpPr/>
          <p:nvPr/>
        </p:nvSpPr>
        <p:spPr>
          <a:xfrm>
            <a:off x="548640" y="3017520"/>
            <a:ext cx="5468112" cy="1508760"/>
          </a:xfrm>
          <a:prstGeom prst="rect">
            <a:avLst/>
          </a:prstGeom>
          <a:solidFill>
            <a:schemeClr val="bg2"/>
          </a:solidFill>
          <a:ln w="12700">
            <a:solidFill>
              <a:schemeClr val="bg2"/>
            </a:solidFill>
            <a:prstDash val="solid"/>
          </a:ln>
        </p:spPr>
      </p:sp>
      <p:sp>
        <p:nvSpPr>
          <p:cNvPr id="11" name="Text 8"/>
          <p:cNvSpPr txBox="1"/>
          <p:nvPr/>
        </p:nvSpPr>
        <p:spPr>
          <a:xfrm>
            <a:off x="731520" y="3108960"/>
            <a:ext cx="5120640" cy="365760"/>
          </a:xfrm>
          <a:prstGeom prst="rect">
            <a:avLst/>
          </a:prstGeom>
          <a:noFill/>
          <a:ln/>
        </p:spPr>
        <p:txBody>
          <a:bodyPr wrap="square" lIns="0" tIns="0" rIns="0" bIns="0" rtlCol="0" anchor="t"/>
          <a:lstStyle/>
          <a:p>
            <a:pPr algn="l" indent="0" marL="0">
              <a:buNone/>
            </a:pPr>
            <a:r>
              <a:rPr lang="en-US" sz="1500" b="1" dirty="0">
                <a:solidFill>
                  <a:schemeClr val="accent1"/>
                </a:solidFill>
              </a:rPr>
              <a:t>Warum nicht nach Dateinamen filtern?</a:t>
            </a:r>
            <a:endParaRPr lang="en-US" sz="1500" dirty="0"/>
          </a:p>
        </p:txBody>
      </p:sp>
      <p:sp>
        <p:nvSpPr>
          <p:cNvPr id="12" name="Text 9"/>
          <p:cNvSpPr txBox="1"/>
          <p:nvPr/>
        </p:nvSpPr>
        <p:spPr>
          <a:xfrm>
            <a:off x="731520" y="3520440"/>
            <a:ext cx="5120640" cy="960120"/>
          </a:xfrm>
          <a:prstGeom prst="rect">
            <a:avLst/>
          </a:prstGeom>
          <a:noFill/>
          <a:ln/>
        </p:spPr>
        <p:txBody>
          <a:bodyPr wrap="square" lIns="0" tIns="0" rIns="0" bIns="0" rtlCol="0" anchor="t"/>
          <a:lstStyle/>
          <a:p>
            <a:pPr algn="l" indent="0" marL="0">
              <a:buNone/>
            </a:pPr>
            <a:r>
              <a:rPr lang="en-US" sz="1400" dirty="0">
                <a:solidFill>
                  <a:schemeClr val="tx1"/>
                </a:solidFill>
              </a:rPr>
              <a:t>Starkes Signal (95 % vs. 35 % bei Score ≥ 0,9), aber nicht allein ausreichend: Prüfungsordnungen heißen ähnlich.</a:t>
            </a:r>
            <a:endParaRPr lang="en-US" sz="1400" dirty="0"/>
          </a:p>
        </p:txBody>
      </p:sp>
      <p:sp>
        <p:nvSpPr>
          <p:cNvPr id="13" name="FAQ 4"/>
          <p:cNvSpPr/>
          <p:nvPr/>
        </p:nvSpPr>
        <p:spPr>
          <a:xfrm>
            <a:off x="6172200" y="3017520"/>
            <a:ext cx="5468112" cy="1508760"/>
          </a:xfrm>
          <a:prstGeom prst="rect">
            <a:avLst/>
          </a:prstGeom>
          <a:solidFill>
            <a:schemeClr val="bg2"/>
          </a:solidFill>
          <a:ln w="12700">
            <a:solidFill>
              <a:schemeClr val="bg2"/>
            </a:solidFill>
            <a:prstDash val="solid"/>
          </a:ln>
        </p:spPr>
      </p:sp>
      <p:sp>
        <p:nvSpPr>
          <p:cNvPr id="14" name="Text 11"/>
          <p:cNvSpPr txBox="1"/>
          <p:nvPr/>
        </p:nvSpPr>
        <p:spPr>
          <a:xfrm>
            <a:off x="6355080" y="3108960"/>
            <a:ext cx="5120640" cy="365760"/>
          </a:xfrm>
          <a:prstGeom prst="rect">
            <a:avLst/>
          </a:prstGeom>
          <a:noFill/>
          <a:ln/>
        </p:spPr>
        <p:txBody>
          <a:bodyPr wrap="square" lIns="0" tIns="0" rIns="0" bIns="0" rtlCol="0" anchor="t"/>
          <a:lstStyle/>
          <a:p>
            <a:pPr algn="l" indent="0" marL="0">
              <a:buNone/>
            </a:pPr>
            <a:r>
              <a:rPr lang="en-US" sz="1500" b="1" dirty="0">
                <a:solidFill>
                  <a:schemeClr val="accent1"/>
                </a:solidFill>
              </a:rPr>
              <a:t>Wie aktuell sind die Daten?</a:t>
            </a:r>
            <a:endParaRPr lang="en-US" sz="1500" dirty="0"/>
          </a:p>
        </p:txBody>
      </p:sp>
      <p:sp>
        <p:nvSpPr>
          <p:cNvPr id="15" name="Text 12"/>
          <p:cNvSpPr txBox="1"/>
          <p:nvPr/>
        </p:nvSpPr>
        <p:spPr>
          <a:xfrm>
            <a:off x="6355080" y="3520440"/>
            <a:ext cx="5120640" cy="960120"/>
          </a:xfrm>
          <a:prstGeom prst="rect">
            <a:avLst/>
          </a:prstGeom>
          <a:noFill/>
          <a:ln/>
        </p:spPr>
        <p:txBody>
          <a:bodyPr wrap="square" lIns="0" tIns="0" rIns="0" bIns="0" rtlCol="0" anchor="t"/>
          <a:lstStyle/>
          <a:p>
            <a:pPr algn="l" indent="0" marL="0">
              <a:buNone/>
            </a:pPr>
            <a:r>
              <a:rPr lang="en-US" sz="1400" dirty="0">
                <a:solidFill>
                  <a:schemeClr val="tx1"/>
                </a:solidFill>
              </a:rPr>
              <a:t>Stand August bis September 2026. Ein kompletter Lauf dauert ≈ 13 Stunden und ist wiederholbar.</a:t>
            </a:r>
            <a:endParaRPr lang="en-US" sz="1400" dirty="0"/>
          </a:p>
        </p:txBody>
      </p:sp>
      <p:sp>
        <p:nvSpPr>
          <p:cNvPr id="16" name="FAQ 5"/>
          <p:cNvSpPr/>
          <p:nvPr/>
        </p:nvSpPr>
        <p:spPr>
          <a:xfrm>
            <a:off x="548640" y="4663440"/>
            <a:ext cx="5468112" cy="1508760"/>
          </a:xfrm>
          <a:prstGeom prst="rect">
            <a:avLst/>
          </a:prstGeom>
          <a:solidFill>
            <a:schemeClr val="bg2"/>
          </a:solidFill>
          <a:ln w="12700">
            <a:solidFill>
              <a:schemeClr val="bg2"/>
            </a:solidFill>
            <a:prstDash val="solid"/>
          </a:ln>
        </p:spPr>
      </p:sp>
      <p:sp>
        <p:nvSpPr>
          <p:cNvPr id="17" name="Text 14"/>
          <p:cNvSpPr txBox="1"/>
          <p:nvPr/>
        </p:nvSpPr>
        <p:spPr>
          <a:xfrm>
            <a:off x="731520" y="4754880"/>
            <a:ext cx="5120640" cy="365760"/>
          </a:xfrm>
          <a:prstGeom prst="rect">
            <a:avLst/>
          </a:prstGeom>
          <a:noFill/>
          <a:ln/>
        </p:spPr>
        <p:txBody>
          <a:bodyPr wrap="square" lIns="0" tIns="0" rIns="0" bIns="0" rtlCol="0" anchor="t"/>
          <a:lstStyle/>
          <a:p>
            <a:pPr algn="l" indent="0" marL="0">
              <a:buNone/>
            </a:pPr>
            <a:r>
              <a:rPr lang="en-US" sz="1500" b="1" dirty="0">
                <a:solidFill>
                  <a:schemeClr val="accent1"/>
                </a:solidFill>
              </a:rPr>
              <a:t>Wer darf die Daten nutzen?</a:t>
            </a:r>
            <a:endParaRPr lang="en-US" sz="1500" dirty="0"/>
          </a:p>
        </p:txBody>
      </p:sp>
      <p:sp>
        <p:nvSpPr>
          <p:cNvPr id="18" name="Text 15"/>
          <p:cNvSpPr txBox="1"/>
          <p:nvPr/>
        </p:nvSpPr>
        <p:spPr>
          <a:xfrm>
            <a:off x="731520" y="5166360"/>
            <a:ext cx="5120640" cy="960120"/>
          </a:xfrm>
          <a:prstGeom prst="rect">
            <a:avLst/>
          </a:prstGeom>
          <a:noFill/>
          <a:ln/>
        </p:spPr>
        <p:txBody>
          <a:bodyPr wrap="square" lIns="0" tIns="0" rIns="0" bIns="0" rtlCol="0" anchor="t"/>
          <a:lstStyle/>
          <a:p>
            <a:pPr algn="l" indent="0" marL="0">
              <a:buNone/>
            </a:pPr>
            <a:r>
              <a:rPr lang="en-US" sz="1400" dirty="0">
                <a:solidFill>
                  <a:schemeClr val="tx1"/>
                </a:solidFill>
              </a:rPr>
              <a:t>Projektintern ja; Weitergabe ist rechtlich zu klären (Urheberrecht, Datenschutz).</a:t>
            </a:r>
            <a:endParaRPr lang="en-US" sz="1400" dirty="0"/>
          </a:p>
        </p:txBody>
      </p:sp>
      <p:sp>
        <p:nvSpPr>
          <p:cNvPr id="19" name="FAQ 6"/>
          <p:cNvSpPr/>
          <p:nvPr/>
        </p:nvSpPr>
        <p:spPr>
          <a:xfrm>
            <a:off x="6172200" y="4663440"/>
            <a:ext cx="5468112" cy="1508760"/>
          </a:xfrm>
          <a:prstGeom prst="rect">
            <a:avLst/>
          </a:prstGeom>
          <a:solidFill>
            <a:schemeClr val="bg2"/>
          </a:solidFill>
          <a:ln w="12700">
            <a:solidFill>
              <a:schemeClr val="bg2"/>
            </a:solidFill>
            <a:prstDash val="solid"/>
          </a:ln>
        </p:spPr>
      </p:sp>
      <p:sp>
        <p:nvSpPr>
          <p:cNvPr id="20" name="Text 17"/>
          <p:cNvSpPr txBox="1"/>
          <p:nvPr/>
        </p:nvSpPr>
        <p:spPr>
          <a:xfrm>
            <a:off x="6355080" y="4754880"/>
            <a:ext cx="5120640" cy="365760"/>
          </a:xfrm>
          <a:prstGeom prst="rect">
            <a:avLst/>
          </a:prstGeom>
          <a:noFill/>
          <a:ln/>
        </p:spPr>
        <p:txBody>
          <a:bodyPr wrap="square" lIns="0" tIns="0" rIns="0" bIns="0" rtlCol="0" anchor="t"/>
          <a:lstStyle/>
          <a:p>
            <a:pPr algn="l" indent="0" marL="0">
              <a:buNone/>
            </a:pPr>
            <a:r>
              <a:rPr lang="en-US" sz="1500" b="1" dirty="0">
                <a:solidFill>
                  <a:schemeClr val="accent1"/>
                </a:solidFill>
              </a:rPr>
              <a:t>Was kostet ein neuer Anwendungsfall?</a:t>
            </a:r>
            <a:endParaRPr lang="en-US" sz="1500" dirty="0"/>
          </a:p>
        </p:txBody>
      </p:sp>
      <p:sp>
        <p:nvSpPr>
          <p:cNvPr id="21" name="Text 18"/>
          <p:cNvSpPr txBox="1"/>
          <p:nvPr/>
        </p:nvSpPr>
        <p:spPr>
          <a:xfrm>
            <a:off x="6355080" y="5166360"/>
            <a:ext cx="5120640" cy="960120"/>
          </a:xfrm>
          <a:prstGeom prst="rect">
            <a:avLst/>
          </a:prstGeom>
          <a:noFill/>
          <a:ln/>
        </p:spPr>
        <p:txBody>
          <a:bodyPr wrap="square" lIns="0" tIns="0" rIns="0" bIns="0" rtlCol="0" anchor="t"/>
          <a:lstStyle/>
          <a:p>
            <a:pPr algn="l" indent="0" marL="0">
              <a:buNone/>
            </a:pPr>
            <a:r>
              <a:rPr lang="en-US" sz="1400" dirty="0">
                <a:solidFill>
                  <a:schemeClr val="tx1"/>
                </a:solidFill>
              </a:rPr>
              <a:t>Profil und Spec sind Konfiguration. Hauptkosten: Prüfung, ≈ 3 $ je 1.000 Dokumente.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Typische Fehler des ML-Modells</a:t>
            </a:r>
            <a:endParaRPr lang="en-US" sz="2800" dirty="0"/>
          </a:p>
        </p:txBody>
      </p:sp>
      <p:sp>
        <p:nvSpPr>
          <p:cNvPr id="4" name="Text 1"/>
          <p:cNvSpPr txBox="1"/>
          <p:nvPr/>
        </p:nvSpPr>
        <p:spPr>
          <a:xfrm>
            <a:off x="548640" y="1371600"/>
            <a:ext cx="11091672" cy="365760"/>
          </a:xfrm>
          <a:prstGeom prst="rect">
            <a:avLst/>
          </a:prstGeom>
          <a:noFill/>
          <a:ln/>
        </p:spPr>
        <p:txBody>
          <a:bodyPr wrap="square" lIns="0" tIns="0" rIns="0" bIns="0" rtlCol="0" anchor="t"/>
          <a:lstStyle/>
          <a:p>
            <a:pPr algn="l" indent="0" marL="0">
              <a:buNone/>
            </a:pPr>
            <a:r>
              <a:rPr lang="en-US" sz="1600" b="1" dirty="0">
                <a:solidFill>
                  <a:schemeClr val="tx2"/>
                </a:solidFill>
              </a:rPr>
              <a:t>Falsche Treffer nach Dokumentart (Anzahl, insgesamt 20.031)</a:t>
            </a:r>
            <a:endParaRPr lang="en-US" sz="1600" dirty="0"/>
          </a:p>
        </p:txBody>
      </p:sp>
      <p:graphicFrame>
        <p:nvGraphicFramePr>
          <p:cNvPr id="5" name="Chart 0" descr=""/>
          <p:cNvGraphicFramePr/>
          <p:nvPr/>
        </p:nvGraphicFramePr>
        <p:xfrm>
          <a:off x="548640" y="1783080"/>
          <a:ext cx="11091672"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Cloud-Kosten pro Tag</a:t>
            </a:r>
            <a:endParaRPr lang="en-US" sz="2800" dirty="0"/>
          </a:p>
        </p:txBody>
      </p:sp>
      <p:sp>
        <p:nvSpPr>
          <p:cNvPr id="4" name="Text 1"/>
          <p:cNvSpPr txBox="1"/>
          <p:nvPr/>
        </p:nvSpPr>
        <p:spPr>
          <a:xfrm>
            <a:off x="548640" y="1371600"/>
            <a:ext cx="11091672" cy="365760"/>
          </a:xfrm>
          <a:prstGeom prst="rect">
            <a:avLst/>
          </a:prstGeom>
          <a:noFill/>
          <a:ln/>
        </p:spPr>
        <p:txBody>
          <a:bodyPr wrap="square" lIns="0" tIns="0" rIns="0" bIns="0" rtlCol="0" anchor="t"/>
          <a:lstStyle/>
          <a:p>
            <a:pPr algn="l" indent="0" marL="0">
              <a:buNone/>
            </a:pPr>
            <a:r>
              <a:rPr lang="en-US" sz="1600" b="1" dirty="0">
                <a:solidFill>
                  <a:schemeClr val="tx2"/>
                </a:solidFill>
              </a:rPr>
              <a:t>Kosten pro Tag in US-Dollar (12.08. bis 05.10.2026)</a:t>
            </a:r>
            <a:endParaRPr lang="en-US" sz="1600" dirty="0"/>
          </a:p>
        </p:txBody>
      </p:sp>
      <p:graphicFrame>
        <p:nvGraphicFramePr>
          <p:cNvPr id="5" name="Chart 0" descr=""/>
          <p:cNvGraphicFramePr/>
          <p:nvPr/>
        </p:nvGraphicFramePr>
        <p:xfrm>
          <a:off x="548640" y="1783080"/>
          <a:ext cx="11091672"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11091672" cy="365760"/>
          </a:xfrm>
          <a:prstGeom prst="rect">
            <a:avLst/>
          </a:prstGeom>
          <a:noFill/>
          <a:ln/>
        </p:spPr>
        <p:txBody>
          <a:bodyPr wrap="square" lIns="0" tIns="0" rIns="0" bIns="0" rtlCol="0" anchor="t"/>
          <a:lstStyle/>
          <a:p>
            <a:pPr algn="l" indent="0" marL="0">
              <a:buNone/>
            </a:pPr>
            <a:r>
              <a:rPr lang="en-US" sz="1300" dirty="0">
                <a:solidFill>
                  <a:schemeClr val="accent4"/>
                </a:solidFill>
              </a:rPr>
              <a:t>Spitzen: Großläufe (12.08., 16.09.) und Sprachmodell-Prüfung (02.09., 30.09. – 02.10.). Grundlast: laufende Webapp.</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Abdeckung nach Hochschultyp und Bundesland</a:t>
            </a:r>
            <a:endParaRPr lang="en-US" sz="2800" dirty="0"/>
          </a:p>
        </p:txBody>
      </p:sp>
      <p:sp>
        <p:nvSpPr>
          <p:cNvPr id="4" name="Text 1"/>
          <p:cNvSpPr txBox="1"/>
          <p:nvPr/>
        </p:nvSpPr>
        <p:spPr>
          <a:xfrm>
            <a:off x="548640" y="1371600"/>
            <a:ext cx="3931920" cy="365760"/>
          </a:xfrm>
          <a:prstGeom prst="rect">
            <a:avLst/>
          </a:prstGeom>
          <a:noFill/>
          <a:ln/>
        </p:spPr>
        <p:txBody>
          <a:bodyPr wrap="square" lIns="0" tIns="0" rIns="0" bIns="0" rtlCol="0" anchor="t"/>
          <a:lstStyle/>
          <a:p>
            <a:pPr algn="l" indent="0" marL="0">
              <a:buNone/>
            </a:pPr>
            <a:r>
              <a:rPr lang="en-US" sz="1500" b="1" dirty="0">
                <a:solidFill>
                  <a:schemeClr val="tx2"/>
                </a:solidFill>
              </a:rPr>
              <a:t>Nach Hochschultyp (Anzahl Hochschulen)</a:t>
            </a:r>
            <a:endParaRPr lang="en-US" sz="1500" dirty="0"/>
          </a:p>
        </p:txBody>
      </p:sp>
      <p:graphicFrame>
        <p:nvGraphicFramePr>
          <p:cNvPr id="5" name="Chart 0" descr=""/>
          <p:cNvGraphicFramePr/>
          <p:nvPr/>
        </p:nvGraphicFramePr>
        <p:xfrm>
          <a:off x="548640" y="1783080"/>
          <a:ext cx="3931920" cy="41148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846320" y="1371600"/>
            <a:ext cx="6793992" cy="365760"/>
          </a:xfrm>
          <a:prstGeom prst="rect">
            <a:avLst/>
          </a:prstGeom>
          <a:noFill/>
          <a:ln/>
        </p:spPr>
        <p:txBody>
          <a:bodyPr wrap="square" lIns="0" tIns="0" rIns="0" bIns="0" rtlCol="0" anchor="t"/>
          <a:lstStyle/>
          <a:p>
            <a:pPr algn="l" indent="0" marL="0">
              <a:buNone/>
            </a:pPr>
            <a:r>
              <a:rPr lang="en-US" sz="1500" b="1" dirty="0">
                <a:solidFill>
                  <a:schemeClr val="tx2"/>
                </a:solidFill>
              </a:rPr>
              <a:t>Nach Bundesland (Anzahl Hochschulen)</a:t>
            </a:r>
            <a:endParaRPr lang="en-US" sz="1500" dirty="0"/>
          </a:p>
        </p:txBody>
      </p:sp>
      <p:graphicFrame>
        <p:nvGraphicFramePr>
          <p:cNvPr id="7" name="Chart 1" descr=""/>
          <p:cNvGraphicFramePr/>
          <p:nvPr/>
        </p:nvGraphicFramePr>
        <p:xfrm>
          <a:off x="4846320" y="1783080"/>
          <a:ext cx="6793992" cy="44805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Projektverlauf in vier Phasen</a:t>
            </a:r>
            <a:endParaRPr lang="en-US" sz="2800" dirty="0"/>
          </a:p>
        </p:txBody>
      </p:sp>
      <p:sp>
        <p:nvSpPr>
          <p:cNvPr id="4" name="Phase 1"/>
          <p:cNvSpPr/>
          <p:nvPr/>
        </p:nvSpPr>
        <p:spPr>
          <a:xfrm>
            <a:off x="548640" y="1508760"/>
            <a:ext cx="2651760" cy="4023360"/>
          </a:xfrm>
          <a:prstGeom prst="rect">
            <a:avLst/>
          </a:prstGeom>
          <a:solidFill>
            <a:schemeClr val="bg2"/>
          </a:solidFill>
          <a:ln w="12700">
            <a:solidFill>
              <a:schemeClr val="bg2"/>
            </a:solidFill>
            <a:prstDash val="solid"/>
          </a:ln>
        </p:spPr>
      </p:sp>
      <p:sp>
        <p:nvSpPr>
          <p:cNvPr id="5" name="Text 2"/>
          <p:cNvSpPr txBox="1"/>
          <p:nvPr/>
        </p:nvSpPr>
        <p:spPr>
          <a:xfrm>
            <a:off x="731520" y="1691640"/>
            <a:ext cx="2286000" cy="457200"/>
          </a:xfrm>
          <a:prstGeom prst="rect">
            <a:avLst/>
          </a:prstGeom>
          <a:noFill/>
          <a:ln/>
        </p:spPr>
        <p:txBody>
          <a:bodyPr wrap="square" lIns="0" tIns="0" rIns="0" bIns="0" rtlCol="0" anchor="t"/>
          <a:lstStyle/>
          <a:p>
            <a:pPr algn="l" indent="0" marL="0">
              <a:buNone/>
            </a:pPr>
            <a:r>
              <a:rPr lang="en-US" sz="1300" b="1" dirty="0">
                <a:solidFill>
                  <a:schemeClr val="accent1"/>
                </a:solidFill>
              </a:rPr>
              <a:t>Phase 1 · Juni–Juli</a:t>
            </a:r>
            <a:endParaRPr lang="en-US" sz="1300" dirty="0"/>
          </a:p>
        </p:txBody>
      </p:sp>
      <p:sp>
        <p:nvSpPr>
          <p:cNvPr id="6" name="Text 3"/>
          <p:cNvSpPr txBox="1"/>
          <p:nvPr/>
        </p:nvSpPr>
        <p:spPr>
          <a:xfrm>
            <a:off x="731520" y="2194560"/>
            <a:ext cx="2286000" cy="731520"/>
          </a:xfrm>
          <a:prstGeom prst="rect">
            <a:avLst/>
          </a:prstGeom>
          <a:noFill/>
          <a:ln/>
        </p:spPr>
        <p:txBody>
          <a:bodyPr wrap="square" lIns="0" tIns="0" rIns="0" bIns="0" rtlCol="0" anchor="t"/>
          <a:lstStyle/>
          <a:p>
            <a:pPr algn="l" indent="0" marL="0">
              <a:buNone/>
            </a:pPr>
            <a:r>
              <a:rPr lang="en-US" sz="1900" b="1" dirty="0">
                <a:solidFill>
                  <a:schemeClr val="tx2"/>
                </a:solidFill>
              </a:rPr>
              <a:t>Prototyp &amp; Cloud</a:t>
            </a:r>
            <a:endParaRPr lang="en-US" sz="1900" dirty="0"/>
          </a:p>
        </p:txBody>
      </p:sp>
      <p:sp>
        <p:nvSpPr>
          <p:cNvPr id="7" name="Text 4"/>
          <p:cNvSpPr txBox="1"/>
          <p:nvPr/>
        </p:nvSpPr>
        <p:spPr>
          <a:xfrm>
            <a:off x="731520" y="3063240"/>
            <a:ext cx="2286000" cy="22860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Scrapy-Prototyp</a:t>
            </a:r>
            <a:endParaRPr lang="en-US" sz="1400" dirty="0"/>
          </a:p>
          <a:p>
            <a:pPr algn="l" marL="342900" indent="-342900">
              <a:spcAft>
                <a:spcPts val="800"/>
              </a:spcAft>
              <a:buSzPct val="100000"/>
              <a:buChar char="•"/>
            </a:pPr>
            <a:r>
              <a:rPr lang="en-US" sz="1400" dirty="0">
                <a:solidFill>
                  <a:schemeClr val="tx1"/>
                </a:solidFill>
              </a:rPr>
              <a:t>AWS: Lambda, S3, DynamoDB</a:t>
            </a:r>
            <a:endParaRPr lang="en-US" sz="1400" dirty="0"/>
          </a:p>
          <a:p>
            <a:pPr algn="l" marL="342900" indent="-342900">
              <a:spcAft>
                <a:spcPts val="800"/>
              </a:spcAft>
              <a:buSzPct val="100000"/>
              <a:buChar char="•"/>
            </a:pPr>
            <a:r>
              <a:rPr lang="en-US" sz="1400" dirty="0">
                <a:solidFill>
                  <a:schemeClr val="tx1"/>
                </a:solidFill>
              </a:rPr>
              <a:t>Login, Rollen, Webapp auf EC2</a:t>
            </a:r>
            <a:endParaRPr lang="en-US" sz="1400" dirty="0"/>
          </a:p>
        </p:txBody>
      </p:sp>
      <p:sp>
        <p:nvSpPr>
          <p:cNvPr id="8" name="Phase 2"/>
          <p:cNvSpPr/>
          <p:nvPr/>
        </p:nvSpPr>
        <p:spPr>
          <a:xfrm>
            <a:off x="3364992" y="1508760"/>
            <a:ext cx="2651760" cy="4023360"/>
          </a:xfrm>
          <a:prstGeom prst="rect">
            <a:avLst/>
          </a:prstGeom>
          <a:solidFill>
            <a:schemeClr val="bg2"/>
          </a:solidFill>
          <a:ln w="12700">
            <a:solidFill>
              <a:schemeClr val="bg2"/>
            </a:solidFill>
            <a:prstDash val="solid"/>
          </a:ln>
        </p:spPr>
      </p:sp>
      <p:sp>
        <p:nvSpPr>
          <p:cNvPr id="9" name="Text 6"/>
          <p:cNvSpPr txBox="1"/>
          <p:nvPr/>
        </p:nvSpPr>
        <p:spPr>
          <a:xfrm>
            <a:off x="3547872" y="1691640"/>
            <a:ext cx="2286000" cy="457200"/>
          </a:xfrm>
          <a:prstGeom prst="rect">
            <a:avLst/>
          </a:prstGeom>
          <a:noFill/>
          <a:ln/>
        </p:spPr>
        <p:txBody>
          <a:bodyPr wrap="square" lIns="0" tIns="0" rIns="0" bIns="0" rtlCol="0" anchor="t"/>
          <a:lstStyle/>
          <a:p>
            <a:pPr algn="l" indent="0" marL="0">
              <a:buNone/>
            </a:pPr>
            <a:r>
              <a:rPr lang="en-US" sz="1300" b="1" dirty="0">
                <a:solidFill>
                  <a:schemeClr val="accent1"/>
                </a:solidFill>
              </a:rPr>
              <a:t>Phase 2 · Juli</a:t>
            </a:r>
            <a:endParaRPr lang="en-US" sz="1300" dirty="0"/>
          </a:p>
        </p:txBody>
      </p:sp>
      <p:sp>
        <p:nvSpPr>
          <p:cNvPr id="10" name="Text 7"/>
          <p:cNvSpPr txBox="1"/>
          <p:nvPr/>
        </p:nvSpPr>
        <p:spPr>
          <a:xfrm>
            <a:off x="3547872" y="2194560"/>
            <a:ext cx="2286000" cy="731520"/>
          </a:xfrm>
          <a:prstGeom prst="rect">
            <a:avLst/>
          </a:prstGeom>
          <a:noFill/>
          <a:ln/>
        </p:spPr>
        <p:txBody>
          <a:bodyPr wrap="square" lIns="0" tIns="0" rIns="0" bIns="0" rtlCol="0" anchor="t"/>
          <a:lstStyle/>
          <a:p>
            <a:pPr algn="l" indent="0" marL="0">
              <a:buNone/>
            </a:pPr>
            <a:r>
              <a:rPr lang="en-US" sz="1900" b="1" dirty="0">
                <a:solidFill>
                  <a:schemeClr val="tx2"/>
                </a:solidFill>
              </a:rPr>
              <a:t>MVP</a:t>
            </a:r>
            <a:endParaRPr lang="en-US" sz="1900" dirty="0"/>
          </a:p>
        </p:txBody>
      </p:sp>
      <p:sp>
        <p:nvSpPr>
          <p:cNvPr id="11" name="Text 8"/>
          <p:cNvSpPr txBox="1"/>
          <p:nvPr/>
        </p:nvSpPr>
        <p:spPr>
          <a:xfrm>
            <a:off x="3547872" y="3063240"/>
            <a:ext cx="2286000" cy="22860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Erster Klassifikator</a:t>
            </a:r>
            <a:endParaRPr lang="en-US" sz="1400" dirty="0"/>
          </a:p>
          <a:p>
            <a:pPr algn="l" marL="342900" indent="-342900">
              <a:spcAft>
                <a:spcPts val="800"/>
              </a:spcAft>
              <a:buSzPct val="100000"/>
              <a:buChar char="•"/>
            </a:pPr>
            <a:r>
              <a:rPr lang="en-US" sz="1400" dirty="0">
                <a:solidFill>
                  <a:schemeClr val="tx1"/>
                </a:solidFill>
              </a:rPr>
              <a:t>Review-Oberfläche und Nachtraining</a:t>
            </a:r>
            <a:endParaRPr lang="en-US" sz="1400" dirty="0"/>
          </a:p>
          <a:p>
            <a:pPr algn="l" marL="342900" indent="-342900">
              <a:spcAft>
                <a:spcPts val="800"/>
              </a:spcAft>
              <a:buSzPct val="100000"/>
              <a:buChar char="•"/>
            </a:pPr>
            <a:r>
              <a:rPr lang="en-US" sz="1400" dirty="0">
                <a:solidFill>
                  <a:schemeClr val="tx1"/>
                </a:solidFill>
              </a:rPr>
              <a:t>CI/CD, fokussierter Crawl</a:t>
            </a:r>
            <a:endParaRPr lang="en-US" sz="1400" dirty="0"/>
          </a:p>
        </p:txBody>
      </p:sp>
      <p:sp>
        <p:nvSpPr>
          <p:cNvPr id="12" name="Phase 3"/>
          <p:cNvSpPr/>
          <p:nvPr/>
        </p:nvSpPr>
        <p:spPr>
          <a:xfrm>
            <a:off x="6181344" y="1508760"/>
            <a:ext cx="2651760" cy="4023360"/>
          </a:xfrm>
          <a:prstGeom prst="rect">
            <a:avLst/>
          </a:prstGeom>
          <a:solidFill>
            <a:schemeClr val="bg2"/>
          </a:solidFill>
          <a:ln w="12700">
            <a:solidFill>
              <a:schemeClr val="bg2"/>
            </a:solidFill>
            <a:prstDash val="solid"/>
          </a:ln>
        </p:spPr>
      </p:sp>
      <p:sp>
        <p:nvSpPr>
          <p:cNvPr id="13" name="Text 10"/>
          <p:cNvSpPr txBox="1"/>
          <p:nvPr/>
        </p:nvSpPr>
        <p:spPr>
          <a:xfrm>
            <a:off x="6364224" y="1691640"/>
            <a:ext cx="2286000" cy="457200"/>
          </a:xfrm>
          <a:prstGeom prst="rect">
            <a:avLst/>
          </a:prstGeom>
          <a:noFill/>
          <a:ln/>
        </p:spPr>
        <p:txBody>
          <a:bodyPr wrap="square" lIns="0" tIns="0" rIns="0" bIns="0" rtlCol="0" anchor="t"/>
          <a:lstStyle/>
          <a:p>
            <a:pPr algn="l" indent="0" marL="0">
              <a:buNone/>
            </a:pPr>
            <a:r>
              <a:rPr lang="en-US" sz="1300" b="1" dirty="0">
                <a:solidFill>
                  <a:schemeClr val="accent1"/>
                </a:solidFill>
              </a:rPr>
              <a:t>Phase 3 · August–September</a:t>
            </a:r>
            <a:endParaRPr lang="en-US" sz="1300" dirty="0"/>
          </a:p>
        </p:txBody>
      </p:sp>
      <p:sp>
        <p:nvSpPr>
          <p:cNvPr id="14" name="Text 11"/>
          <p:cNvSpPr txBox="1"/>
          <p:nvPr/>
        </p:nvSpPr>
        <p:spPr>
          <a:xfrm>
            <a:off x="6364224" y="2194560"/>
            <a:ext cx="2286000" cy="731520"/>
          </a:xfrm>
          <a:prstGeom prst="rect">
            <a:avLst/>
          </a:prstGeom>
          <a:noFill/>
          <a:ln/>
        </p:spPr>
        <p:txBody>
          <a:bodyPr wrap="square" lIns="0" tIns="0" rIns="0" bIns="0" rtlCol="0" anchor="t"/>
          <a:lstStyle/>
          <a:p>
            <a:pPr algn="l" indent="0" marL="0">
              <a:buNone/>
            </a:pPr>
            <a:r>
              <a:rPr lang="en-US" sz="1900" b="1" dirty="0">
                <a:solidFill>
                  <a:schemeClr val="tx2"/>
                </a:solidFill>
              </a:rPr>
              <a:t>Großlauf &amp; Qualität</a:t>
            </a:r>
            <a:endParaRPr lang="en-US" sz="1900" dirty="0"/>
          </a:p>
        </p:txBody>
      </p:sp>
      <p:sp>
        <p:nvSpPr>
          <p:cNvPr id="15" name="Text 12"/>
          <p:cNvSpPr txBox="1"/>
          <p:nvPr/>
        </p:nvSpPr>
        <p:spPr>
          <a:xfrm>
            <a:off x="6364224" y="3063240"/>
            <a:ext cx="2286000" cy="22860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Lauf über 411 Hochschulen (6,3 h)</a:t>
            </a:r>
            <a:endParaRPr lang="en-US" sz="1400" dirty="0"/>
          </a:p>
          <a:p>
            <a:pPr algn="l" marL="342900" indent="-342900">
              <a:spcAft>
                <a:spcPts val="800"/>
              </a:spcAft>
              <a:buSzPct val="100000"/>
              <a:buChar char="•"/>
            </a:pPr>
            <a:r>
              <a:rPr lang="en-US" sz="1400" dirty="0">
                <a:solidFill>
                  <a:schemeClr val="tx1"/>
                </a:solidFill>
              </a:rPr>
              <a:t>Zusatzsuche, OCR</a:t>
            </a:r>
            <a:endParaRPr lang="en-US" sz="1400" dirty="0"/>
          </a:p>
          <a:p>
            <a:pPr algn="l" marL="342900" indent="-342900">
              <a:spcAft>
                <a:spcPts val="800"/>
              </a:spcAft>
              <a:buSzPct val="100000"/>
              <a:buChar char="•"/>
            </a:pPr>
            <a:r>
              <a:rPr lang="en-US" sz="1400" dirty="0">
                <a:solidFill>
                  <a:schemeClr val="tx1"/>
                </a:solidFill>
              </a:rPr>
              <a:t>Sprachmodell-Zweitstufe</a:t>
            </a:r>
            <a:endParaRPr lang="en-US" sz="1400" dirty="0"/>
          </a:p>
        </p:txBody>
      </p:sp>
      <p:sp>
        <p:nvSpPr>
          <p:cNvPr id="16" name="Phase 4"/>
          <p:cNvSpPr/>
          <p:nvPr/>
        </p:nvSpPr>
        <p:spPr>
          <a:xfrm>
            <a:off x="8997696" y="1508760"/>
            <a:ext cx="2651760" cy="4023360"/>
          </a:xfrm>
          <a:prstGeom prst="rect">
            <a:avLst/>
          </a:prstGeom>
          <a:solidFill>
            <a:schemeClr val="bg2"/>
          </a:solidFill>
          <a:ln w="12700">
            <a:solidFill>
              <a:schemeClr val="bg2"/>
            </a:solidFill>
            <a:prstDash val="solid"/>
          </a:ln>
        </p:spPr>
      </p:sp>
      <p:sp>
        <p:nvSpPr>
          <p:cNvPr id="17" name="Text 14"/>
          <p:cNvSpPr txBox="1"/>
          <p:nvPr/>
        </p:nvSpPr>
        <p:spPr>
          <a:xfrm>
            <a:off x="9180576" y="1691640"/>
            <a:ext cx="2286000" cy="457200"/>
          </a:xfrm>
          <a:prstGeom prst="rect">
            <a:avLst/>
          </a:prstGeom>
          <a:noFill/>
          <a:ln/>
        </p:spPr>
        <p:txBody>
          <a:bodyPr wrap="square" lIns="0" tIns="0" rIns="0" bIns="0" rtlCol="0" anchor="t"/>
          <a:lstStyle/>
          <a:p>
            <a:pPr algn="l" indent="0" marL="0">
              <a:buNone/>
            </a:pPr>
            <a:r>
              <a:rPr lang="en-US" sz="1300" b="1" dirty="0">
                <a:solidFill>
                  <a:schemeClr val="accent1"/>
                </a:solidFill>
              </a:rPr>
              <a:t>Phase 4 · September–Oktober</a:t>
            </a:r>
            <a:endParaRPr lang="en-US" sz="1300" dirty="0"/>
          </a:p>
        </p:txBody>
      </p:sp>
      <p:sp>
        <p:nvSpPr>
          <p:cNvPr id="18" name="Text 15"/>
          <p:cNvSpPr txBox="1"/>
          <p:nvPr/>
        </p:nvSpPr>
        <p:spPr>
          <a:xfrm>
            <a:off x="9180576" y="2194560"/>
            <a:ext cx="2286000" cy="731520"/>
          </a:xfrm>
          <a:prstGeom prst="rect">
            <a:avLst/>
          </a:prstGeom>
          <a:noFill/>
          <a:ln/>
        </p:spPr>
        <p:txBody>
          <a:bodyPr wrap="square" lIns="0" tIns="0" rIns="0" bIns="0" rtlCol="0" anchor="t"/>
          <a:lstStyle/>
          <a:p>
            <a:pPr algn="l" indent="0" marL="0">
              <a:buNone/>
            </a:pPr>
            <a:r>
              <a:rPr lang="en-US" sz="1900" b="1" dirty="0">
                <a:solidFill>
                  <a:schemeClr val="tx2"/>
                </a:solidFill>
              </a:rPr>
              <a:t>Deep Run &amp; Auswertung</a:t>
            </a:r>
            <a:endParaRPr lang="en-US" sz="1900" dirty="0"/>
          </a:p>
        </p:txBody>
      </p:sp>
      <p:sp>
        <p:nvSpPr>
          <p:cNvPr id="19" name="Text 16"/>
          <p:cNvSpPr txBox="1"/>
          <p:nvPr/>
        </p:nvSpPr>
        <p:spPr>
          <a:xfrm>
            <a:off x="9180576" y="3063240"/>
            <a:ext cx="2286000" cy="228600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Deep Run: 132.187 PDFs in 13 h</a:t>
            </a:r>
            <a:endParaRPr lang="en-US" sz="1400" dirty="0"/>
          </a:p>
          <a:p>
            <a:pPr algn="l" marL="342900" indent="-342900">
              <a:spcAft>
                <a:spcPts val="800"/>
              </a:spcAft>
              <a:buSzPct val="100000"/>
              <a:buChar char="•"/>
            </a:pPr>
            <a:r>
              <a:rPr lang="en-US" sz="1400" dirty="0">
                <a:solidFill>
                  <a:schemeClr val="tx1"/>
                </a:solidFill>
              </a:rPr>
              <a:t>Prüfung von ≈ 34.000 Dokumenten</a:t>
            </a:r>
            <a:endParaRPr lang="en-US" sz="1400" dirty="0"/>
          </a:p>
          <a:p>
            <a:pPr algn="l" marL="342900" indent="-342900">
              <a:spcAft>
                <a:spcPts val="800"/>
              </a:spcAft>
              <a:buSzPct val="100000"/>
              <a:buChar char="•"/>
            </a:pPr>
            <a:r>
              <a:rPr lang="en-US" sz="1400" dirty="0">
                <a:solidFill>
                  <a:schemeClr val="tx1"/>
                </a:solidFill>
              </a:rPr>
              <a:t>Abschlussauswertung, Projektbericht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Glossar (1/2) – Cloud und Betrieb</a:t>
            </a:r>
            <a:endParaRPr lang="en-US" sz="2800" dirty="0"/>
          </a:p>
        </p:txBody>
      </p:sp>
      <p:graphicFrame>
        <p:nvGraphicFramePr>
          <p:cNvPr id="36" name="Tabelle Glossar"/>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8439912"/>
              </a:tblGrid>
              <a:tr h="502920">
                <a:tc>
                  <a:txBody>
                    <a:bodyPr/>
                    <a:lstStyle/>
                    <a:p>
                      <a:pPr indent="0" marL="0">
                        <a:buNone/>
                      </a:pPr>
                      <a:r>
                        <a:rPr lang="en-US" sz="1400" b="1" dirty="0">
                          <a:solidFill>
                            <a:schemeClr val="bg1"/>
                          </a:solidFill>
                        </a:rPr>
                        <a:t>Begriff</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Bedeutung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rgbClr val="000000"/>
                          </a:solidFill>
                        </a:rPr>
                        <a:t>AWS</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Amazon Web Services: Cloud-Plattform, auf der Rechenleistung, Speicher und Dienste gemietet werden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Fargate / Lambda</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AWS-Dienste, die Programme nur für die Dauer der Aufgabe ausführen und abrechnen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S3 / DynamoDB</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AWS-Dienste für Dateispeicher bzw. eine schnelle Merkliste (Datenbank)</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Bedrock</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AWS-Dienst, über den Sprachmodelle wie Claude als Cloud-Dienst genutzt werden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Deployment / CI/CD</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Bereitstellen einer Software auf einem Server; CI/CD macht das bei jedem Push automatisch</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Asynchron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Aufgaben laufen im Hintergrund; man muss nicht vor dem Bildschirm warten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Vollerhebung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Alle Modulhandbücher aller deutschen Hochschulen erfassen (Fachschätzung ca. 40.000)</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800" b="1" dirty="0">
                <a:solidFill>
                  <a:schemeClr val="tx2"/>
                </a:solidFill>
              </a:rPr>
              <a:t>Backup: Glossar (2/2) – Daten und Machine Learning</a:t>
            </a:r>
            <a:endParaRPr lang="en-US" sz="2800" dirty="0"/>
          </a:p>
        </p:txBody>
      </p:sp>
      <p:graphicFrame>
        <p:nvGraphicFramePr>
          <p:cNvPr id="37" name="Tabelle Glossar"/>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8439912"/>
              </a:tblGrid>
              <a:tr h="502920">
                <a:tc>
                  <a:txBody>
                    <a:bodyPr/>
                    <a:lstStyle/>
                    <a:p>
                      <a:pPr indent="0" marL="0">
                        <a:buNone/>
                      </a:pPr>
                      <a:r>
                        <a:rPr lang="en-US" sz="1400" b="1" dirty="0">
                          <a:solidFill>
                            <a:schemeClr val="bg1"/>
                          </a:solidFill>
                        </a:rPr>
                        <a:t>Begriff</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Bedeutung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rgbClr val="000000"/>
                          </a:solidFill>
                        </a:rPr>
                        <a:t>Crawler / Spider</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Programm, das Webseiten automatisch durchläuft, Links folgt und Dateien sammelt (Spider = Crawler im Framework Scrapy)</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Manifest</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Protokolldatei mit einer Zeile je Dokument: Herkunft, Score, Entscheidung, Begründung</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TF-IDF</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Verfahren, das Texte anhand der Wichtigkeit ihrer Wörter in Zahlen überführt</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Klassifikator</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Modell, das ein Dokument einer Klasse zuordnet (hier: Modulhandbuch ja/nein)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Sprachmodell (LLM)</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KI-Modell, das Texte versteht und erzeugt (hier: Claude Haiku 4.5)</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Human-in-the-Loop</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Ein Mensch prüft die unsicheren Fälle; sein Urteil fließt ins Nachtraining ein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OCR</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Texterkennung für gescannte Dokumente</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400" b="1" dirty="0">
                          <a:solidFill>
                            <a:srgbClr val="000000"/>
                          </a:solidFill>
                        </a:rPr>
                        <a:t>Precision / Recall</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00000"/>
                          </a:solidFill>
                        </a:rPr>
                        <a:t>Precision: Anteil richtiger Treffer unter den gefundenen. Recall: Anteil der gefundenen unter allen vorhandenen</a:t>
                      </a:r>
                      <a:endParaRPr lang="en-US" sz="1400" dirty="0"/>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573"/>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KML Abschluss">
  <a:themeElements>
    <a:clrScheme name="KML Abschluss">
      <a:dk1>
        <a:srgbClr val="1F2933"/>
      </a:dk1>
      <a:lt1>
        <a:srgbClr val="FFFFFF"/>
      </a:lt1>
      <a:dk2>
        <a:srgbClr val="1B365D"/>
      </a:dk2>
      <a:lt2>
        <a:srgbClr val="F1F4F8"/>
      </a:lt2>
      <a:accent1>
        <a:srgbClr val="2563A8"/>
      </a:accent1>
      <a:accent2>
        <a:srgbClr val="D9731F"/>
      </a:accent2>
      <a:accent3>
        <a:srgbClr val="2E8B57"/>
      </a:accent3>
      <a:accent4>
        <a:srgbClr val="5B6573"/>
      </a:accent4>
      <a:accent5>
        <a:srgbClr val="9DBFE3"/>
      </a:accent5>
      <a:accent6>
        <a:srgbClr val="B3261E"/>
      </a:accent6>
      <a:hlink>
        <a:srgbClr val="2563A8"/>
      </a:hlink>
      <a:folHlink>
        <a:srgbClr val="5B6573"/>
      </a:folHlink>
    </a:clrScheme>
    <a:fontScheme name="KML Abschlu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Abschlusspräsentation – Plattform für Hochschuldokumente</dc:title>
  <dc:subject>Methoden des Machine Learnings, FH Wedel, SS 26</dc:subject>
  <dc:creator>PptxGenJS</dc:creator>
  <cp:lastModifiedBy>PptxGenJS</cp:lastModifiedBy>
  <cp:revision>1</cp:revision>
  <dcterms:created xsi:type="dcterms:W3CDTF">2026-10-07T18:13:07Z</dcterms:created>
  <dcterms:modified xsi:type="dcterms:W3CDTF">2026-10-07T18:13:07Z</dcterms:modified>
</cp:coreProperties>
</file>